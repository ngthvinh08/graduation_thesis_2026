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1"/>
  </p:notesMasterIdLst>
  <p:sldIdLst>
    <p:sldId id="256" r:id="rId2"/>
    <p:sldId id="278" r:id="rId3"/>
    <p:sldId id="258" r:id="rId4"/>
    <p:sldId id="294" r:id="rId5"/>
    <p:sldId id="295" r:id="rId6"/>
    <p:sldId id="296" r:id="rId7"/>
    <p:sldId id="297" r:id="rId8"/>
    <p:sldId id="298" r:id="rId9"/>
    <p:sldId id="286" r:id="rId10"/>
    <p:sldId id="307" r:id="rId11"/>
    <p:sldId id="299" r:id="rId12"/>
    <p:sldId id="300" r:id="rId13"/>
    <p:sldId id="302" r:id="rId14"/>
    <p:sldId id="303" r:id="rId15"/>
    <p:sldId id="304" r:id="rId16"/>
    <p:sldId id="308" r:id="rId17"/>
    <p:sldId id="305" r:id="rId18"/>
    <p:sldId id="306" r:id="rId19"/>
    <p:sldId id="277"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B085EB-53CA-411A-87A0-E9AA2DE55482}" v="2161" dt="2025-05-20T01:49:43.4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76820" autoAdjust="0"/>
  </p:normalViewPr>
  <p:slideViewPr>
    <p:cSldViewPr snapToGrid="0">
      <p:cViewPr>
        <p:scale>
          <a:sx n="66" d="100"/>
          <a:sy n="66" d="100"/>
        </p:scale>
        <p:origin x="19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F36536-30F8-4552-8415-0DB12F24D1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1C45BC7-619E-4D28-9580-022DF4FCF4A2}">
      <dgm:prSet custT="1"/>
      <dgm:spPr>
        <a:solidFill>
          <a:schemeClr val="tx2">
            <a:lumMod val="90000"/>
            <a:lumOff val="10000"/>
          </a:schemeClr>
        </a:solidFill>
      </dgm:spPr>
      <dgm:t>
        <a:bodyPr/>
        <a:lstStyle/>
        <a:p>
          <a:r>
            <a:rPr lang="vi-VN" sz="2000" b="1" dirty="0">
              <a:latin typeface="Aptos" panose="020B0004020202020204" pitchFamily="34" charset="0"/>
            </a:rPr>
            <a:t>BỐI CẢNH</a:t>
          </a:r>
          <a:endParaRPr lang="en-US" sz="2000" b="1" dirty="0">
            <a:latin typeface="Aptos" panose="020B0004020202020204" pitchFamily="34" charset="0"/>
          </a:endParaRPr>
        </a:p>
      </dgm:t>
    </dgm:pt>
    <dgm:pt modelId="{8281A381-B501-4544-816D-5800AC16078F}" type="parTrans" cxnId="{5C368EC6-B1D6-403F-A388-3F089585D58C}">
      <dgm:prSet/>
      <dgm:spPr/>
      <dgm:t>
        <a:bodyPr/>
        <a:lstStyle/>
        <a:p>
          <a:endParaRPr lang="en-US" sz="2000">
            <a:latin typeface="Aptos" panose="020B0004020202020204" pitchFamily="34" charset="0"/>
          </a:endParaRPr>
        </a:p>
      </dgm:t>
    </dgm:pt>
    <dgm:pt modelId="{C2E3F477-D6F6-448A-B5B6-E336F448F1B2}" type="sibTrans" cxnId="{5C368EC6-B1D6-403F-A388-3F089585D58C}">
      <dgm:prSet/>
      <dgm:spPr/>
      <dgm:t>
        <a:bodyPr/>
        <a:lstStyle/>
        <a:p>
          <a:endParaRPr lang="en-US" sz="2000">
            <a:latin typeface="Aptos" panose="020B0004020202020204" pitchFamily="34" charset="0"/>
          </a:endParaRPr>
        </a:p>
      </dgm:t>
    </dgm:pt>
    <dgm:pt modelId="{99BB6E33-2688-46B1-9113-8B1B151B86CA}">
      <dgm:prSet custT="1"/>
      <dgm:spPr>
        <a:solidFill>
          <a:schemeClr val="tx2">
            <a:lumMod val="90000"/>
            <a:lumOff val="10000"/>
          </a:schemeClr>
        </a:solidFill>
      </dgm:spPr>
      <dgm:t>
        <a:bodyPr/>
        <a:lstStyle/>
        <a:p>
          <a:r>
            <a:rPr lang="vi-VN" sz="2000" b="1" dirty="0">
              <a:latin typeface="Aptos" panose="020B0004020202020204" pitchFamily="34" charset="0"/>
            </a:rPr>
            <a:t>CƠ SỞ LÝ THUYẾT</a:t>
          </a:r>
          <a:endParaRPr lang="en-US" sz="2000" b="1" dirty="0">
            <a:latin typeface="Aptos" panose="020B0004020202020204" pitchFamily="34" charset="0"/>
          </a:endParaRPr>
        </a:p>
      </dgm:t>
    </dgm:pt>
    <dgm:pt modelId="{A2745B45-27A4-4588-A694-3410BAA022ED}" type="parTrans" cxnId="{56762930-4196-4D50-AC54-5F1216CD5721}">
      <dgm:prSet/>
      <dgm:spPr/>
      <dgm:t>
        <a:bodyPr/>
        <a:lstStyle/>
        <a:p>
          <a:endParaRPr lang="en-US" sz="2000">
            <a:latin typeface="Aptos" panose="020B0004020202020204" pitchFamily="34" charset="0"/>
          </a:endParaRPr>
        </a:p>
      </dgm:t>
    </dgm:pt>
    <dgm:pt modelId="{D4CFD74C-4DE3-48F4-BEB4-9BF40FEBE87D}" type="sibTrans" cxnId="{56762930-4196-4D50-AC54-5F1216CD5721}">
      <dgm:prSet/>
      <dgm:spPr/>
      <dgm:t>
        <a:bodyPr/>
        <a:lstStyle/>
        <a:p>
          <a:endParaRPr lang="en-US" sz="2000">
            <a:latin typeface="Aptos" panose="020B0004020202020204" pitchFamily="34" charset="0"/>
          </a:endParaRPr>
        </a:p>
      </dgm:t>
    </dgm:pt>
    <dgm:pt modelId="{08F68ECF-3AE0-4BF1-9984-5E32173B8750}">
      <dgm:prSet custT="1"/>
      <dgm:spPr>
        <a:solidFill>
          <a:schemeClr val="tx2">
            <a:lumMod val="90000"/>
            <a:lumOff val="10000"/>
          </a:schemeClr>
        </a:solidFill>
      </dgm:spPr>
      <dgm:t>
        <a:bodyPr/>
        <a:lstStyle/>
        <a:p>
          <a:r>
            <a:rPr lang="vi-VN" sz="2000" b="1" dirty="0">
              <a:latin typeface="Aptos" panose="020B0004020202020204" pitchFamily="34" charset="0"/>
            </a:rPr>
            <a:t>BÀI TOÁN TỐI ƯU VÀ PHƯƠNG PHÁP</a:t>
          </a:r>
          <a:endParaRPr lang="en-US" sz="2000" b="1" dirty="0">
            <a:latin typeface="Aptos" panose="020B0004020202020204" pitchFamily="34" charset="0"/>
          </a:endParaRPr>
        </a:p>
      </dgm:t>
    </dgm:pt>
    <dgm:pt modelId="{660CBE0E-63AB-47BA-801A-48A926A9A452}" type="parTrans" cxnId="{B0F8C93A-98A8-48C4-B759-1CD133267D5D}">
      <dgm:prSet/>
      <dgm:spPr/>
      <dgm:t>
        <a:bodyPr/>
        <a:lstStyle/>
        <a:p>
          <a:endParaRPr lang="en-US" sz="2000">
            <a:latin typeface="Aptos" panose="020B0004020202020204" pitchFamily="34" charset="0"/>
          </a:endParaRPr>
        </a:p>
      </dgm:t>
    </dgm:pt>
    <dgm:pt modelId="{DB150644-F371-4EB1-BD49-237A80CAA334}" type="sibTrans" cxnId="{B0F8C93A-98A8-48C4-B759-1CD133267D5D}">
      <dgm:prSet/>
      <dgm:spPr/>
      <dgm:t>
        <a:bodyPr/>
        <a:lstStyle/>
        <a:p>
          <a:endParaRPr lang="en-US" sz="2000">
            <a:latin typeface="Aptos" panose="020B0004020202020204" pitchFamily="34" charset="0"/>
          </a:endParaRPr>
        </a:p>
      </dgm:t>
    </dgm:pt>
    <dgm:pt modelId="{3AA5D3DC-40A0-4D07-8607-CC9A8E65A81B}">
      <dgm:prSet custT="1"/>
      <dgm:spPr>
        <a:solidFill>
          <a:schemeClr val="tx2">
            <a:lumMod val="90000"/>
            <a:lumOff val="10000"/>
          </a:schemeClr>
        </a:solidFill>
      </dgm:spPr>
      <dgm:t>
        <a:bodyPr/>
        <a:lstStyle/>
        <a:p>
          <a:r>
            <a:rPr lang="en-US" sz="2000" b="1" dirty="0">
              <a:latin typeface="Aptos" panose="020B0004020202020204" pitchFamily="34" charset="0"/>
            </a:rPr>
            <a:t>KẾT QUẢ VÀ </a:t>
          </a:r>
          <a:r>
            <a:rPr lang="vi-VN" sz="2000" b="1" dirty="0">
              <a:latin typeface="Aptos" panose="020B0004020202020204" pitchFamily="34" charset="0"/>
            </a:rPr>
            <a:t>ĐÁNH GIÁ</a:t>
          </a:r>
          <a:endParaRPr lang="en-US" sz="2000" b="1" dirty="0">
            <a:latin typeface="Aptos" panose="020B0004020202020204" pitchFamily="34" charset="0"/>
          </a:endParaRPr>
        </a:p>
      </dgm:t>
    </dgm:pt>
    <dgm:pt modelId="{0A1E31B3-689A-46D3-A2DC-CF5D63FCA6AF}" type="parTrans" cxnId="{B9C028F0-3E78-4F9C-9E98-2BE81C67EED3}">
      <dgm:prSet/>
      <dgm:spPr/>
      <dgm:t>
        <a:bodyPr/>
        <a:lstStyle/>
        <a:p>
          <a:endParaRPr lang="en-US" sz="2000">
            <a:latin typeface="Aptos" panose="020B0004020202020204" pitchFamily="34" charset="0"/>
          </a:endParaRPr>
        </a:p>
      </dgm:t>
    </dgm:pt>
    <dgm:pt modelId="{9E5600E3-3321-4135-B32A-39BA88FF4F90}" type="sibTrans" cxnId="{B9C028F0-3E78-4F9C-9E98-2BE81C67EED3}">
      <dgm:prSet/>
      <dgm:spPr/>
      <dgm:t>
        <a:bodyPr/>
        <a:lstStyle/>
        <a:p>
          <a:endParaRPr lang="en-US" sz="2000">
            <a:latin typeface="Aptos" panose="020B0004020202020204" pitchFamily="34" charset="0"/>
          </a:endParaRPr>
        </a:p>
      </dgm:t>
    </dgm:pt>
    <dgm:pt modelId="{15EF9DDE-DFBC-4AC2-9363-686FF6EA0742}">
      <dgm:prSet custT="1"/>
      <dgm:spPr>
        <a:solidFill>
          <a:schemeClr val="tx2">
            <a:lumMod val="90000"/>
            <a:lumOff val="10000"/>
          </a:schemeClr>
        </a:solidFill>
      </dgm:spPr>
      <dgm:t>
        <a:bodyPr/>
        <a:lstStyle/>
        <a:p>
          <a:r>
            <a:rPr lang="en-US" sz="2000" b="1" dirty="0">
              <a:latin typeface="Aptos" panose="020B0004020202020204" pitchFamily="34" charset="0"/>
            </a:rPr>
            <a:t>KẾT LUẬN VÀ PHƯƠNG HƯỚNG PHÁT TRIỂN</a:t>
          </a:r>
        </a:p>
      </dgm:t>
    </dgm:pt>
    <dgm:pt modelId="{33C0BD66-3546-48EE-85FE-CD60828E7A30}" type="parTrans" cxnId="{99BB216A-C1AA-428F-8CFA-BF3201DCB06A}">
      <dgm:prSet/>
      <dgm:spPr/>
      <dgm:t>
        <a:bodyPr/>
        <a:lstStyle/>
        <a:p>
          <a:endParaRPr lang="en-US" sz="2000">
            <a:latin typeface="Aptos" panose="020B0004020202020204" pitchFamily="34" charset="0"/>
          </a:endParaRPr>
        </a:p>
      </dgm:t>
    </dgm:pt>
    <dgm:pt modelId="{6DBB24FF-62AD-46D4-90EA-FE3E4B90E0B1}" type="sibTrans" cxnId="{99BB216A-C1AA-428F-8CFA-BF3201DCB06A}">
      <dgm:prSet/>
      <dgm:spPr/>
      <dgm:t>
        <a:bodyPr/>
        <a:lstStyle/>
        <a:p>
          <a:endParaRPr lang="en-US" sz="2000">
            <a:latin typeface="Aptos" panose="020B0004020202020204" pitchFamily="34" charset="0"/>
          </a:endParaRPr>
        </a:p>
      </dgm:t>
    </dgm:pt>
    <dgm:pt modelId="{7398E365-FEBE-450C-9295-82FE4766747C}" type="pres">
      <dgm:prSet presAssocID="{8EF36536-30F8-4552-8415-0DB12F24D174}" presName="linear" presStyleCnt="0">
        <dgm:presLayoutVars>
          <dgm:animLvl val="lvl"/>
          <dgm:resizeHandles val="exact"/>
        </dgm:presLayoutVars>
      </dgm:prSet>
      <dgm:spPr/>
    </dgm:pt>
    <dgm:pt modelId="{7B48F84D-302F-44CE-B06F-42D2C48C0869}" type="pres">
      <dgm:prSet presAssocID="{71C45BC7-619E-4D28-9580-022DF4FCF4A2}" presName="parentText" presStyleLbl="node1" presStyleIdx="0" presStyleCnt="5">
        <dgm:presLayoutVars>
          <dgm:chMax val="0"/>
          <dgm:bulletEnabled val="1"/>
        </dgm:presLayoutVars>
      </dgm:prSet>
      <dgm:spPr/>
    </dgm:pt>
    <dgm:pt modelId="{942165C8-F336-477A-B8F7-C4C18273CA26}" type="pres">
      <dgm:prSet presAssocID="{C2E3F477-D6F6-448A-B5B6-E336F448F1B2}" presName="spacer" presStyleCnt="0"/>
      <dgm:spPr/>
    </dgm:pt>
    <dgm:pt modelId="{0686F92F-4C31-4885-9AF2-53D71CB22608}" type="pres">
      <dgm:prSet presAssocID="{99BB6E33-2688-46B1-9113-8B1B151B86CA}" presName="parentText" presStyleLbl="node1" presStyleIdx="1" presStyleCnt="5">
        <dgm:presLayoutVars>
          <dgm:chMax val="0"/>
          <dgm:bulletEnabled val="1"/>
        </dgm:presLayoutVars>
      </dgm:prSet>
      <dgm:spPr/>
    </dgm:pt>
    <dgm:pt modelId="{F38C8A95-D542-4952-B7DF-F75CC1A750C4}" type="pres">
      <dgm:prSet presAssocID="{D4CFD74C-4DE3-48F4-BEB4-9BF40FEBE87D}" presName="spacer" presStyleCnt="0"/>
      <dgm:spPr/>
    </dgm:pt>
    <dgm:pt modelId="{DA6DA402-B5D0-4E09-9AEE-FC286C15B27F}" type="pres">
      <dgm:prSet presAssocID="{08F68ECF-3AE0-4BF1-9984-5E32173B8750}" presName="parentText" presStyleLbl="node1" presStyleIdx="2" presStyleCnt="5">
        <dgm:presLayoutVars>
          <dgm:chMax val="0"/>
          <dgm:bulletEnabled val="1"/>
        </dgm:presLayoutVars>
      </dgm:prSet>
      <dgm:spPr/>
    </dgm:pt>
    <dgm:pt modelId="{AB627912-A5BB-4FCD-8C8A-7799FDFA1286}" type="pres">
      <dgm:prSet presAssocID="{DB150644-F371-4EB1-BD49-237A80CAA334}" presName="spacer" presStyleCnt="0"/>
      <dgm:spPr/>
    </dgm:pt>
    <dgm:pt modelId="{04E2EBA8-DC78-456F-A001-FB818E2DBA56}" type="pres">
      <dgm:prSet presAssocID="{3AA5D3DC-40A0-4D07-8607-CC9A8E65A81B}" presName="parentText" presStyleLbl="node1" presStyleIdx="3" presStyleCnt="5">
        <dgm:presLayoutVars>
          <dgm:chMax val="0"/>
          <dgm:bulletEnabled val="1"/>
        </dgm:presLayoutVars>
      </dgm:prSet>
      <dgm:spPr/>
    </dgm:pt>
    <dgm:pt modelId="{07EE0852-E868-4ED6-A7D2-7C498340ED2F}" type="pres">
      <dgm:prSet presAssocID="{9E5600E3-3321-4135-B32A-39BA88FF4F90}" presName="spacer" presStyleCnt="0"/>
      <dgm:spPr/>
    </dgm:pt>
    <dgm:pt modelId="{E902512B-22AF-4587-A5FB-1CE55522E13C}" type="pres">
      <dgm:prSet presAssocID="{15EF9DDE-DFBC-4AC2-9363-686FF6EA0742}" presName="parentText" presStyleLbl="node1" presStyleIdx="4" presStyleCnt="5">
        <dgm:presLayoutVars>
          <dgm:chMax val="0"/>
          <dgm:bulletEnabled val="1"/>
        </dgm:presLayoutVars>
      </dgm:prSet>
      <dgm:spPr/>
    </dgm:pt>
  </dgm:ptLst>
  <dgm:cxnLst>
    <dgm:cxn modelId="{8BBB590A-C925-4E03-AD4F-E094BA778399}" type="presOf" srcId="{08F68ECF-3AE0-4BF1-9984-5E32173B8750}" destId="{DA6DA402-B5D0-4E09-9AEE-FC286C15B27F}" srcOrd="0" destOrd="0" presId="urn:microsoft.com/office/officeart/2005/8/layout/vList2"/>
    <dgm:cxn modelId="{56762930-4196-4D50-AC54-5F1216CD5721}" srcId="{8EF36536-30F8-4552-8415-0DB12F24D174}" destId="{99BB6E33-2688-46B1-9113-8B1B151B86CA}" srcOrd="1" destOrd="0" parTransId="{A2745B45-27A4-4588-A694-3410BAA022ED}" sibTransId="{D4CFD74C-4DE3-48F4-BEB4-9BF40FEBE87D}"/>
    <dgm:cxn modelId="{19AC4133-F552-4E1A-9BF1-194E98472619}" type="presOf" srcId="{3AA5D3DC-40A0-4D07-8607-CC9A8E65A81B}" destId="{04E2EBA8-DC78-456F-A001-FB818E2DBA56}" srcOrd="0" destOrd="0" presId="urn:microsoft.com/office/officeart/2005/8/layout/vList2"/>
    <dgm:cxn modelId="{B0F8C93A-98A8-48C4-B759-1CD133267D5D}" srcId="{8EF36536-30F8-4552-8415-0DB12F24D174}" destId="{08F68ECF-3AE0-4BF1-9984-5E32173B8750}" srcOrd="2" destOrd="0" parTransId="{660CBE0E-63AB-47BA-801A-48A926A9A452}" sibTransId="{DB150644-F371-4EB1-BD49-237A80CAA334}"/>
    <dgm:cxn modelId="{99BB216A-C1AA-428F-8CFA-BF3201DCB06A}" srcId="{8EF36536-30F8-4552-8415-0DB12F24D174}" destId="{15EF9DDE-DFBC-4AC2-9363-686FF6EA0742}" srcOrd="4" destOrd="0" parTransId="{33C0BD66-3546-48EE-85FE-CD60828E7A30}" sibTransId="{6DBB24FF-62AD-46D4-90EA-FE3E4B90E0B1}"/>
    <dgm:cxn modelId="{FD755BBF-B1C0-4A9A-8C4C-4BC361011212}" type="presOf" srcId="{71C45BC7-619E-4D28-9580-022DF4FCF4A2}" destId="{7B48F84D-302F-44CE-B06F-42D2C48C0869}" srcOrd="0" destOrd="0" presId="urn:microsoft.com/office/officeart/2005/8/layout/vList2"/>
    <dgm:cxn modelId="{5C368EC6-B1D6-403F-A388-3F089585D58C}" srcId="{8EF36536-30F8-4552-8415-0DB12F24D174}" destId="{71C45BC7-619E-4D28-9580-022DF4FCF4A2}" srcOrd="0" destOrd="0" parTransId="{8281A381-B501-4544-816D-5800AC16078F}" sibTransId="{C2E3F477-D6F6-448A-B5B6-E336F448F1B2}"/>
    <dgm:cxn modelId="{787917D3-0C90-4D05-86E8-A64CF10A9454}" type="presOf" srcId="{15EF9DDE-DFBC-4AC2-9363-686FF6EA0742}" destId="{E902512B-22AF-4587-A5FB-1CE55522E13C}" srcOrd="0" destOrd="0" presId="urn:microsoft.com/office/officeart/2005/8/layout/vList2"/>
    <dgm:cxn modelId="{B659A4D7-D0C5-4672-9775-7B466BD4B313}" type="presOf" srcId="{99BB6E33-2688-46B1-9113-8B1B151B86CA}" destId="{0686F92F-4C31-4885-9AF2-53D71CB22608}" srcOrd="0" destOrd="0" presId="urn:microsoft.com/office/officeart/2005/8/layout/vList2"/>
    <dgm:cxn modelId="{B9C028F0-3E78-4F9C-9E98-2BE81C67EED3}" srcId="{8EF36536-30F8-4552-8415-0DB12F24D174}" destId="{3AA5D3DC-40A0-4D07-8607-CC9A8E65A81B}" srcOrd="3" destOrd="0" parTransId="{0A1E31B3-689A-46D3-A2DC-CF5D63FCA6AF}" sibTransId="{9E5600E3-3321-4135-B32A-39BA88FF4F90}"/>
    <dgm:cxn modelId="{32445EF1-80FD-455E-87D8-381DA2A0E69C}" type="presOf" srcId="{8EF36536-30F8-4552-8415-0DB12F24D174}" destId="{7398E365-FEBE-450C-9295-82FE4766747C}" srcOrd="0" destOrd="0" presId="urn:microsoft.com/office/officeart/2005/8/layout/vList2"/>
    <dgm:cxn modelId="{93BA4842-F412-4C47-A33C-A349642344F8}" type="presParOf" srcId="{7398E365-FEBE-450C-9295-82FE4766747C}" destId="{7B48F84D-302F-44CE-B06F-42D2C48C0869}" srcOrd="0" destOrd="0" presId="urn:microsoft.com/office/officeart/2005/8/layout/vList2"/>
    <dgm:cxn modelId="{4EAFED1E-F5C1-42A6-B7BB-749176CF20ED}" type="presParOf" srcId="{7398E365-FEBE-450C-9295-82FE4766747C}" destId="{942165C8-F336-477A-B8F7-C4C18273CA26}" srcOrd="1" destOrd="0" presId="urn:microsoft.com/office/officeart/2005/8/layout/vList2"/>
    <dgm:cxn modelId="{0AC89C63-E1BF-45EE-B3DB-C67DF2DF91D4}" type="presParOf" srcId="{7398E365-FEBE-450C-9295-82FE4766747C}" destId="{0686F92F-4C31-4885-9AF2-53D71CB22608}" srcOrd="2" destOrd="0" presId="urn:microsoft.com/office/officeart/2005/8/layout/vList2"/>
    <dgm:cxn modelId="{F0D19143-85E8-4C39-99E1-17D2396213CC}" type="presParOf" srcId="{7398E365-FEBE-450C-9295-82FE4766747C}" destId="{F38C8A95-D542-4952-B7DF-F75CC1A750C4}" srcOrd="3" destOrd="0" presId="urn:microsoft.com/office/officeart/2005/8/layout/vList2"/>
    <dgm:cxn modelId="{880AD204-BED7-4A90-A530-23D76A2AA4D0}" type="presParOf" srcId="{7398E365-FEBE-450C-9295-82FE4766747C}" destId="{DA6DA402-B5D0-4E09-9AEE-FC286C15B27F}" srcOrd="4" destOrd="0" presId="urn:microsoft.com/office/officeart/2005/8/layout/vList2"/>
    <dgm:cxn modelId="{69E27A4C-091E-4D2B-AF3E-FE719053DD7A}" type="presParOf" srcId="{7398E365-FEBE-450C-9295-82FE4766747C}" destId="{AB627912-A5BB-4FCD-8C8A-7799FDFA1286}" srcOrd="5" destOrd="0" presId="urn:microsoft.com/office/officeart/2005/8/layout/vList2"/>
    <dgm:cxn modelId="{2FFA7F3D-D49B-42A0-81B7-107C997752CA}" type="presParOf" srcId="{7398E365-FEBE-450C-9295-82FE4766747C}" destId="{04E2EBA8-DC78-456F-A001-FB818E2DBA56}" srcOrd="6" destOrd="0" presId="urn:microsoft.com/office/officeart/2005/8/layout/vList2"/>
    <dgm:cxn modelId="{4AAAD8C2-046D-47B4-BB11-DC9405996159}" type="presParOf" srcId="{7398E365-FEBE-450C-9295-82FE4766747C}" destId="{07EE0852-E868-4ED6-A7D2-7C498340ED2F}" srcOrd="7" destOrd="0" presId="urn:microsoft.com/office/officeart/2005/8/layout/vList2"/>
    <dgm:cxn modelId="{0A83D8EC-9F82-4DD1-B550-257AE5701A10}" type="presParOf" srcId="{7398E365-FEBE-450C-9295-82FE4766747C}" destId="{E902512B-22AF-4587-A5FB-1CE55522E13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8F84D-302F-44CE-B06F-42D2C48C0869}">
      <dsp:nvSpPr>
        <dsp:cNvPr id="0" name=""/>
        <dsp:cNvSpPr/>
      </dsp:nvSpPr>
      <dsp:spPr>
        <a:xfrm>
          <a:off x="0" y="28080"/>
          <a:ext cx="7132320" cy="673920"/>
        </a:xfrm>
        <a:prstGeom prst="roundRect">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vi-VN" sz="2000" b="1" kern="1200" dirty="0">
              <a:latin typeface="Aptos" panose="020B0004020202020204" pitchFamily="34" charset="0"/>
            </a:rPr>
            <a:t>BỐI CẢNH</a:t>
          </a:r>
          <a:endParaRPr lang="en-US" sz="2000" b="1" kern="1200" dirty="0">
            <a:latin typeface="Aptos" panose="020B0004020202020204" pitchFamily="34" charset="0"/>
          </a:endParaRPr>
        </a:p>
      </dsp:txBody>
      <dsp:txXfrm>
        <a:off x="32898" y="60978"/>
        <a:ext cx="7066524" cy="608124"/>
      </dsp:txXfrm>
    </dsp:sp>
    <dsp:sp modelId="{0686F92F-4C31-4885-9AF2-53D71CB22608}">
      <dsp:nvSpPr>
        <dsp:cNvPr id="0" name=""/>
        <dsp:cNvSpPr/>
      </dsp:nvSpPr>
      <dsp:spPr>
        <a:xfrm>
          <a:off x="0" y="805680"/>
          <a:ext cx="7132320" cy="673920"/>
        </a:xfrm>
        <a:prstGeom prst="roundRect">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vi-VN" sz="2000" b="1" kern="1200" dirty="0">
              <a:latin typeface="Aptos" panose="020B0004020202020204" pitchFamily="34" charset="0"/>
            </a:rPr>
            <a:t>CƠ SỞ LÝ THUYẾT</a:t>
          </a:r>
          <a:endParaRPr lang="en-US" sz="2000" b="1" kern="1200" dirty="0">
            <a:latin typeface="Aptos" panose="020B0004020202020204" pitchFamily="34" charset="0"/>
          </a:endParaRPr>
        </a:p>
      </dsp:txBody>
      <dsp:txXfrm>
        <a:off x="32898" y="838578"/>
        <a:ext cx="7066524" cy="608124"/>
      </dsp:txXfrm>
    </dsp:sp>
    <dsp:sp modelId="{DA6DA402-B5D0-4E09-9AEE-FC286C15B27F}">
      <dsp:nvSpPr>
        <dsp:cNvPr id="0" name=""/>
        <dsp:cNvSpPr/>
      </dsp:nvSpPr>
      <dsp:spPr>
        <a:xfrm>
          <a:off x="0" y="1583280"/>
          <a:ext cx="7132320" cy="673920"/>
        </a:xfrm>
        <a:prstGeom prst="roundRect">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vi-VN" sz="2000" b="1" kern="1200" dirty="0">
              <a:latin typeface="Aptos" panose="020B0004020202020204" pitchFamily="34" charset="0"/>
            </a:rPr>
            <a:t>BÀI TOÁN TỐI ƯU VÀ PHƯƠNG PHÁP</a:t>
          </a:r>
          <a:endParaRPr lang="en-US" sz="2000" b="1" kern="1200" dirty="0">
            <a:latin typeface="Aptos" panose="020B0004020202020204" pitchFamily="34" charset="0"/>
          </a:endParaRPr>
        </a:p>
      </dsp:txBody>
      <dsp:txXfrm>
        <a:off x="32898" y="1616178"/>
        <a:ext cx="7066524" cy="608124"/>
      </dsp:txXfrm>
    </dsp:sp>
    <dsp:sp modelId="{04E2EBA8-DC78-456F-A001-FB818E2DBA56}">
      <dsp:nvSpPr>
        <dsp:cNvPr id="0" name=""/>
        <dsp:cNvSpPr/>
      </dsp:nvSpPr>
      <dsp:spPr>
        <a:xfrm>
          <a:off x="0" y="2360880"/>
          <a:ext cx="7132320" cy="673920"/>
        </a:xfrm>
        <a:prstGeom prst="roundRect">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ptos" panose="020B0004020202020204" pitchFamily="34" charset="0"/>
            </a:rPr>
            <a:t>KẾT QUẢ VÀ </a:t>
          </a:r>
          <a:r>
            <a:rPr lang="vi-VN" sz="2000" b="1" kern="1200" dirty="0">
              <a:latin typeface="Aptos" panose="020B0004020202020204" pitchFamily="34" charset="0"/>
            </a:rPr>
            <a:t>ĐÁNH GIÁ</a:t>
          </a:r>
          <a:endParaRPr lang="en-US" sz="2000" b="1" kern="1200" dirty="0">
            <a:latin typeface="Aptos" panose="020B0004020202020204" pitchFamily="34" charset="0"/>
          </a:endParaRPr>
        </a:p>
      </dsp:txBody>
      <dsp:txXfrm>
        <a:off x="32898" y="2393778"/>
        <a:ext cx="7066524" cy="608124"/>
      </dsp:txXfrm>
    </dsp:sp>
    <dsp:sp modelId="{E902512B-22AF-4587-A5FB-1CE55522E13C}">
      <dsp:nvSpPr>
        <dsp:cNvPr id="0" name=""/>
        <dsp:cNvSpPr/>
      </dsp:nvSpPr>
      <dsp:spPr>
        <a:xfrm>
          <a:off x="0" y="3138480"/>
          <a:ext cx="7132320" cy="673920"/>
        </a:xfrm>
        <a:prstGeom prst="roundRect">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ptos" panose="020B0004020202020204" pitchFamily="34" charset="0"/>
            </a:rPr>
            <a:t>KẾT LUẬN VÀ PHƯƠNG HƯỚNG PHÁT TRIỂN</a:t>
          </a:r>
        </a:p>
      </dsp:txBody>
      <dsp:txXfrm>
        <a:off x="32898" y="3171378"/>
        <a:ext cx="7066524" cy="6081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FD5A9-6E59-419F-BD97-686D5FBBFA0F}" type="datetimeFigureOut">
              <a:rPr lang="vi-VN" smtClean="0"/>
              <a:t>01/06/2026</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DCBCB6-B631-4457-A1AB-039C4426AD00}" type="slidenum">
              <a:rPr lang="vi-VN" smtClean="0"/>
              <a:t>‹#›</a:t>
            </a:fld>
            <a:endParaRPr lang="vi-VN"/>
          </a:p>
        </p:txBody>
      </p:sp>
    </p:spTree>
    <p:extLst>
      <p:ext uri="{BB962C8B-B14F-4D97-AF65-F5344CB8AC3E}">
        <p14:creationId xmlns:p14="http://schemas.microsoft.com/office/powerpoint/2010/main" val="2743386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Em xin kính chào các thầy cô trong hội đồng,</a:t>
            </a:r>
            <a:br>
              <a:rPr lang="vi-VN" dirty="0"/>
            </a:br>
            <a:br>
              <a:rPr lang="vi-VN" dirty="0"/>
            </a:br>
            <a:r>
              <a:rPr lang="vi-VN" dirty="0"/>
              <a:t>Lời đầu tiên em xin cảm ơn các thầy cô đã có mặt trong buổi lễ bảo vệ khóa luận ngày hôm nay</a:t>
            </a:r>
            <a:br>
              <a:rPr lang="vi-VN" dirty="0"/>
            </a:br>
            <a:br>
              <a:rPr lang="vi-VN" dirty="0"/>
            </a:br>
            <a:r>
              <a:rPr lang="vi-VN" dirty="0"/>
              <a:t>Em là NTV, sau đây em xin được phép đi vào phần trình bày về đề tài :…………</a:t>
            </a:r>
            <a:br>
              <a:rPr lang="vi-VN" dirty="0"/>
            </a:br>
            <a:br>
              <a:rPr lang="vi-VN" dirty="0"/>
            </a:br>
            <a:endParaRPr lang="vi-VN" dirty="0"/>
          </a:p>
        </p:txBody>
      </p:sp>
      <p:sp>
        <p:nvSpPr>
          <p:cNvPr id="4" name="Slide Number Placeholder 3"/>
          <p:cNvSpPr>
            <a:spLocks noGrp="1"/>
          </p:cNvSpPr>
          <p:nvPr>
            <p:ph type="sldNum" sz="quarter" idx="5"/>
          </p:nvPr>
        </p:nvSpPr>
        <p:spPr/>
        <p:txBody>
          <a:bodyPr/>
          <a:lstStyle/>
          <a:p>
            <a:fld id="{8FDCBCB6-B631-4457-A1AB-039C4426AD00}" type="slidenum">
              <a:rPr lang="vi-VN" smtClean="0"/>
              <a:t>1</a:t>
            </a:fld>
            <a:endParaRPr lang="vi-VN"/>
          </a:p>
        </p:txBody>
      </p:sp>
    </p:spTree>
    <p:extLst>
      <p:ext uri="{BB962C8B-B14F-4D97-AF65-F5344CB8AC3E}">
        <p14:creationId xmlns:p14="http://schemas.microsoft.com/office/powerpoint/2010/main" val="2490997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Phần trình bày của em sẽ bao gồm 5 mục chính</a:t>
            </a:r>
          </a:p>
        </p:txBody>
      </p:sp>
      <p:sp>
        <p:nvSpPr>
          <p:cNvPr id="4" name="Slide Number Placeholder 3"/>
          <p:cNvSpPr>
            <a:spLocks noGrp="1"/>
          </p:cNvSpPr>
          <p:nvPr>
            <p:ph type="sldNum" sz="quarter" idx="5"/>
          </p:nvPr>
        </p:nvSpPr>
        <p:spPr/>
        <p:txBody>
          <a:bodyPr/>
          <a:lstStyle/>
          <a:p>
            <a:fld id="{8FDCBCB6-B631-4457-A1AB-039C4426AD00}" type="slidenum">
              <a:rPr lang="vi-VN" smtClean="0"/>
              <a:t>2</a:t>
            </a:fld>
            <a:endParaRPr lang="vi-VN"/>
          </a:p>
        </p:txBody>
      </p:sp>
    </p:spTree>
    <p:extLst>
      <p:ext uri="{BB962C8B-B14F-4D97-AF65-F5344CB8AC3E}">
        <p14:creationId xmlns:p14="http://schemas.microsoft.com/office/powerpoint/2010/main" val="1380858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Trong bối cảnh bùng nổ dữ liệu </a:t>
            </a:r>
            <a:r>
              <a:rPr lang="vi-VN" dirty="0" err="1"/>
              <a:t>video</a:t>
            </a:r>
            <a:r>
              <a:rPr lang="vi-VN" dirty="0"/>
              <a:t> và khan hiếm phổ tần</a:t>
            </a:r>
            <a:br>
              <a:rPr lang="vi-VN" dirty="0"/>
            </a:br>
            <a:br>
              <a:rPr lang="vi-VN" dirty="0"/>
            </a:br>
            <a:r>
              <a:rPr lang="vi-VN" dirty="0"/>
              <a:t>Tổng lưu lượng IP toàn cầu (</a:t>
            </a:r>
            <a:r>
              <a:rPr lang="vi-VN" dirty="0" err="1"/>
              <a:t>Global</a:t>
            </a:r>
            <a:r>
              <a:rPr lang="vi-VN" dirty="0"/>
              <a:t> IP </a:t>
            </a:r>
            <a:r>
              <a:rPr lang="vi-VN" dirty="0" err="1"/>
              <a:t>Traffic</a:t>
            </a:r>
            <a:r>
              <a:rPr lang="vi-VN" dirty="0"/>
              <a:t>) bao gồm tất cả các luồng dữ liệu chạy qua mạng lõi </a:t>
            </a:r>
            <a:r>
              <a:rPr lang="vi-VN" dirty="0" err="1"/>
              <a:t>Internet</a:t>
            </a:r>
            <a:r>
              <a:rPr lang="vi-VN" dirty="0"/>
              <a:t>, trong đó có lưu lượng từ mạng di động (3G/4G/5G) và mạng </a:t>
            </a:r>
            <a:r>
              <a:rPr lang="vi-VN" dirty="0" err="1"/>
              <a:t>Wi-Fi</a:t>
            </a:r>
            <a:r>
              <a:rPr lang="vi-VN" dirty="0"/>
              <a:t> (vốn là các mạng không dây) truyền phát (</a:t>
            </a:r>
            <a:r>
              <a:rPr lang="vi-VN" dirty="0" err="1"/>
              <a:t>stream</a:t>
            </a:r>
            <a:r>
              <a:rPr lang="vi-VN" dirty="0"/>
              <a:t>) </a:t>
            </a:r>
            <a:r>
              <a:rPr lang="vi-VN" dirty="0" err="1"/>
              <a:t>video</a:t>
            </a:r>
            <a:r>
              <a:rPr lang="vi-VN" dirty="0"/>
              <a:t>. Do đó, sự tăng trưởng của </a:t>
            </a:r>
            <a:r>
              <a:rPr lang="vi-VN" dirty="0" err="1"/>
              <a:t>video</a:t>
            </a:r>
            <a:r>
              <a:rPr lang="vi-VN" dirty="0"/>
              <a:t> trong biểu đồ phản ánh rất rõ xu hướng người dùng xem </a:t>
            </a:r>
            <a:r>
              <a:rPr lang="vi-VN" dirty="0" err="1"/>
              <a:t>video</a:t>
            </a:r>
            <a:r>
              <a:rPr lang="vi-VN" dirty="0"/>
              <a:t> ngày càng nhiều trên các thiết bị di động và thiết bị kết nối không dây.</a:t>
            </a:r>
          </a:p>
          <a:p>
            <a:endParaRPr lang="vi-VN" dirty="0"/>
          </a:p>
          <a:p>
            <a:r>
              <a:rPr lang="vi-VN" dirty="0"/>
              <a:t>Biểu đồ (nguồn từ </a:t>
            </a:r>
            <a:r>
              <a:rPr lang="vi-VN" dirty="0" err="1"/>
              <a:t>Cisco</a:t>
            </a:r>
            <a:r>
              <a:rPr lang="vi-VN" dirty="0"/>
              <a:t>, do </a:t>
            </a:r>
            <a:r>
              <a:rPr lang="vi-VN" dirty="0" err="1"/>
              <a:t>Recode</a:t>
            </a:r>
            <a:r>
              <a:rPr lang="vi-VN" dirty="0"/>
              <a:t> đăng tải) cho thấy sự tăng trưởng vượt bậc của lưu lượng </a:t>
            </a:r>
            <a:r>
              <a:rPr lang="vi-VN" dirty="0" err="1"/>
              <a:t>video</a:t>
            </a:r>
            <a:r>
              <a:rPr lang="vi-VN" dirty="0"/>
              <a:t> trên </a:t>
            </a:r>
            <a:r>
              <a:rPr lang="vi-VN" dirty="0" err="1"/>
              <a:t>Internet</a:t>
            </a:r>
            <a:r>
              <a:rPr lang="vi-VN" dirty="0"/>
              <a:t> (</a:t>
            </a:r>
            <a:r>
              <a:rPr lang="vi-VN" dirty="0" err="1"/>
              <a:t>Internet</a:t>
            </a:r>
            <a:r>
              <a:rPr lang="vi-VN" dirty="0"/>
              <a:t> </a:t>
            </a:r>
            <a:r>
              <a:rPr lang="vi-VN" dirty="0" err="1"/>
              <a:t>video</a:t>
            </a:r>
            <a:r>
              <a:rPr lang="vi-VN" dirty="0"/>
              <a:t>) từ </a:t>
            </a:r>
            <a:r>
              <a:rPr lang="vi-VN" b="1" dirty="0"/>
              <a:t>51% (năm 2016)</a:t>
            </a:r>
            <a:r>
              <a:rPr lang="vi-VN" dirty="0"/>
              <a:t> lên đến </a:t>
            </a:r>
            <a:r>
              <a:rPr lang="vi-VN" b="1" dirty="0"/>
              <a:t>67% (năm 2021)</a:t>
            </a:r>
            <a:r>
              <a:rPr lang="vi-VN" dirty="0"/>
              <a:t> trên tổng lưu lượng IP toàn cầu.</a:t>
            </a:r>
          </a:p>
          <a:p>
            <a:endParaRPr lang="vi-VN" dirty="0"/>
          </a:p>
        </p:txBody>
      </p:sp>
      <p:sp>
        <p:nvSpPr>
          <p:cNvPr id="4" name="Slide Number Placeholder 3"/>
          <p:cNvSpPr>
            <a:spLocks noGrp="1"/>
          </p:cNvSpPr>
          <p:nvPr>
            <p:ph type="sldNum" sz="quarter" idx="5"/>
          </p:nvPr>
        </p:nvSpPr>
        <p:spPr/>
        <p:txBody>
          <a:bodyPr/>
          <a:lstStyle/>
          <a:p>
            <a:fld id="{8FDCBCB6-B631-4457-A1AB-039C4426AD00}" type="slidenum">
              <a:rPr lang="vi-VN" smtClean="0"/>
              <a:t>3</a:t>
            </a:fld>
            <a:endParaRPr lang="vi-VN"/>
          </a:p>
        </p:txBody>
      </p:sp>
    </p:spTree>
    <p:extLst>
      <p:ext uri="{BB962C8B-B14F-4D97-AF65-F5344CB8AC3E}">
        <p14:creationId xmlns:p14="http://schemas.microsoft.com/office/powerpoint/2010/main" val="280887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37536-D2BF-AA2A-4A4C-4164F411E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D461-1A44-32C9-0868-F8060420FB6C}"/>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3F020FDD-3603-73E1-29C0-176700411BE5}"/>
              </a:ext>
            </a:extLst>
          </p:cNvPr>
          <p:cNvSpPr>
            <a:spLocks noGrp="1"/>
          </p:cNvSpPr>
          <p:nvPr>
            <p:ph type="body" idx="1"/>
          </p:nvPr>
        </p:nvSpPr>
        <p:spPr/>
        <p:txBody>
          <a:bodyPr/>
          <a:lstStyle/>
          <a:p>
            <a:r>
              <a:rPr lang="vi-VN" dirty="0"/>
              <a:t>Trong những năm gần đây, phần lớn các nghiên cứu chủ yếu tập trung vào việc tối đa hóa tổng thông lượng của hệ thống. Tuy nhiên, khi chỉ tối ưu tổng </a:t>
            </a:r>
            <a:r>
              <a:rPr lang="vi-VN" dirty="0" err="1"/>
              <a:t>throughput</a:t>
            </a:r>
            <a:r>
              <a:rPr lang="vi-VN" dirty="0"/>
              <a:t>, tài nguyên thường được ưu tiên cho các người dùng có điều kiện kênh tốt, trong khi các người dùng ở xa hoặc có chất lượng kênh kém sẽ nhận được tốc độ rất thấp.</a:t>
            </a:r>
          </a:p>
          <a:p>
            <a:endParaRPr lang="vi-VN" dirty="0"/>
          </a:p>
          <a:p>
            <a:r>
              <a:rPr lang="vi-VN" dirty="0"/>
              <a:t>Nhận thấy đối với ứng dụng truyền </a:t>
            </a:r>
            <a:r>
              <a:rPr lang="vi-VN" dirty="0" err="1"/>
              <a:t>video</a:t>
            </a:r>
            <a:r>
              <a:rPr lang="vi-VN" dirty="0"/>
              <a:t> SVC, vấn đề này trở nên nghiêm trọng hơn vì mỗi người dùng cần đạt được một tốc độ tối thiểu để giải mã thành công lớp cơ sở (</a:t>
            </a:r>
            <a:r>
              <a:rPr lang="vi-VN" dirty="0" err="1"/>
              <a:t>Base</a:t>
            </a:r>
            <a:r>
              <a:rPr lang="vi-VN" dirty="0"/>
              <a:t> </a:t>
            </a:r>
            <a:r>
              <a:rPr lang="vi-VN" dirty="0" err="1"/>
              <a:t>Layer</a:t>
            </a:r>
            <a:r>
              <a:rPr lang="vi-VN" dirty="0"/>
              <a:t>). Nếu tốc độ không đủ, người dùng gần như không thể khôi phục nội dung </a:t>
            </a:r>
            <a:r>
              <a:rPr lang="vi-VN" dirty="0" err="1"/>
              <a:t>video</a:t>
            </a:r>
            <a:r>
              <a:rPr lang="vi-VN" dirty="0"/>
              <a:t> mặc dù tổng </a:t>
            </a:r>
            <a:r>
              <a:rPr lang="vi-VN" dirty="0" err="1"/>
              <a:t>throughput</a:t>
            </a:r>
            <a:r>
              <a:rPr lang="vi-VN" dirty="0"/>
              <a:t> của hệ thống vẫn cao.</a:t>
            </a:r>
          </a:p>
          <a:p>
            <a:endParaRPr lang="vi-VN" dirty="0"/>
          </a:p>
          <a:p>
            <a:r>
              <a:rPr lang="vi-VN" dirty="0"/>
              <a:t>Do đó, ……đọc đoạn trên </a:t>
            </a:r>
            <a:r>
              <a:rPr lang="vi-VN" dirty="0" err="1"/>
              <a:t>slide</a:t>
            </a:r>
            <a:br>
              <a:rPr lang="vi-VN" dirty="0"/>
            </a:br>
            <a:endParaRPr lang="vi-VN" dirty="0"/>
          </a:p>
        </p:txBody>
      </p:sp>
      <p:sp>
        <p:nvSpPr>
          <p:cNvPr id="4" name="Slide Number Placeholder 3">
            <a:extLst>
              <a:ext uri="{FF2B5EF4-FFF2-40B4-BE49-F238E27FC236}">
                <a16:creationId xmlns:a16="http://schemas.microsoft.com/office/drawing/2014/main" id="{D69E1F62-BE81-13DA-23CE-4AFEDCC3845A}"/>
              </a:ext>
            </a:extLst>
          </p:cNvPr>
          <p:cNvSpPr>
            <a:spLocks noGrp="1"/>
          </p:cNvSpPr>
          <p:nvPr>
            <p:ph type="sldNum" sz="quarter" idx="5"/>
          </p:nvPr>
        </p:nvSpPr>
        <p:spPr/>
        <p:txBody>
          <a:bodyPr/>
          <a:lstStyle/>
          <a:p>
            <a:fld id="{8FDCBCB6-B631-4457-A1AB-039C4426AD00}" type="slidenum">
              <a:rPr lang="vi-VN" smtClean="0"/>
              <a:t>4</a:t>
            </a:fld>
            <a:endParaRPr lang="vi-VN"/>
          </a:p>
        </p:txBody>
      </p:sp>
    </p:spTree>
    <p:extLst>
      <p:ext uri="{BB962C8B-B14F-4D97-AF65-F5344CB8AC3E}">
        <p14:creationId xmlns:p14="http://schemas.microsoft.com/office/powerpoint/2010/main" val="372448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8029-A0B5-A756-B5D5-381761934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E09C4-B359-AF41-F736-DD29A14C77A1}"/>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F15674E4-33EE-B79B-28CA-860C199D8F14}"/>
              </a:ext>
            </a:extLst>
          </p:cNvPr>
          <p:cNvSpPr>
            <a:spLocks noGrp="1"/>
          </p:cNvSpPr>
          <p:nvPr>
            <p:ph type="body" idx="1"/>
          </p:nvPr>
        </p:nvSpPr>
        <p:spPr/>
        <p:txBody>
          <a:bodyPr/>
          <a:lstStyle/>
          <a:p>
            <a:r>
              <a:rPr lang="vi-VN" dirty="0"/>
              <a:t>Trong RSMA đường lên, mỗi người dùng chia thông điệp thành phần </a:t>
            </a:r>
            <a:r>
              <a:rPr lang="vi-VN" dirty="0" err="1"/>
              <a:t>common</a:t>
            </a:r>
            <a:r>
              <a:rPr lang="vi-VN" dirty="0"/>
              <a:t> và </a:t>
            </a:r>
            <a:r>
              <a:rPr lang="vi-VN" dirty="0" err="1"/>
              <a:t>private</a:t>
            </a:r>
            <a:r>
              <a:rPr lang="vi-VN" dirty="0"/>
              <a:t> trước khi truyền đến trạm gốc. Tại BS, các luồng tín hiệu được giải mã tuần tự bằng SIC, giúp quản lý nhiễu hiệu quả và cải thiện tính công bằng giữa các người dùng.</a:t>
            </a:r>
          </a:p>
          <a:p>
            <a:endParaRPr lang="vi-VN" dirty="0"/>
          </a:p>
          <a:p>
            <a:r>
              <a:rPr lang="vi-VN" dirty="0"/>
              <a:t>RSMA được xem là một khung quản lý giao thoa linh hoạt nằm giữa SDMA và NOMA. Thay vì xem toàn bộ giao thoa là nhiễu hoặc giải mã toàn bộ giao thoa, RSMA chỉ giải mã một phần giao thoa thông qua </a:t>
            </a:r>
            <a:r>
              <a:rPr lang="vi-VN" dirty="0" err="1"/>
              <a:t>common</a:t>
            </a:r>
            <a:r>
              <a:rPr lang="vi-VN" dirty="0"/>
              <a:t> </a:t>
            </a:r>
            <a:r>
              <a:rPr lang="vi-VN" dirty="0" err="1"/>
              <a:t>stream</a:t>
            </a:r>
            <a:r>
              <a:rPr lang="vi-VN" dirty="0"/>
              <a:t> và xem phần còn lại là nhiễu. Nhờ đó hệ thống đạt được hiệu suất phổ và </a:t>
            </a:r>
            <a:r>
              <a:rPr lang="vi-VN" dirty="0" err="1"/>
              <a:t>fairness</a:t>
            </a:r>
            <a:r>
              <a:rPr lang="vi-VN" dirty="0"/>
              <a:t> tốt hơn trong nhiều điều kiện kênh khác nhau.</a:t>
            </a:r>
          </a:p>
          <a:p>
            <a:endParaRPr lang="vi-VN" dirty="0"/>
          </a:p>
          <a:p>
            <a:r>
              <a:rPr lang="vi-VN" sz="1200" dirty="0"/>
              <a:t>Sự kết hợp linh hoạt giữa hai chiến lược này cho phép RSMA thích nghi với mọi mức độ giao thoa, từ đó vượt trội hơn so với OMA và NOMA — vốn chỉ áp dụng cứng nhắc một trong hai chiến lược — đồng thời đảm bảo công bằng tốt hơn trong môi trường đa người dùng với điều kiện kênh không đồng nhất.</a:t>
            </a:r>
            <a:endParaRPr lang="vi-VN" dirty="0"/>
          </a:p>
          <a:p>
            <a:endParaRPr lang="vi-VN" dirty="0"/>
          </a:p>
        </p:txBody>
      </p:sp>
      <p:sp>
        <p:nvSpPr>
          <p:cNvPr id="4" name="Slide Number Placeholder 3">
            <a:extLst>
              <a:ext uri="{FF2B5EF4-FFF2-40B4-BE49-F238E27FC236}">
                <a16:creationId xmlns:a16="http://schemas.microsoft.com/office/drawing/2014/main" id="{BDD7FF7A-9115-C9C8-02CC-98E26F2D3EAB}"/>
              </a:ext>
            </a:extLst>
          </p:cNvPr>
          <p:cNvSpPr>
            <a:spLocks noGrp="1"/>
          </p:cNvSpPr>
          <p:nvPr>
            <p:ph type="sldNum" sz="quarter" idx="5"/>
          </p:nvPr>
        </p:nvSpPr>
        <p:spPr/>
        <p:txBody>
          <a:bodyPr/>
          <a:lstStyle/>
          <a:p>
            <a:fld id="{8FDCBCB6-B631-4457-A1AB-039C4426AD00}" type="slidenum">
              <a:rPr lang="vi-VN" smtClean="0"/>
              <a:t>5</a:t>
            </a:fld>
            <a:endParaRPr lang="vi-VN"/>
          </a:p>
        </p:txBody>
      </p:sp>
    </p:spTree>
    <p:extLst>
      <p:ext uri="{BB962C8B-B14F-4D97-AF65-F5344CB8AC3E}">
        <p14:creationId xmlns:p14="http://schemas.microsoft.com/office/powerpoint/2010/main" val="306836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CD0E8-6480-D9D8-9F4B-2A31566E0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202F7-A38D-9F95-CA23-AE370468268C}"/>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1601244-4FE7-5432-F86E-48A6846F42D7}"/>
                  </a:ext>
                </a:extLst>
              </p:cNvPr>
              <p:cNvSpPr>
                <a:spLocks noGrp="1"/>
              </p:cNvSpPr>
              <p:nvPr>
                <p:ph type="body" idx="1"/>
              </p:nvPr>
            </p:nvSpPr>
            <p:spPr/>
            <p:txBody>
              <a:bodyPr/>
              <a:lstStyle/>
              <a:p>
                <a:r>
                  <a:rPr lang="vi-VN" dirty="0"/>
                  <a:t>Tiếp theo, em xin giới thiệu ngắn gọn về </a:t>
                </a:r>
                <a:r>
                  <a:rPr lang="vi-VN" dirty="0" err="1"/>
                  <a:t>Cognitive</a:t>
                </a:r>
                <a:r>
                  <a:rPr lang="vi-VN" dirty="0"/>
                  <a:t> </a:t>
                </a:r>
                <a:r>
                  <a:rPr lang="vi-VN" dirty="0" err="1"/>
                  <a:t>Radio</a:t>
                </a:r>
                <a:r>
                  <a:rPr lang="vi-VN" dirty="0"/>
                  <a:t> </a:t>
                </a:r>
                <a:r>
                  <a:rPr lang="vi-VN" dirty="0" err="1"/>
                  <a:t>Networks</a:t>
                </a:r>
                <a:r>
                  <a:rPr lang="vi-VN" dirty="0"/>
                  <a:t>. </a:t>
                </a:r>
                <a:r>
                  <a:rPr lang="vi-VN" dirty="0" err="1"/>
                  <a:t>Cognitive</a:t>
                </a:r>
                <a:r>
                  <a:rPr lang="vi-VN" dirty="0"/>
                  <a:t> </a:t>
                </a:r>
                <a:r>
                  <a:rPr lang="vi-VN" dirty="0" err="1"/>
                  <a:t>Radio</a:t>
                </a:r>
                <a:r>
                  <a:rPr lang="vi-VN" dirty="0"/>
                  <a:t> được phát triển nhằm nâng cao hiệu quả sử dụng phổ tần bằng cách cho phép các </a:t>
                </a:r>
                <a:r>
                  <a:rPr lang="vi-VN" dirty="0" err="1"/>
                  <a:t>Secondary</a:t>
                </a:r>
                <a:r>
                  <a:rPr lang="vi-VN" dirty="0"/>
                  <a:t> </a:t>
                </a:r>
                <a:r>
                  <a:rPr lang="vi-VN" dirty="0" err="1"/>
                  <a:t>Users</a:t>
                </a:r>
                <a:r>
                  <a:rPr lang="vi-VN" dirty="0"/>
                  <a:t> khai thác phổ đã cấp phép cho </a:t>
                </a:r>
                <a:r>
                  <a:rPr lang="vi-VN" dirty="0" err="1"/>
                  <a:t>Primary</a:t>
                </a:r>
                <a:r>
                  <a:rPr lang="vi-VN" dirty="0"/>
                  <a:t> </a:t>
                </a:r>
                <a:r>
                  <a:rPr lang="vi-VN" dirty="0" err="1"/>
                  <a:t>Users</a:t>
                </a:r>
                <a:r>
                  <a:rPr lang="vi-VN" dirty="0"/>
                  <a:t>, với điều kiện không gây ảnh hưởng đáng kể đến hệ thống sơ cấp.</a:t>
                </a:r>
              </a:p>
              <a:p>
                <a:endParaRPr lang="vi-VN" dirty="0"/>
              </a:p>
              <a:p>
                <a:r>
                  <a:rPr lang="vi-VN" dirty="0"/>
                  <a:t>Trong đó, </a:t>
                </a:r>
                <a:r>
                  <a:rPr lang="vi-VN" b="1" dirty="0" err="1"/>
                  <a:t>Primary</a:t>
                </a:r>
                <a:r>
                  <a:rPr lang="vi-VN" b="1" dirty="0"/>
                  <a:t> </a:t>
                </a:r>
                <a:r>
                  <a:rPr lang="vi-VN" b="1" dirty="0" err="1"/>
                  <a:t>User</a:t>
                </a:r>
                <a:r>
                  <a:rPr lang="vi-VN" b="1" dirty="0"/>
                  <a:t> (PU)</a:t>
                </a:r>
                <a:r>
                  <a:rPr lang="vi-VN" dirty="0"/>
                  <a:t> là người dùng sở hữu giấy phép sử dụng phổ tần và có quyền truy cập ưu tiên vào băng tần đó.</a:t>
                </a:r>
              </a:p>
              <a:p>
                <a:endParaRPr lang="vi-VN" dirty="0"/>
              </a:p>
              <a:p>
                <a:r>
                  <a:rPr lang="vi-VN" dirty="0"/>
                  <a:t>Ngược lại, </a:t>
                </a:r>
                <a:r>
                  <a:rPr lang="vi-VN" b="1" dirty="0" err="1"/>
                  <a:t>Secondary</a:t>
                </a:r>
                <a:r>
                  <a:rPr lang="vi-VN" b="1" dirty="0"/>
                  <a:t> </a:t>
                </a:r>
                <a:r>
                  <a:rPr lang="vi-VN" b="1" dirty="0" err="1"/>
                  <a:t>User</a:t>
                </a:r>
                <a:r>
                  <a:rPr lang="vi-VN" b="1" dirty="0"/>
                  <a:t> (SU)</a:t>
                </a:r>
                <a:r>
                  <a:rPr lang="vi-VN" dirty="0"/>
                  <a:t> là người dùng không sở hữu phổ tần nhưng được phép truy cập cơ hội vào cùng băng tần khi đáp ứng các điều kiện bảo vệ PU. </a:t>
                </a:r>
              </a:p>
              <a:p>
                <a:endParaRPr lang="vi-VN" dirty="0"/>
              </a:p>
              <a:p>
                <a:r>
                  <a:rPr lang="vi-VN" dirty="0"/>
                  <a:t>Trong </a:t>
                </a:r>
                <a:r>
                  <a:rPr lang="vi-VN" dirty="0" err="1"/>
                  <a:t>Cognitive</a:t>
                </a:r>
                <a:r>
                  <a:rPr lang="vi-VN" dirty="0"/>
                  <a:t> </a:t>
                </a:r>
                <a:r>
                  <a:rPr lang="vi-VN" dirty="0" err="1"/>
                  <a:t>Radio</a:t>
                </a:r>
                <a:r>
                  <a:rPr lang="vi-VN" dirty="0"/>
                  <a:t> có ba mô hình chia sẻ phổ chính là </a:t>
                </a:r>
                <a:r>
                  <a:rPr lang="vi-VN" dirty="0" err="1"/>
                  <a:t>Interweave</a:t>
                </a:r>
                <a:r>
                  <a:rPr lang="vi-VN" dirty="0"/>
                  <a:t>, </a:t>
                </a:r>
                <a:r>
                  <a:rPr lang="vi-VN" dirty="0" err="1"/>
                  <a:t>Overlay</a:t>
                </a:r>
                <a:r>
                  <a:rPr lang="vi-VN" dirty="0"/>
                  <a:t> và </a:t>
                </a:r>
                <a:r>
                  <a:rPr lang="vi-VN" dirty="0" err="1"/>
                  <a:t>Underlay</a:t>
                </a:r>
                <a:r>
                  <a:rPr lang="vi-VN" dirty="0"/>
                  <a:t>. Trong khóa luận này, em lựa chọn mô hình </a:t>
                </a:r>
                <a:r>
                  <a:rPr lang="vi-VN" dirty="0" err="1"/>
                  <a:t>Underlay</a:t>
                </a:r>
                <a:endParaRPr lang="vi-VN" dirty="0"/>
              </a:p>
              <a:p>
                <a:endParaRPr lang="vi-VN" dirty="0"/>
              </a:p>
              <a:p>
                <a:r>
                  <a:rPr lang="vi-VN" dirty="0"/>
                  <a:t>Đặc trưng quan trọng nhất của </a:t>
                </a:r>
                <a:r>
                  <a:rPr lang="vi-VN" dirty="0" err="1"/>
                  <a:t>Underlay</a:t>
                </a:r>
                <a:r>
                  <a:rPr lang="vi-VN" dirty="0"/>
                  <a:t> là ràng buộc ngưỡng nhiễu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𝐼</m:t>
                        </m:r>
                      </m:e>
                      <m:sub>
                        <m:r>
                          <a:rPr lang="ar-AE" sz="1200" i="1" kern="1200">
                            <a:solidFill>
                              <a:schemeClr val="tx1"/>
                            </a:solidFill>
                            <a:latin typeface="+mn-lt"/>
                            <a:ea typeface="+mn-ea"/>
                            <a:cs typeface="+mn-cs"/>
                          </a:rPr>
                          <m:t>𝑡</m:t>
                        </m:r>
                        <m:r>
                          <a:rPr lang="ar-AE" sz="1200" i="1" kern="1200">
                            <a:solidFill>
                              <a:schemeClr val="tx1"/>
                            </a:solidFill>
                            <a:latin typeface="+mn-lt"/>
                            <a:ea typeface="+mn-ea"/>
                            <a:cs typeface="+mn-cs"/>
                          </a:rPr>
                          <m:t>h</m:t>
                        </m:r>
                      </m:sub>
                    </m:sSub>
                  </m:oMath>
                </a14:m>
                <a:r>
                  <a:rPr lang="ar-AE" dirty="0"/>
                  <a:t>. </a:t>
                </a:r>
                <a:r>
                  <a:rPr lang="vi-VN" dirty="0"/>
                  <a:t>Tổng nhiễu gây ra bởi các SU tại bộ thu của PU phải luôn nhỏ hơn ngưỡng này. Do đó,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𝐼</m:t>
                        </m:r>
                      </m:e>
                      <m:sub>
                        <m:r>
                          <a:rPr lang="ar-AE" sz="1200" i="1" kern="1200">
                            <a:solidFill>
                              <a:schemeClr val="tx1"/>
                            </a:solidFill>
                            <a:latin typeface="+mn-lt"/>
                            <a:ea typeface="+mn-ea"/>
                            <a:cs typeface="+mn-cs"/>
                          </a:rPr>
                          <m:t>𝑡</m:t>
                        </m:r>
                        <m:r>
                          <a:rPr lang="ar-AE" sz="1200" i="1" kern="1200">
                            <a:solidFill>
                              <a:schemeClr val="tx1"/>
                            </a:solidFill>
                            <a:latin typeface="+mn-lt"/>
                            <a:ea typeface="+mn-ea"/>
                            <a:cs typeface="+mn-cs"/>
                          </a:rPr>
                          <m:t>h</m:t>
                        </m:r>
                      </m:sub>
                    </m:sSub>
                  </m:oMath>
                </a14:m>
                <a:r>
                  <a:rPr lang="vi-VN" dirty="0"/>
                  <a:t>trực tiếp giới hạn công suất phát của SU và ảnh hưởng đến hiệu năng công bằng </a:t>
                </a:r>
                <a:r>
                  <a:rPr lang="vi-VN" dirty="0" err="1"/>
                  <a:t>Max</a:t>
                </a:r>
                <a:r>
                  <a:rPr lang="vi-VN" dirty="0"/>
                  <a:t>–Min </a:t>
                </a:r>
                <a:r>
                  <a:rPr lang="vi-VN" dirty="0" err="1"/>
                  <a:t>Fairness</a:t>
                </a:r>
                <a:r>
                  <a:rPr lang="vi-VN" dirty="0"/>
                  <a:t> của hệ thống.</a:t>
                </a:r>
              </a:p>
            </p:txBody>
          </p:sp>
        </mc:Choice>
        <mc:Fallback xmlns="">
          <p:sp>
            <p:nvSpPr>
              <p:cNvPr id="3" name="Notes Placeholder 2">
                <a:extLst>
                  <a:ext uri="{FF2B5EF4-FFF2-40B4-BE49-F238E27FC236}">
                    <a16:creationId xmlns:a16="http://schemas.microsoft.com/office/drawing/2014/main" id="{61601244-4FE7-5432-F86E-48A6846F4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Mô hình được chọn trong khóa luận là </a:t>
                </a:r>
                <a:r>
                  <a:rPr lang="vi-VN" b="1" dirty="0" err="1"/>
                  <a:t>Underlay</a:t>
                </a:r>
                <a:r>
                  <a:rPr lang="vi-VN" b="1" dirty="0"/>
                  <a:t> vì:</a:t>
                </a:r>
                <a:br>
                  <a:rPr lang="vi-VN" b="1" dirty="0"/>
                </a:br>
                <a:br>
                  <a:rPr lang="vi-VN" b="1" dirty="0"/>
                </a:br>
                <a:r>
                  <a:rPr lang="vi-VN" dirty="0"/>
                  <a:t>Trong mô hình </a:t>
                </a:r>
                <a:r>
                  <a:rPr lang="vi-VN" dirty="0" err="1"/>
                  <a:t>Underlay</a:t>
                </a:r>
                <a:r>
                  <a:rPr lang="vi-VN" dirty="0"/>
                  <a:t>, PU và SU có thể hoạt động đồng thời trên cùng băng tần. Điều này giúp khai thác phổ liên tục và đạt hiệu suất phổ cao hơn so với </a:t>
                </a:r>
                <a:r>
                  <a:rPr lang="vi-VN" dirty="0" err="1"/>
                  <a:t>Interweave</a:t>
                </a:r>
                <a:r>
                  <a:rPr lang="vi-VN" dirty="0"/>
                  <a:t>. Đồng thời, </a:t>
                </a:r>
                <a:r>
                  <a:rPr lang="vi-VN" dirty="0" err="1"/>
                  <a:t>Underlay</a:t>
                </a:r>
                <a:r>
                  <a:rPr lang="vi-VN" dirty="0"/>
                  <a:t> có cấu trúc phù hợp để kết hợp với các kỹ thuật đa truy cập tiên tiến như RSMA và NOMA.</a:t>
                </a:r>
                <a:br>
                  <a:rPr lang="vi-VN" dirty="0"/>
                </a:b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Tại sao </a:t>
                </a:r>
                <a:r>
                  <a:rPr lang="vi-VN" b="1" dirty="0" err="1"/>
                  <a:t>Underlay</a:t>
                </a:r>
                <a:r>
                  <a:rPr lang="vi-VN" b="1" dirty="0"/>
                  <a:t> lại phù hợp với RSMA?</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Vì đây là mô hình cho phép các </a:t>
                </a:r>
                <a:r>
                  <a:rPr lang="vi-VN" dirty="0" err="1"/>
                  <a:t>Secondary</a:t>
                </a:r>
                <a:r>
                  <a:rPr lang="vi-VN" dirty="0"/>
                  <a:t> </a:t>
                </a:r>
                <a:r>
                  <a:rPr lang="vi-VN" dirty="0" err="1"/>
                  <a:t>User</a:t>
                </a:r>
                <a:r>
                  <a:rPr lang="vi-VN" dirty="0"/>
                  <a:t> truyền đồng thời trên cùng băng tần với </a:t>
                </a:r>
                <a:r>
                  <a:rPr lang="vi-VN" dirty="0" err="1"/>
                  <a:t>Primary</a:t>
                </a:r>
                <a:r>
                  <a:rPr lang="vi-VN" dirty="0"/>
                  <a:t> </a:t>
                </a:r>
                <a:r>
                  <a:rPr lang="vi-VN" dirty="0" err="1"/>
                  <a:t>User</a:t>
                </a:r>
                <a:r>
                  <a:rPr lang="vi-VN" dirty="0"/>
                  <a:t>. Khi đó hệ thống xuất hiện nhiều nguồn giao thoa và phải tuân thủ thêm ràng buộc nhiễu </a:t>
                </a:r>
                <a:r>
                  <a:rPr lang="ar-AE" sz="1200" i="0" kern="1200">
                    <a:solidFill>
                      <a:schemeClr val="tx1"/>
                    </a:solidFill>
                    <a:latin typeface="Cambria Math" panose="02040503050406030204" pitchFamily="18" charset="0"/>
                    <a:ea typeface="+mn-ea"/>
                    <a:cs typeface="+mn-cs"/>
                  </a:rPr>
                  <a:t>𝐼_𝑡ℎ</a:t>
                </a:r>
                <a:r>
                  <a:rPr lang="ar-AE" dirty="0"/>
                  <a:t>. </a:t>
                </a:r>
                <a:r>
                  <a:rPr lang="vi-VN" dirty="0"/>
                  <a:t>RSMA được thiết kế để xử lý giao thoa hiệu quả bằng cách giải mã một phần giao thoa và xem phần còn lại là nhiễu, nên rất phù hợp với môi trường </a:t>
                </a:r>
                <a:r>
                  <a:rPr lang="vi-VN" dirty="0" err="1"/>
                  <a:t>Underlay</a:t>
                </a:r>
                <a:r>
                  <a:rPr lang="vi-VN" dirty="0"/>
                  <a:t>. Nhờ đó hệ thống có thể đạt MMF </a:t>
                </a:r>
                <a:r>
                  <a:rPr lang="vi-VN" dirty="0" err="1"/>
                  <a:t>Rate</a:t>
                </a:r>
                <a:r>
                  <a:rPr lang="vi-VN" dirty="0"/>
                  <a:t> và </a:t>
                </a:r>
                <a:r>
                  <a:rPr lang="vi-VN" dirty="0" err="1"/>
                  <a:t>fairness</a:t>
                </a:r>
                <a:r>
                  <a:rPr lang="vi-VN" dirty="0"/>
                  <a:t> tốt hơn so với NOMA.</a:t>
                </a:r>
                <a:br>
                  <a:rPr lang="vi-VN" dirty="0"/>
                </a:br>
                <a:br>
                  <a:rPr lang="vi-VN" dirty="0"/>
                </a:br>
                <a:endParaRPr lang="vi-VN" dirty="0"/>
              </a:p>
              <a:p>
                <a:endParaRPr lang="vi-VN" dirty="0"/>
              </a:p>
            </p:txBody>
          </p:sp>
        </mc:Fallback>
      </mc:AlternateContent>
      <p:sp>
        <p:nvSpPr>
          <p:cNvPr id="4" name="Slide Number Placeholder 3">
            <a:extLst>
              <a:ext uri="{FF2B5EF4-FFF2-40B4-BE49-F238E27FC236}">
                <a16:creationId xmlns:a16="http://schemas.microsoft.com/office/drawing/2014/main" id="{99ACACED-C3DB-8D54-BE9C-3E307CC11D3E}"/>
              </a:ext>
            </a:extLst>
          </p:cNvPr>
          <p:cNvSpPr>
            <a:spLocks noGrp="1"/>
          </p:cNvSpPr>
          <p:nvPr>
            <p:ph type="sldNum" sz="quarter" idx="5"/>
          </p:nvPr>
        </p:nvSpPr>
        <p:spPr/>
        <p:txBody>
          <a:bodyPr/>
          <a:lstStyle/>
          <a:p>
            <a:fld id="{8FDCBCB6-B631-4457-A1AB-039C4426AD00}" type="slidenum">
              <a:rPr lang="vi-VN" smtClean="0"/>
              <a:t>6</a:t>
            </a:fld>
            <a:endParaRPr lang="vi-VN"/>
          </a:p>
        </p:txBody>
      </p:sp>
    </p:spTree>
    <p:extLst>
      <p:ext uri="{BB962C8B-B14F-4D97-AF65-F5344CB8AC3E}">
        <p14:creationId xmlns:p14="http://schemas.microsoft.com/office/powerpoint/2010/main" val="1790113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A32C-D6E3-315A-0F5C-2B3642796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3AD8D-AA89-6140-83DD-1C7068B3FC24}"/>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99F4BA2-904A-BC74-497C-3351D25DEC76}"/>
                  </a:ext>
                </a:extLst>
              </p:cNvPr>
              <p:cNvSpPr>
                <a:spLocks noGrp="1"/>
              </p:cNvSpPr>
              <p:nvPr>
                <p:ph type="body" idx="1"/>
              </p:nvPr>
            </p:nvSpPr>
            <p:spPr/>
            <p:txBody>
              <a:bodyPr/>
              <a:lstStyle/>
              <a:p>
                <a:r>
                  <a:rPr lang="vi-VN" dirty="0"/>
                  <a:t>Sau khi đã tìm hiểu riêng về hai thành phần chính là </a:t>
                </a:r>
                <a:r>
                  <a:rPr lang="vi-VN" dirty="0" err="1"/>
                  <a:t>Rate-Splitting</a:t>
                </a:r>
                <a:r>
                  <a:rPr lang="vi-VN" dirty="0"/>
                  <a:t> </a:t>
                </a:r>
                <a:r>
                  <a:rPr lang="vi-VN" dirty="0" err="1"/>
                  <a:t>Multiple</a:t>
                </a:r>
                <a:r>
                  <a:rPr lang="vi-VN" dirty="0"/>
                  <a:t> Access (RSMA) và </a:t>
                </a:r>
                <a:r>
                  <a:rPr lang="vi-VN" dirty="0" err="1"/>
                  <a:t>Cognitive</a:t>
                </a:r>
                <a:r>
                  <a:rPr lang="vi-VN" dirty="0"/>
                  <a:t> </a:t>
                </a:r>
                <a:r>
                  <a:rPr lang="vi-VN" dirty="0" err="1"/>
                  <a:t>Radio</a:t>
                </a:r>
                <a:r>
                  <a:rPr lang="vi-VN" dirty="0"/>
                  <a:t> (CR), em xin trình bày mô hình CR-RSMA được sử dụng trong khóa luận.</a:t>
                </a:r>
              </a:p>
              <a:p>
                <a:r>
                  <a:rPr lang="vi-VN" dirty="0"/>
                  <a:t>Hình vẽ này mô tả toàn bộ hệ thống nghiên cứu. Trong đó, nhiều </a:t>
                </a:r>
                <a:r>
                  <a:rPr lang="vi-VN" dirty="0" err="1"/>
                  <a:t>Secondary</a:t>
                </a:r>
                <a:r>
                  <a:rPr lang="vi-VN" dirty="0"/>
                  <a:t> </a:t>
                </a:r>
                <a:r>
                  <a:rPr lang="vi-VN" dirty="0" err="1"/>
                  <a:t>Users</a:t>
                </a:r>
                <a:r>
                  <a:rPr lang="vi-VN" dirty="0"/>
                  <a:t> truyền dữ liệu đồng thời lên </a:t>
                </a:r>
                <a:r>
                  <a:rPr lang="vi-VN" dirty="0" err="1"/>
                  <a:t>Base</a:t>
                </a:r>
                <a:r>
                  <a:rPr lang="vi-VN" dirty="0"/>
                  <a:t> </a:t>
                </a:r>
                <a:r>
                  <a:rPr lang="vi-VN" dirty="0" err="1"/>
                  <a:t>Station</a:t>
                </a:r>
                <a:r>
                  <a:rPr lang="vi-VN" dirty="0"/>
                  <a:t> trên cùng băng tần với </a:t>
                </a:r>
                <a:r>
                  <a:rPr lang="vi-VN" dirty="0" err="1"/>
                  <a:t>Primary</a:t>
                </a:r>
                <a:r>
                  <a:rPr lang="vi-VN" dirty="0"/>
                  <a:t> </a:t>
                </a:r>
                <a:r>
                  <a:rPr lang="vi-VN" dirty="0" err="1"/>
                  <a:t>User</a:t>
                </a:r>
                <a:r>
                  <a:rPr lang="vi-VN" dirty="0"/>
                  <a:t> theo mô hình </a:t>
                </a:r>
                <a:r>
                  <a:rPr lang="vi-VN" dirty="0" err="1"/>
                  <a:t>Cognitive</a:t>
                </a:r>
                <a:r>
                  <a:rPr lang="vi-VN" dirty="0"/>
                  <a:t> </a:t>
                </a:r>
                <a:r>
                  <a:rPr lang="vi-VN" dirty="0" err="1"/>
                  <a:t>Radio</a:t>
                </a:r>
                <a:r>
                  <a:rPr lang="vi-VN" dirty="0"/>
                  <a:t> </a:t>
                </a:r>
                <a:r>
                  <a:rPr lang="vi-VN" dirty="0" err="1"/>
                  <a:t>Underlay</a:t>
                </a:r>
                <a:r>
                  <a:rPr lang="vi-VN" dirty="0"/>
                  <a:t>.</a:t>
                </a:r>
              </a:p>
              <a:p>
                <a:endParaRPr lang="vi-VN" dirty="0"/>
              </a:p>
              <a:p>
                <a:r>
                  <a:rPr lang="vi-VN" dirty="0"/>
                  <a:t>Để quản lý giao thoa hiệu quả hơn so với các kỹ thuật đa truy cập truyền thống, mỗi </a:t>
                </a:r>
                <a:r>
                  <a:rPr lang="vi-VN" dirty="0" err="1"/>
                  <a:t>Secondary</a:t>
                </a:r>
                <a:r>
                  <a:rPr lang="vi-VN" dirty="0"/>
                  <a:t> </a:t>
                </a:r>
                <a:r>
                  <a:rPr lang="vi-VN" dirty="0" err="1"/>
                  <a:t>User</a:t>
                </a:r>
                <a:r>
                  <a:rPr lang="vi-VN" dirty="0"/>
                  <a:t> thực hiện cơ chế </a:t>
                </a:r>
                <a:r>
                  <a:rPr lang="vi-VN" dirty="0" err="1"/>
                  <a:t>Rate</a:t>
                </a:r>
                <a:r>
                  <a:rPr lang="vi-VN" dirty="0"/>
                  <a:t> </a:t>
                </a:r>
                <a:r>
                  <a:rPr lang="vi-VN" dirty="0" err="1"/>
                  <a:t>Splitting</a:t>
                </a:r>
                <a:r>
                  <a:rPr lang="vi-VN" dirty="0"/>
                  <a:t>, chia thông điệp thành hai phần gồm </a:t>
                </a:r>
                <a:r>
                  <a:rPr lang="vi-VN" dirty="0" err="1"/>
                  <a:t>common</a:t>
                </a:r>
                <a:r>
                  <a:rPr lang="vi-VN" dirty="0"/>
                  <a:t> </a:t>
                </a:r>
                <a:r>
                  <a:rPr lang="vi-VN" dirty="0" err="1"/>
                  <a:t>message</a:t>
                </a:r>
                <a:r>
                  <a:rPr lang="vi-VN" dirty="0"/>
                  <a:t> và </a:t>
                </a:r>
                <a:r>
                  <a:rPr lang="vi-VN" dirty="0" err="1"/>
                  <a:t>private</a:t>
                </a:r>
                <a:r>
                  <a:rPr lang="vi-VN" dirty="0"/>
                  <a:t> </a:t>
                </a:r>
                <a:r>
                  <a:rPr lang="vi-VN" dirty="0" err="1"/>
                  <a:t>message</a:t>
                </a:r>
                <a:r>
                  <a:rPr lang="vi-VN" dirty="0"/>
                  <a:t> trước khi truyền đi. Tại phía </a:t>
                </a:r>
                <a:r>
                  <a:rPr lang="vi-VN" dirty="0" err="1"/>
                  <a:t>Base</a:t>
                </a:r>
                <a:r>
                  <a:rPr lang="vi-VN" dirty="0"/>
                  <a:t> </a:t>
                </a:r>
                <a:r>
                  <a:rPr lang="vi-VN" dirty="0" err="1"/>
                  <a:t>Station</a:t>
                </a:r>
                <a:r>
                  <a:rPr lang="vi-VN" dirty="0"/>
                  <a:t>, các tín hiệu nhận được sẽ được giải mã tuần tự bằng kỹ thuật SIC nhằm khôi phục thông tin của từng người dùng.</a:t>
                </a:r>
              </a:p>
              <a:p>
                <a:endParaRPr lang="vi-VN" dirty="0"/>
              </a:p>
              <a:p>
                <a:r>
                  <a:rPr lang="vi-VN" dirty="0"/>
                  <a:t>Bên cạnh đó, do hệ thống hoạt động theo mô hình </a:t>
                </a:r>
                <a:r>
                  <a:rPr lang="vi-VN" dirty="0" err="1"/>
                  <a:t>Underlay</a:t>
                </a:r>
                <a:r>
                  <a:rPr lang="vi-VN" dirty="0"/>
                  <a:t> nên các </a:t>
                </a:r>
                <a:r>
                  <a:rPr lang="vi-VN" dirty="0" err="1"/>
                  <a:t>Secondary</a:t>
                </a:r>
                <a:r>
                  <a:rPr lang="vi-VN" dirty="0"/>
                  <a:t> </a:t>
                </a:r>
                <a:r>
                  <a:rPr lang="vi-VN" dirty="0" err="1"/>
                  <a:t>Users</a:t>
                </a:r>
                <a:r>
                  <a:rPr lang="vi-VN" dirty="0"/>
                  <a:t> chỉ được phép truyền với mức công suất sao cho tổng nhiễu gây ra cho </a:t>
                </a:r>
                <a:r>
                  <a:rPr lang="vi-VN" dirty="0" err="1"/>
                  <a:t>Primary</a:t>
                </a:r>
                <a:r>
                  <a:rPr lang="vi-VN" dirty="0"/>
                  <a:t> </a:t>
                </a:r>
                <a:r>
                  <a:rPr lang="vi-VN" dirty="0" err="1"/>
                  <a:t>User</a:t>
                </a:r>
                <a:r>
                  <a:rPr lang="vi-VN" dirty="0"/>
                  <a:t> luôn nhỏ hơn ngưỡng cho phép (I_{</a:t>
                </a:r>
                <a:r>
                  <a:rPr lang="vi-VN" dirty="0" err="1"/>
                  <a:t>th</a:t>
                </a:r>
                <a:r>
                  <a:rPr lang="vi-VN" dirty="0"/>
                  <a:t>}). Đây cũng chính là ràng buộc quan trọng nhất trong bài toán tối ưu </a:t>
                </a:r>
                <a:r>
                  <a:rPr lang="vi-VN" dirty="0" err="1"/>
                  <a:t>Max</a:t>
                </a:r>
                <a:r>
                  <a:rPr lang="vi-VN" dirty="0"/>
                  <a:t>-Min </a:t>
                </a:r>
                <a:r>
                  <a:rPr lang="vi-VN" dirty="0" err="1"/>
                  <a:t>Fairness</a:t>
                </a:r>
                <a:r>
                  <a:rPr lang="vi-VN" dirty="0"/>
                  <a:t> được nghiên cứu trong khóa luận.</a:t>
                </a:r>
              </a:p>
            </p:txBody>
          </p:sp>
        </mc:Choice>
        <mc:Fallback xmlns="">
          <p:sp>
            <p:nvSpPr>
              <p:cNvPr id="3" name="Notes Placeholder 2">
                <a:extLst>
                  <a:ext uri="{FF2B5EF4-FFF2-40B4-BE49-F238E27FC236}">
                    <a16:creationId xmlns:a16="http://schemas.microsoft.com/office/drawing/2014/main" id="{B99F4BA2-904A-BC74-497C-3351D25DEC76}"/>
                  </a:ext>
                </a:extLst>
              </p:cNvPr>
              <p:cNvSpPr>
                <a:spLocks noGrp="1"/>
              </p:cNvSpPr>
              <p:nvPr>
                <p:ph type="body" idx="1"/>
              </p:nvPr>
            </p:nvSpPr>
            <p:spPr/>
            <p:txBody>
              <a:bodyPr/>
              <a:lstStyle/>
              <a:p>
                <a:r>
                  <a:rPr lang="vi-VN" dirty="0"/>
                  <a:t>Hình này mô tả toàn bộ hệ thống CR-RSMA được sử dụng trong khóa luận. Nhiều </a:t>
                </a:r>
                <a:r>
                  <a:rPr lang="vi-VN" dirty="0" err="1"/>
                  <a:t>Secondary</a:t>
                </a:r>
                <a:r>
                  <a:rPr lang="vi-VN" dirty="0"/>
                  <a:t> </a:t>
                </a:r>
                <a:r>
                  <a:rPr lang="vi-VN" dirty="0" err="1"/>
                  <a:t>User</a:t>
                </a:r>
                <a:r>
                  <a:rPr lang="vi-VN" dirty="0"/>
                  <a:t> truyền dữ liệu lên </a:t>
                </a:r>
                <a:r>
                  <a:rPr lang="vi-VN" dirty="0" err="1"/>
                  <a:t>Base</a:t>
                </a:r>
                <a:r>
                  <a:rPr lang="vi-VN" dirty="0"/>
                  <a:t> </a:t>
                </a:r>
                <a:r>
                  <a:rPr lang="vi-VN" dirty="0" err="1"/>
                  <a:t>Station</a:t>
                </a:r>
                <a:r>
                  <a:rPr lang="vi-VN" dirty="0"/>
                  <a:t> trên cùng băng tần với </a:t>
                </a:r>
                <a:r>
                  <a:rPr lang="vi-VN" dirty="0" err="1"/>
                  <a:t>Primary</a:t>
                </a:r>
                <a:r>
                  <a:rPr lang="vi-VN" dirty="0"/>
                  <a:t> </a:t>
                </a:r>
                <a:r>
                  <a:rPr lang="vi-VN" dirty="0" err="1"/>
                  <a:t>User</a:t>
                </a:r>
                <a:r>
                  <a:rPr lang="vi-VN" dirty="0"/>
                  <a:t> theo mô hình </a:t>
                </a:r>
                <a:r>
                  <a:rPr lang="vi-VN" dirty="0" err="1"/>
                  <a:t>Underlay</a:t>
                </a:r>
                <a:r>
                  <a:rPr lang="vi-VN" dirty="0"/>
                  <a:t>. Để xử lý giao thoa hiệu quả, mỗi </a:t>
                </a:r>
                <a:r>
                  <a:rPr lang="vi-VN" dirty="0" err="1"/>
                  <a:t>user</a:t>
                </a:r>
                <a:r>
                  <a:rPr lang="vi-VN" dirty="0"/>
                  <a:t> thực hiện </a:t>
                </a:r>
                <a:r>
                  <a:rPr lang="vi-VN" dirty="0" err="1"/>
                  <a:t>Rate</a:t>
                </a:r>
                <a:r>
                  <a:rPr lang="vi-VN" dirty="0"/>
                  <a:t> </a:t>
                </a:r>
                <a:r>
                  <a:rPr lang="vi-VN" dirty="0" err="1"/>
                  <a:t>Splitting</a:t>
                </a:r>
                <a:r>
                  <a:rPr lang="vi-VN" dirty="0"/>
                  <a:t> và truyền đồng thời các luồng </a:t>
                </a:r>
                <a:r>
                  <a:rPr lang="vi-VN" dirty="0" err="1"/>
                  <a:t>common</a:t>
                </a:r>
                <a:r>
                  <a:rPr lang="vi-VN" dirty="0"/>
                  <a:t> và </a:t>
                </a:r>
                <a:r>
                  <a:rPr lang="vi-VN" dirty="0" err="1"/>
                  <a:t>private</a:t>
                </a:r>
                <a:r>
                  <a:rPr lang="vi-VN" dirty="0"/>
                  <a:t>. Tại trạm gốc, các tín hiệu được giải mã bằng SIC. Đồng thời, tổng nhiễu gây ra cho </a:t>
                </a:r>
                <a:r>
                  <a:rPr lang="vi-VN" dirty="0" err="1"/>
                  <a:t>Primary</a:t>
                </a:r>
                <a:r>
                  <a:rPr lang="vi-VN" dirty="0"/>
                  <a:t> </a:t>
                </a:r>
                <a:r>
                  <a:rPr lang="vi-VN" dirty="0" err="1"/>
                  <a:t>User</a:t>
                </a:r>
                <a:r>
                  <a:rPr lang="vi-VN" dirty="0"/>
                  <a:t> phải luôn nhỏ hơn ngưỡng </a:t>
                </a:r>
                <a:r>
                  <a:rPr lang="ar-AE" sz="1200" i="0" kern="1200">
                    <a:solidFill>
                      <a:schemeClr val="tx1"/>
                    </a:solidFill>
                    <a:latin typeface="+mn-lt"/>
                    <a:ea typeface="+mn-ea"/>
                    <a:cs typeface="+mn-cs"/>
                  </a:rPr>
                  <a:t>𝐼_𝑡ℎ</a:t>
                </a:r>
                <a:r>
                  <a:rPr lang="ar-AE" dirty="0"/>
                  <a:t>, </a:t>
                </a:r>
                <a:r>
                  <a:rPr lang="vi-VN" dirty="0"/>
                  <a:t>đây cũng là ràng buộc quan trọng nhất của bài toán tối ưu trong đề tài</a:t>
                </a:r>
              </a:p>
            </p:txBody>
          </p:sp>
        </mc:Fallback>
      </mc:AlternateContent>
      <p:sp>
        <p:nvSpPr>
          <p:cNvPr id="4" name="Slide Number Placeholder 3">
            <a:extLst>
              <a:ext uri="{FF2B5EF4-FFF2-40B4-BE49-F238E27FC236}">
                <a16:creationId xmlns:a16="http://schemas.microsoft.com/office/drawing/2014/main" id="{4DB43B39-3C24-1563-57AB-247E8AE73286}"/>
              </a:ext>
            </a:extLst>
          </p:cNvPr>
          <p:cNvSpPr>
            <a:spLocks noGrp="1"/>
          </p:cNvSpPr>
          <p:nvPr>
            <p:ph type="sldNum" sz="quarter" idx="5"/>
          </p:nvPr>
        </p:nvSpPr>
        <p:spPr/>
        <p:txBody>
          <a:bodyPr/>
          <a:lstStyle/>
          <a:p>
            <a:fld id="{8FDCBCB6-B631-4457-A1AB-039C4426AD00}" type="slidenum">
              <a:rPr lang="vi-VN" smtClean="0"/>
              <a:t>7</a:t>
            </a:fld>
            <a:endParaRPr lang="vi-VN"/>
          </a:p>
        </p:txBody>
      </p:sp>
    </p:spTree>
    <p:extLst>
      <p:ext uri="{BB962C8B-B14F-4D97-AF65-F5344CB8AC3E}">
        <p14:creationId xmlns:p14="http://schemas.microsoft.com/office/powerpoint/2010/main" val="2277884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4DC4-42DB-AD62-3F56-FB5BCC0E4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0804A-9129-2163-3B63-A45936FABA45}"/>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4A1F745-55E2-F9C5-7B27-B953424CA6C5}"/>
              </a:ext>
            </a:extLst>
          </p:cNvPr>
          <p:cNvSpPr>
            <a:spLocks noGrp="1"/>
          </p:cNvSpPr>
          <p:nvPr>
            <p:ph type="body" idx="1"/>
          </p:nvPr>
        </p:nvSpPr>
        <p:spPr/>
        <p:txBody>
          <a:bodyPr/>
          <a:lstStyle/>
          <a:p>
            <a:r>
              <a:rPr lang="vi-VN" dirty="0"/>
              <a:t>Sau đây em xin giới thiệu về thành phần cuối cùng của hệ thống, đó là </a:t>
            </a:r>
            <a:r>
              <a:rPr lang="vi-VN" dirty="0" err="1"/>
              <a:t>Scalable</a:t>
            </a:r>
            <a:r>
              <a:rPr lang="vi-VN" dirty="0"/>
              <a:t> </a:t>
            </a:r>
            <a:r>
              <a:rPr lang="vi-VN" dirty="0" err="1"/>
              <a:t>Video</a:t>
            </a:r>
            <a:r>
              <a:rPr lang="vi-VN" dirty="0"/>
              <a:t> </a:t>
            </a:r>
            <a:r>
              <a:rPr lang="vi-VN" dirty="0" err="1"/>
              <a:t>Coding</a:t>
            </a:r>
            <a:r>
              <a:rPr lang="vi-VN" dirty="0"/>
              <a:t> hay SVC.</a:t>
            </a:r>
          </a:p>
          <a:p>
            <a:endParaRPr lang="vi-VN" dirty="0"/>
          </a:p>
          <a:p>
            <a:r>
              <a:rPr lang="vi-VN" dirty="0"/>
              <a:t>SVC là một kỹ thuật mã hóa </a:t>
            </a:r>
            <a:r>
              <a:rPr lang="vi-VN" dirty="0" err="1"/>
              <a:t>video</a:t>
            </a:r>
            <a:r>
              <a:rPr lang="vi-VN" dirty="0"/>
              <a:t> phân lớp, trong đó </a:t>
            </a:r>
            <a:r>
              <a:rPr lang="vi-VN" dirty="0" err="1"/>
              <a:t>video</a:t>
            </a:r>
            <a:r>
              <a:rPr lang="vi-VN" dirty="0"/>
              <a:t> được chia thành một lớp cơ sở gọi là </a:t>
            </a:r>
            <a:r>
              <a:rPr lang="vi-VN" dirty="0" err="1"/>
              <a:t>Base</a:t>
            </a:r>
            <a:r>
              <a:rPr lang="vi-VN" dirty="0"/>
              <a:t> </a:t>
            </a:r>
            <a:r>
              <a:rPr lang="vi-VN" dirty="0" err="1"/>
              <a:t>Layer</a:t>
            </a:r>
            <a:r>
              <a:rPr lang="vi-VN" dirty="0"/>
              <a:t> và nhiều lớp tăng cường gọi là </a:t>
            </a:r>
            <a:r>
              <a:rPr lang="vi-VN" dirty="0" err="1"/>
              <a:t>Enhancement</a:t>
            </a:r>
            <a:r>
              <a:rPr lang="vi-VN" dirty="0"/>
              <a:t> </a:t>
            </a:r>
            <a:r>
              <a:rPr lang="vi-VN" dirty="0" err="1"/>
              <a:t>Layers</a:t>
            </a:r>
            <a:r>
              <a:rPr lang="vi-VN" dirty="0"/>
              <a:t>. </a:t>
            </a:r>
            <a:r>
              <a:rPr lang="vi-VN" dirty="0" err="1"/>
              <a:t>Base</a:t>
            </a:r>
            <a:r>
              <a:rPr lang="vi-VN" dirty="0"/>
              <a:t> </a:t>
            </a:r>
            <a:r>
              <a:rPr lang="vi-VN" dirty="0" err="1"/>
              <a:t>Layer</a:t>
            </a:r>
            <a:r>
              <a:rPr lang="vi-VN" dirty="0"/>
              <a:t> chứa thông tin tối thiểu để có thể giải mã </a:t>
            </a:r>
            <a:r>
              <a:rPr lang="vi-VN" dirty="0" err="1"/>
              <a:t>video</a:t>
            </a:r>
            <a:r>
              <a:rPr lang="vi-VN" dirty="0"/>
              <a:t>, trong khi các </a:t>
            </a:r>
            <a:r>
              <a:rPr lang="vi-VN" dirty="0" err="1"/>
              <a:t>Enhancement</a:t>
            </a:r>
            <a:r>
              <a:rPr lang="vi-VN" dirty="0"/>
              <a:t> </a:t>
            </a:r>
            <a:r>
              <a:rPr lang="vi-VN" dirty="0" err="1"/>
              <a:t>Layers</a:t>
            </a:r>
            <a:r>
              <a:rPr lang="vi-VN" dirty="0"/>
              <a:t> sẽ lần lượt nâng cao chất lượng hình ảnh, độ phân giải hoặc tốc độ khung hình.</a:t>
            </a:r>
          </a:p>
          <a:p>
            <a:endParaRPr lang="vi-VN" dirty="0"/>
          </a:p>
          <a:p>
            <a:r>
              <a:rPr lang="vi-VN" dirty="0"/>
              <a:t>Như minh họa trên hình, từ một </a:t>
            </a:r>
            <a:r>
              <a:rPr lang="vi-VN" dirty="0" err="1"/>
              <a:t>video</a:t>
            </a:r>
            <a:r>
              <a:rPr lang="vi-VN" dirty="0"/>
              <a:t> gốc, bộ mã hóa SVC tạo ra một luồng </a:t>
            </a:r>
            <a:r>
              <a:rPr lang="vi-VN" dirty="0" err="1"/>
              <a:t>bit</a:t>
            </a:r>
            <a:r>
              <a:rPr lang="vi-VN" dirty="0"/>
              <a:t> phân lớp. Tùy thuộc vào điều kiện mạng hoặc khả năng của thiết bị nhận, hệ thống có thể truyền và giải mã số lượng lớp phù hợp. Thiết bị có điều kiện kênh kém chỉ cần nhận </a:t>
            </a:r>
            <a:r>
              <a:rPr lang="vi-VN" dirty="0" err="1"/>
              <a:t>Base</a:t>
            </a:r>
            <a:r>
              <a:rPr lang="vi-VN" dirty="0"/>
              <a:t> </a:t>
            </a:r>
            <a:r>
              <a:rPr lang="vi-VN" dirty="0" err="1"/>
              <a:t>Layer</a:t>
            </a:r>
            <a:r>
              <a:rPr lang="vi-VN" dirty="0"/>
              <a:t>, trong khi thiết bị có điều kiện tốt hơn có thể nhận thêm các lớp tăng cường để đạt chất lượng </a:t>
            </a:r>
            <a:r>
              <a:rPr lang="vi-VN" dirty="0" err="1"/>
              <a:t>video</a:t>
            </a:r>
            <a:r>
              <a:rPr lang="vi-VN" dirty="0"/>
              <a:t> cao hơn.</a:t>
            </a:r>
          </a:p>
          <a:p>
            <a:endParaRPr lang="vi-VN" dirty="0"/>
          </a:p>
          <a:p>
            <a:r>
              <a:rPr lang="vi-VN" dirty="0"/>
              <a:t>SVC được lựa chọn trong đề tài vì nó hỗ trợ truyền </a:t>
            </a:r>
            <a:r>
              <a:rPr lang="vi-VN" dirty="0" err="1"/>
              <a:t>video</a:t>
            </a:r>
            <a:r>
              <a:rPr lang="vi-VN" dirty="0"/>
              <a:t> thích ứng rất hiệu quả trong môi trường mạng không dây. Đặc biệt, trong hệ thống </a:t>
            </a:r>
            <a:r>
              <a:rPr lang="vi-VN" dirty="0" err="1"/>
              <a:t>Cognitive</a:t>
            </a:r>
            <a:r>
              <a:rPr lang="vi-VN" dirty="0"/>
              <a:t> </a:t>
            </a:r>
            <a:r>
              <a:rPr lang="vi-VN" dirty="0" err="1"/>
              <a:t>Radio</a:t>
            </a:r>
            <a:r>
              <a:rPr lang="vi-VN" dirty="0"/>
              <a:t> </a:t>
            </a:r>
            <a:r>
              <a:rPr lang="vi-VN" dirty="0" err="1"/>
              <a:t>Underlay</a:t>
            </a:r>
            <a:r>
              <a:rPr lang="vi-VN" dirty="0"/>
              <a:t>, tài nguyên phổ và công suất truyền luôn bị giới hạn bởi ngưỡng nhiễu (I_{</a:t>
            </a:r>
            <a:r>
              <a:rPr lang="vi-VN" dirty="0" err="1"/>
              <a:t>th</a:t>
            </a:r>
            <a:r>
              <a:rPr lang="vi-VN" dirty="0"/>
              <a:t>}). Do đó, chất lượng </a:t>
            </a:r>
            <a:r>
              <a:rPr lang="vi-VN" dirty="0" err="1"/>
              <a:t>video</a:t>
            </a:r>
            <a:r>
              <a:rPr lang="vi-VN" dirty="0"/>
              <a:t> mà mỗi người dùng nhận được có thể khác nhau. Việc sử dụng SVC cho phép đánh giá trực tiếp tác động của các kỹ thuật đa truy cập lên trải nghiệm người dùng thông qua số lớp </a:t>
            </a:r>
            <a:r>
              <a:rPr lang="vi-VN" dirty="0" err="1"/>
              <a:t>video</a:t>
            </a:r>
            <a:r>
              <a:rPr lang="vi-VN" dirty="0"/>
              <a:t> có thể truyền thành công.</a:t>
            </a:r>
          </a:p>
        </p:txBody>
      </p:sp>
      <p:sp>
        <p:nvSpPr>
          <p:cNvPr id="4" name="Slide Number Placeholder 3">
            <a:extLst>
              <a:ext uri="{FF2B5EF4-FFF2-40B4-BE49-F238E27FC236}">
                <a16:creationId xmlns:a16="http://schemas.microsoft.com/office/drawing/2014/main" id="{774D095E-9A79-DACE-940B-453887CA3521}"/>
              </a:ext>
            </a:extLst>
          </p:cNvPr>
          <p:cNvSpPr>
            <a:spLocks noGrp="1"/>
          </p:cNvSpPr>
          <p:nvPr>
            <p:ph type="sldNum" sz="quarter" idx="5"/>
          </p:nvPr>
        </p:nvSpPr>
        <p:spPr/>
        <p:txBody>
          <a:bodyPr/>
          <a:lstStyle/>
          <a:p>
            <a:fld id="{8FDCBCB6-B631-4457-A1AB-039C4426AD00}" type="slidenum">
              <a:rPr lang="vi-VN" smtClean="0"/>
              <a:t>8</a:t>
            </a:fld>
            <a:endParaRPr lang="vi-VN"/>
          </a:p>
        </p:txBody>
      </p:sp>
    </p:spTree>
    <p:extLst>
      <p:ext uri="{BB962C8B-B14F-4D97-AF65-F5344CB8AC3E}">
        <p14:creationId xmlns:p14="http://schemas.microsoft.com/office/powerpoint/2010/main" val="2821732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Sau khi đã lần lượt tìm hiểu ba thành phần chính gồm </a:t>
            </a:r>
            <a:r>
              <a:rPr lang="vi-VN" dirty="0" err="1"/>
              <a:t>Cognitive</a:t>
            </a:r>
            <a:r>
              <a:rPr lang="vi-VN" dirty="0"/>
              <a:t> </a:t>
            </a:r>
            <a:r>
              <a:rPr lang="vi-VN" dirty="0" err="1"/>
              <a:t>Radio</a:t>
            </a:r>
            <a:r>
              <a:rPr lang="vi-VN" dirty="0"/>
              <a:t>, RSMA và SVC, em xin trình bày mô hình hệ thống hoàn chỉnh được đề xuất trong khóa luận.</a:t>
            </a:r>
          </a:p>
          <a:p>
            <a:endParaRPr lang="vi-VN" dirty="0"/>
          </a:p>
          <a:p>
            <a:r>
              <a:rPr lang="vi-VN" dirty="0"/>
              <a:t>Mô hình này tích hợp cả ba thành phần vào một kiến trúc thống nhất, trong đó </a:t>
            </a:r>
            <a:r>
              <a:rPr lang="vi-VN" dirty="0" err="1"/>
              <a:t>Cognitive</a:t>
            </a:r>
            <a:r>
              <a:rPr lang="vi-VN" dirty="0"/>
              <a:t> </a:t>
            </a:r>
            <a:r>
              <a:rPr lang="vi-VN" dirty="0" err="1"/>
              <a:t>Radio</a:t>
            </a:r>
            <a:r>
              <a:rPr lang="vi-VN" dirty="0"/>
              <a:t> chịu trách nhiệm quản lý tài nguyên phổ và ràng buộc nhiễu, RSMA xử lý cơ chế truyền dẫn và giải mã tín hiệu, còn SVC đánh giá chất lượng </a:t>
            </a:r>
            <a:r>
              <a:rPr lang="vi-VN" dirty="0" err="1"/>
              <a:t>video</a:t>
            </a:r>
            <a:r>
              <a:rPr lang="vi-VN" dirty="0"/>
              <a:t> mà người dùng nhận được.</a:t>
            </a:r>
          </a:p>
          <a:p>
            <a:endParaRPr lang="vi-VN" dirty="0"/>
          </a:p>
          <a:p>
            <a:r>
              <a:rPr lang="vi-VN" dirty="0"/>
              <a:t>Điểm quan trọng là ba tầng này không hoạt động độc lập mà tương tác chặt chẽ với nhau theo hướng tối ưu xuyên tầng (</a:t>
            </a:r>
            <a:r>
              <a:rPr lang="vi-VN" dirty="0" err="1"/>
              <a:t>Cross-Layer</a:t>
            </a:r>
            <a:r>
              <a:rPr lang="vi-VN" dirty="0"/>
              <a:t> </a:t>
            </a:r>
            <a:r>
              <a:rPr lang="vi-VN" dirty="0" err="1"/>
              <a:t>Optimization</a:t>
            </a:r>
            <a:r>
              <a:rPr lang="vi-VN" dirty="0"/>
              <a:t>). Cụ thể, các quyết định phân bổ công suất ở tầng vật lý sẽ ảnh hưởng đến tốc độ truyền dữ liệu, tốc độ này tiếp tục quyết định số lớp SVC có thể truyền thành công và cuối cùng tác động trực tiếp đến chất lượng </a:t>
            </a:r>
            <a:r>
              <a:rPr lang="vi-VN" dirty="0" err="1"/>
              <a:t>video</a:t>
            </a:r>
            <a:r>
              <a:rPr lang="vi-VN" dirty="0"/>
              <a:t> của người dùng.</a:t>
            </a:r>
          </a:p>
          <a:p>
            <a:endParaRPr lang="vi-VN" dirty="0"/>
          </a:p>
          <a:p>
            <a:r>
              <a:rPr lang="vi-VN" dirty="0"/>
              <a:t>Nhờ đó, bài toán tối ưu không chỉ tập trung vào các chỉ tiêu ở tầng vật lý như tốc độ hay công suất, mà còn hướng tới tối ưu trải nghiệm người dùng đầu cuối. Đây cũng chính là điểm nổi bật và ý nghĩa thực tiễn của đề tài khi kết nối đồng thời các mục tiêu của tầng vật lý, tầng truy cập vô tuyến và tầng ứng dụng trong một bài toán </a:t>
            </a:r>
            <a:r>
              <a:rPr lang="vi-VN" dirty="0" err="1"/>
              <a:t>Max</a:t>
            </a:r>
            <a:r>
              <a:rPr lang="vi-VN" dirty="0"/>
              <a:t>-Min </a:t>
            </a:r>
            <a:r>
              <a:rPr lang="vi-VN" dirty="0" err="1"/>
              <a:t>Fairness</a:t>
            </a:r>
            <a:r>
              <a:rPr lang="vi-VN" dirty="0"/>
              <a:t> thống nhất.</a:t>
            </a:r>
          </a:p>
        </p:txBody>
      </p:sp>
      <p:sp>
        <p:nvSpPr>
          <p:cNvPr id="4" name="Slide Number Placeholder 3"/>
          <p:cNvSpPr>
            <a:spLocks noGrp="1"/>
          </p:cNvSpPr>
          <p:nvPr>
            <p:ph type="sldNum" sz="quarter" idx="5"/>
          </p:nvPr>
        </p:nvSpPr>
        <p:spPr/>
        <p:txBody>
          <a:bodyPr/>
          <a:lstStyle/>
          <a:p>
            <a:fld id="{8FDCBCB6-B631-4457-A1AB-039C4426AD00}" type="slidenum">
              <a:rPr lang="vi-VN" smtClean="0"/>
              <a:t>9</a:t>
            </a:fld>
            <a:endParaRPr lang="vi-VN"/>
          </a:p>
        </p:txBody>
      </p:sp>
    </p:spTree>
    <p:extLst>
      <p:ext uri="{BB962C8B-B14F-4D97-AF65-F5344CB8AC3E}">
        <p14:creationId xmlns:p14="http://schemas.microsoft.com/office/powerpoint/2010/main" val="1886556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8F51-D14A-B832-B1D4-9EAB43B71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BF0E5-829A-E27D-4D81-3B3BEEB48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D56AC-2C81-4BD9-B535-3767EA5683A3}"/>
              </a:ext>
            </a:extLst>
          </p:cNvPr>
          <p:cNvSpPr>
            <a:spLocks noGrp="1"/>
          </p:cNvSpPr>
          <p:nvPr>
            <p:ph type="body" idx="1"/>
          </p:nvPr>
        </p:nvSpPr>
        <p:spPr/>
        <p:txBody>
          <a:bodyPr/>
          <a:lstStyle/>
          <a:p>
            <a:r>
              <a:rPr lang="vi-VN" dirty="0"/>
              <a:t>Ràng buộc thứ nhất áp dụng cho </a:t>
            </a:r>
            <a:r>
              <a:rPr lang="vi-VN" dirty="0" err="1"/>
              <a:t>Splitting</a:t>
            </a:r>
            <a:r>
              <a:rPr lang="vi-VN" dirty="0"/>
              <a:t> </a:t>
            </a:r>
            <a:r>
              <a:rPr lang="vi-VN" dirty="0" err="1"/>
              <a:t>User</a:t>
            </a:r>
            <a:r>
              <a:rPr lang="vi-VN" dirty="0"/>
              <a:t>. Do người dùng này chia bản tin thành hai luồng gồm </a:t>
            </a:r>
            <a:r>
              <a:rPr lang="vi-VN" dirty="0" err="1"/>
              <a:t>common</a:t>
            </a:r>
            <a:r>
              <a:rPr lang="vi-VN" dirty="0"/>
              <a:t> </a:t>
            </a:r>
            <a:r>
              <a:rPr lang="vi-VN" dirty="0" err="1"/>
              <a:t>stream</a:t>
            </a:r>
            <a:r>
              <a:rPr lang="vi-VN" dirty="0"/>
              <a:t> và </a:t>
            </a:r>
            <a:r>
              <a:rPr lang="vi-VN" dirty="0" err="1"/>
              <a:t>private</a:t>
            </a:r>
            <a:r>
              <a:rPr lang="vi-VN" dirty="0"/>
              <a:t> </a:t>
            </a:r>
            <a:r>
              <a:rPr lang="vi-VN" dirty="0" err="1"/>
              <a:t>stream</a:t>
            </a:r>
            <a:r>
              <a:rPr lang="vi-VN" dirty="0"/>
              <a:t>, nên tổng công suất cấp cho hai luồng không được vượt quá công suất phát cực đại.</a:t>
            </a:r>
          </a:p>
          <a:p>
            <a:endParaRPr lang="vi-VN" dirty="0"/>
          </a:p>
          <a:p>
            <a:r>
              <a:rPr lang="vi-VN" dirty="0"/>
              <a:t>Ràng buộc thứ hai áp dụng cho các Non-</a:t>
            </a:r>
            <a:r>
              <a:rPr lang="vi-VN" dirty="0" err="1"/>
              <a:t>Splitting</a:t>
            </a:r>
            <a:r>
              <a:rPr lang="vi-VN" dirty="0"/>
              <a:t> </a:t>
            </a:r>
            <a:r>
              <a:rPr lang="vi-VN" dirty="0" err="1"/>
              <a:t>Users</a:t>
            </a:r>
            <a:r>
              <a:rPr lang="vi-VN" dirty="0"/>
              <a:t>. Mỗi người dùng chỉ truyền một luồng dữ liệu nên công suất phát của từng người dùng cũng phải nằm trong giới hạn cho phép.</a:t>
            </a:r>
          </a:p>
          <a:p>
            <a:endParaRPr lang="vi-VN" dirty="0"/>
          </a:p>
          <a:p>
            <a:r>
              <a:rPr lang="vi-VN" dirty="0"/>
              <a:t>Cuối cùng là ràng buộc nhiễu của </a:t>
            </a:r>
            <a:r>
              <a:rPr lang="vi-VN" dirty="0" err="1"/>
              <a:t>Cognitive</a:t>
            </a:r>
            <a:r>
              <a:rPr lang="vi-VN" dirty="0"/>
              <a:t> </a:t>
            </a:r>
            <a:r>
              <a:rPr lang="vi-VN" dirty="0" err="1"/>
              <a:t>Radio</a:t>
            </a:r>
            <a:r>
              <a:rPr lang="vi-VN" dirty="0"/>
              <a:t> </a:t>
            </a:r>
            <a:r>
              <a:rPr lang="vi-VN" dirty="0" err="1"/>
              <a:t>Underlay</a:t>
            </a:r>
            <a:r>
              <a:rPr lang="vi-VN" dirty="0"/>
              <a:t>. Tổng nhiễu do tất cả các </a:t>
            </a:r>
            <a:r>
              <a:rPr lang="vi-VN" dirty="0" err="1"/>
              <a:t>Secondary</a:t>
            </a:r>
            <a:r>
              <a:rPr lang="vi-VN" dirty="0"/>
              <a:t> </a:t>
            </a:r>
            <a:r>
              <a:rPr lang="vi-VN" dirty="0" err="1"/>
              <a:t>Users</a:t>
            </a:r>
            <a:r>
              <a:rPr lang="vi-VN" dirty="0"/>
              <a:t> gây ra tại </a:t>
            </a:r>
            <a:r>
              <a:rPr lang="vi-VN" dirty="0" err="1"/>
              <a:t>Primary</a:t>
            </a:r>
            <a:r>
              <a:rPr lang="vi-VN" dirty="0"/>
              <a:t> </a:t>
            </a:r>
            <a:r>
              <a:rPr lang="vi-VN" dirty="0" err="1"/>
              <a:t>Receiver</a:t>
            </a:r>
            <a:r>
              <a:rPr lang="vi-VN" dirty="0"/>
              <a:t> phải luôn nhỏ hơn ngưỡng (I_{</a:t>
            </a:r>
            <a:r>
              <a:rPr lang="vi-VN" dirty="0" err="1"/>
              <a:t>th</a:t>
            </a:r>
            <a:r>
              <a:rPr lang="vi-VN" dirty="0"/>
              <a:t>}) nhằm đảm bảo chất lượng dịch vụ của </a:t>
            </a:r>
            <a:r>
              <a:rPr lang="vi-VN" dirty="0" err="1"/>
              <a:t>Primary</a:t>
            </a:r>
            <a:r>
              <a:rPr lang="vi-VN" dirty="0"/>
              <a:t> </a:t>
            </a:r>
            <a:r>
              <a:rPr lang="vi-VN" dirty="0" err="1"/>
              <a:t>User</a:t>
            </a:r>
            <a:r>
              <a:rPr lang="vi-VN" dirty="0"/>
              <a:t> không bị ảnh hưởng.</a:t>
            </a:r>
          </a:p>
          <a:p>
            <a:endParaRPr lang="vi-VN" dirty="0"/>
          </a:p>
          <a:p>
            <a:r>
              <a:rPr lang="vi-VN" dirty="0"/>
              <a:t>Trong ba ràng buộc này, ràng buộc nhiễu (I_{</a:t>
            </a:r>
            <a:r>
              <a:rPr lang="vi-VN" dirty="0" err="1"/>
              <a:t>th</a:t>
            </a:r>
            <a:r>
              <a:rPr lang="vi-VN" dirty="0"/>
              <a:t>}) là ràng buộc quan trọng nhất vì nó trực tiếp giới hạn khả năng phân bổ công suất của toàn bộ hệ thống.</a:t>
            </a:r>
            <a:br>
              <a:rPr lang="vi-VN" dirty="0"/>
            </a:br>
            <a:br>
              <a:rPr lang="vi-VN" dirty="0"/>
            </a:br>
            <a:r>
              <a:rPr lang="vi-VN" dirty="0"/>
              <a:t>Như vậy, bài toán thực chất là tìm cách phân bổ công suất tối ưu để cải thiện </a:t>
            </a:r>
            <a:r>
              <a:rPr lang="vi-VN" dirty="0" err="1"/>
              <a:t>QoE</a:t>
            </a:r>
            <a:r>
              <a:rPr lang="vi-VN" dirty="0"/>
              <a:t> của người dùng yếu nhất trong khi vẫn đảm bảo ba nhóm ràng buộc này.</a:t>
            </a:r>
          </a:p>
        </p:txBody>
      </p:sp>
      <p:sp>
        <p:nvSpPr>
          <p:cNvPr id="4" name="Slide Number Placeholder 3">
            <a:extLst>
              <a:ext uri="{FF2B5EF4-FFF2-40B4-BE49-F238E27FC236}">
                <a16:creationId xmlns:a16="http://schemas.microsoft.com/office/drawing/2014/main" id="{E0014D4D-A847-BD68-CA49-1D64A7EF8B5D}"/>
              </a:ext>
            </a:extLst>
          </p:cNvPr>
          <p:cNvSpPr>
            <a:spLocks noGrp="1"/>
          </p:cNvSpPr>
          <p:nvPr>
            <p:ph type="sldNum" sz="quarter" idx="5"/>
          </p:nvPr>
        </p:nvSpPr>
        <p:spPr/>
        <p:txBody>
          <a:bodyPr/>
          <a:lstStyle/>
          <a:p>
            <a:fld id="{8FDCBCB6-B631-4457-A1AB-039C4426AD00}" type="slidenum">
              <a:rPr lang="vi-VN" smtClean="0"/>
              <a:t>10</a:t>
            </a:fld>
            <a:endParaRPr lang="vi-VN"/>
          </a:p>
        </p:txBody>
      </p:sp>
    </p:spTree>
    <p:extLst>
      <p:ext uri="{BB962C8B-B14F-4D97-AF65-F5344CB8AC3E}">
        <p14:creationId xmlns:p14="http://schemas.microsoft.com/office/powerpoint/2010/main" val="496135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93B99-2B1F-C5C7-8768-59E7F2832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65DAE-8CF2-72E9-A43D-5E8752AE097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0C5178C-2208-77AD-6E90-DCE3AF39B0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Trong bài toán này, biến tối ưu là công suất phát của các </a:t>
                </a:r>
                <a:r>
                  <a:rPr lang="vi-VN" dirty="0" err="1"/>
                  <a:t>Secondary</a:t>
                </a:r>
                <a:r>
                  <a:rPr lang="vi-VN" dirty="0"/>
                  <a:t> </a:t>
                </a:r>
                <a:r>
                  <a:rPr lang="vi-VN" dirty="0" err="1"/>
                  <a:t>Users</a:t>
                </a:r>
                <a:r>
                  <a:rPr lang="vi-VN"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Nói cách khác, thuật toán sẽ quyết định mỗi người dùng nên được cấp bao nhiêu công suất để tối đa hóa chất lượng của người dùng yếu nhất, đồng thời vẫn đảm bảo các ràng buộc công suất và ràng buộc nhiễu của hệ thống </a:t>
                </a:r>
                <a:r>
                  <a:rPr lang="vi-VN" dirty="0" err="1"/>
                  <a:t>Cognitive</a:t>
                </a:r>
                <a:r>
                  <a:rPr lang="vi-VN" dirty="0"/>
                  <a:t> </a:t>
                </a:r>
                <a:r>
                  <a:rPr lang="vi-VN" dirty="0" err="1"/>
                  <a:t>Radio</a:t>
                </a:r>
                <a:r>
                  <a:rPr lang="vi-VN" dirty="0"/>
                  <a:t>.</a:t>
                </a:r>
              </a:p>
            </p:txBody>
          </p:sp>
        </mc:Choice>
        <mc:Fallback xmlns="">
          <p:sp>
            <p:nvSpPr>
              <p:cNvPr id="3" name="Notes Placeholder 2">
                <a:extLst>
                  <a:ext uri="{FF2B5EF4-FFF2-40B4-BE49-F238E27FC236}">
                    <a16:creationId xmlns:a16="http://schemas.microsoft.com/office/drawing/2014/main" id="{80C5178C-2208-77AD-6E90-DCE3AF39B02D}"/>
                  </a:ext>
                </a:extLst>
              </p:cNvPr>
              <p:cNvSpPr>
                <a:spLocks noGrp="1"/>
              </p:cNvSpPr>
              <p:nvPr>
                <p:ph type="body" idx="1"/>
              </p:nvPr>
            </p:nvSpPr>
            <p:spPr/>
            <p:txBody>
              <a:bodyPr/>
              <a:lstStyle/>
              <a:p>
                <a:r>
                  <a:rPr lang="vi-VN" dirty="0"/>
                  <a:t>Hình này minh họa nguyên lý </a:t>
                </a:r>
                <a:r>
                  <a:rPr lang="vi-VN" dirty="0" err="1"/>
                  <a:t>Water-Filling</a:t>
                </a:r>
                <a:r>
                  <a:rPr lang="vi-VN" dirty="0"/>
                  <a:t>. Mỗi người dùng hoặc kênh truyền được xem như một chiếc bình có đáy cao thấp khác nhau, phản ánh chất lượng kênh. Khi phân bổ công suất, hệ thống sẽ "đổ nước" đến cùng một mực nước </a:t>
                </a:r>
                <a:r>
                  <a:rPr lang="vi-VN" sz="1200" i="0" kern="1200">
                    <a:solidFill>
                      <a:schemeClr val="tx1"/>
                    </a:solidFill>
                    <a:latin typeface="+mn-lt"/>
                    <a:ea typeface="+mn-ea"/>
                    <a:cs typeface="+mn-cs"/>
                  </a:rPr>
                  <a:t>𝜆</a:t>
                </a:r>
                <a:r>
                  <a:rPr lang="vi-VN" dirty="0"/>
                  <a:t>. Các kênh tốt nhận được nhiều công suất hơn, trong khi các kênh xấu nhận ít công suất hơn. Ý tưởng này giúp sử dụng tài nguyên hiệu quả và là cơ sở trực quan để hiểu các bài toán phân bổ công suất nhằm cải thiện </a:t>
                </a:r>
                <a:r>
                  <a:rPr lang="vi-VN" dirty="0" err="1"/>
                  <a:t>Max</a:t>
                </a:r>
                <a:r>
                  <a:rPr lang="vi-VN" dirty="0"/>
                  <a:t>-Min </a:t>
                </a:r>
                <a:r>
                  <a:rPr lang="vi-VN" dirty="0" err="1"/>
                  <a:t>Fairness</a:t>
                </a:r>
                <a:r>
                  <a:rPr lang="vi-VN" dirty="0"/>
                  <a:t> trong hệ thống CR-RSMA.</a:t>
                </a:r>
              </a:p>
            </p:txBody>
          </p:sp>
        </mc:Fallback>
      </mc:AlternateContent>
      <p:sp>
        <p:nvSpPr>
          <p:cNvPr id="4" name="Slide Number Placeholder 3">
            <a:extLst>
              <a:ext uri="{FF2B5EF4-FFF2-40B4-BE49-F238E27FC236}">
                <a16:creationId xmlns:a16="http://schemas.microsoft.com/office/drawing/2014/main" id="{FA558B8B-4A75-C607-A3FB-0C25DF16AEDD}"/>
              </a:ext>
            </a:extLst>
          </p:cNvPr>
          <p:cNvSpPr>
            <a:spLocks noGrp="1"/>
          </p:cNvSpPr>
          <p:nvPr>
            <p:ph type="sldNum" sz="quarter" idx="5"/>
          </p:nvPr>
        </p:nvSpPr>
        <p:spPr/>
        <p:txBody>
          <a:bodyPr/>
          <a:lstStyle/>
          <a:p>
            <a:fld id="{8FDCBCB6-B631-4457-A1AB-039C4426AD00}" type="slidenum">
              <a:rPr lang="vi-VN" smtClean="0"/>
              <a:t>11</a:t>
            </a:fld>
            <a:endParaRPr lang="vi-VN"/>
          </a:p>
        </p:txBody>
      </p:sp>
    </p:spTree>
    <p:extLst>
      <p:ext uri="{BB962C8B-B14F-4D97-AF65-F5344CB8AC3E}">
        <p14:creationId xmlns:p14="http://schemas.microsoft.com/office/powerpoint/2010/main" val="1679983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0FC8-3CFF-74E9-56A2-2BF7A841B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3B996-7DE3-D5D7-666E-938C98431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3870B-8403-436E-24B5-6F1C31D8EE27}"/>
              </a:ext>
            </a:extLst>
          </p:cNvPr>
          <p:cNvSpPr>
            <a:spLocks noGrp="1"/>
          </p:cNvSpPr>
          <p:nvPr>
            <p:ph type="body" idx="1"/>
          </p:nvPr>
        </p:nvSpPr>
        <p:spPr/>
        <p:txBody>
          <a:bodyPr/>
          <a:lstStyle/>
          <a:p>
            <a:r>
              <a:rPr lang="vi-VN" dirty="0"/>
              <a:t>Để giải bài toán tối ưu phi lồi, khóa luận sử dụng phương pháp </a:t>
            </a:r>
            <a:r>
              <a:rPr lang="vi-VN" dirty="0" err="1"/>
              <a:t>Successive</a:t>
            </a:r>
            <a:r>
              <a:rPr lang="vi-VN" dirty="0"/>
              <a:t> </a:t>
            </a:r>
            <a:r>
              <a:rPr lang="vi-VN" dirty="0" err="1"/>
              <a:t>Convex</a:t>
            </a:r>
            <a:r>
              <a:rPr lang="vi-VN" dirty="0"/>
              <a:t> </a:t>
            </a:r>
            <a:r>
              <a:rPr lang="vi-VN" dirty="0" err="1"/>
              <a:t>Approximation</a:t>
            </a:r>
            <a:r>
              <a:rPr lang="vi-VN" dirty="0"/>
              <a:t>, hay SCA. Ý tưởng của phương pháp là thay thế bài toán phi lồi bằng một bài toán lồi tương đương tại mỗi vòng lặp, sau đó giải và cập nhật nghiệm cho vòng lặp tiếp theo. Quá trình này được lặp lại cho đến khi hội tụ, giúp tìm được nghiệm khả thi với độ phức tạp phù hợp cho hệ thống CR-RSMA.</a:t>
            </a:r>
          </a:p>
          <a:p>
            <a:endParaRPr lang="vi-VN" dirty="0"/>
          </a:p>
          <a:p>
            <a:endParaRPr lang="vi-VN" dirty="0"/>
          </a:p>
          <a:p>
            <a:r>
              <a:rPr lang="vi-VN" dirty="0"/>
              <a:t>Bài toán lồi là bài toán chỉ có một nghiệm tối ưu toàn cục nên có thể giải hiệu quả bằng các công cụ tối ưu lồi. Ngược lại, bài toán phi lồi có thể tồn tại nhiều nghiệm tối ưu cục bộ do xuất hiện các hàm </a:t>
            </a:r>
            <a:r>
              <a:rPr lang="vi-VN" dirty="0" err="1"/>
              <a:t>log</a:t>
            </a:r>
            <a:r>
              <a:rPr lang="vi-VN" dirty="0"/>
              <a:t>, tỷ số SINR và các biến ghép với nhau. Trong hệ thống CR-RSMA, bài toán tối ưu công suất là phi lồi, vì vậy em sử dụng phương pháp SCA để xấp xỉ bài toán phi lồi thành chuỗi các bài toán lồi và giải lặp cho đến khi hội tụ.</a:t>
            </a:r>
          </a:p>
        </p:txBody>
      </p:sp>
      <p:sp>
        <p:nvSpPr>
          <p:cNvPr id="4" name="Slide Number Placeholder 3">
            <a:extLst>
              <a:ext uri="{FF2B5EF4-FFF2-40B4-BE49-F238E27FC236}">
                <a16:creationId xmlns:a16="http://schemas.microsoft.com/office/drawing/2014/main" id="{42D33C6B-1492-7CDE-7AF0-A310B57E902E}"/>
              </a:ext>
            </a:extLst>
          </p:cNvPr>
          <p:cNvSpPr>
            <a:spLocks noGrp="1"/>
          </p:cNvSpPr>
          <p:nvPr>
            <p:ph type="sldNum" sz="quarter" idx="5"/>
          </p:nvPr>
        </p:nvSpPr>
        <p:spPr/>
        <p:txBody>
          <a:bodyPr/>
          <a:lstStyle/>
          <a:p>
            <a:fld id="{8FDCBCB6-B631-4457-A1AB-039C4426AD00}" type="slidenum">
              <a:rPr lang="vi-VN" smtClean="0"/>
              <a:t>12</a:t>
            </a:fld>
            <a:endParaRPr lang="vi-VN"/>
          </a:p>
        </p:txBody>
      </p:sp>
    </p:spTree>
    <p:extLst>
      <p:ext uri="{BB962C8B-B14F-4D97-AF65-F5344CB8AC3E}">
        <p14:creationId xmlns:p14="http://schemas.microsoft.com/office/powerpoint/2010/main" val="2444922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E4131-9481-AADE-CFB9-23E02D67B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DEF83-FB99-9A37-776B-57426E03F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AA9CB-0962-D8B7-EF0F-89840AE8FE5E}"/>
              </a:ext>
            </a:extLst>
          </p:cNvPr>
          <p:cNvSpPr>
            <a:spLocks noGrp="1"/>
          </p:cNvSpPr>
          <p:nvPr>
            <p:ph type="body" idx="1"/>
          </p:nvPr>
        </p:nvSpPr>
        <p:spPr/>
        <p:txBody>
          <a:bodyPr/>
          <a:lstStyle/>
          <a:p>
            <a:r>
              <a:rPr lang="vi-VN" sz="1200" b="0" i="0" kern="1200" dirty="0">
                <a:solidFill>
                  <a:schemeClr val="tx1"/>
                </a:solidFill>
                <a:effectLst/>
                <a:latin typeface="+mn-lt"/>
                <a:ea typeface="+mn-ea"/>
                <a:cs typeface="+mn-cs"/>
              </a:rPr>
              <a:t>Hình 1 trình bày so sánh hiệu năng </a:t>
            </a:r>
            <a:r>
              <a:rPr lang="vi-VN" sz="1200" b="0" i="0" kern="1200" dirty="0" err="1">
                <a:solidFill>
                  <a:schemeClr val="tx1"/>
                </a:solidFill>
                <a:effectLst/>
                <a:latin typeface="+mn-lt"/>
                <a:ea typeface="+mn-ea"/>
                <a:cs typeface="+mn-cs"/>
              </a:rPr>
              <a:t>Max</a:t>
            </a:r>
            <a:r>
              <a:rPr lang="vi-VN" sz="1200" b="0" i="0" kern="1200" dirty="0">
                <a:solidFill>
                  <a:schemeClr val="tx1"/>
                </a:solidFill>
                <a:effectLst/>
                <a:latin typeface="+mn-lt"/>
                <a:ea typeface="+mn-ea"/>
                <a:cs typeface="+mn-cs"/>
              </a:rPr>
              <a:t>-Min </a:t>
            </a:r>
            <a:r>
              <a:rPr lang="vi-VN" sz="1200" b="0" i="0" kern="1200" dirty="0" err="1">
                <a:solidFill>
                  <a:schemeClr val="tx1"/>
                </a:solidFill>
                <a:effectLst/>
                <a:latin typeface="+mn-lt"/>
                <a:ea typeface="+mn-ea"/>
                <a:cs typeface="+mn-cs"/>
              </a:rPr>
              <a:t>Fairness</a:t>
            </a:r>
            <a:r>
              <a:rPr lang="vi-VN" sz="1200" b="0" i="0" kern="1200" dirty="0">
                <a:solidFill>
                  <a:schemeClr val="tx1"/>
                </a:solidFill>
                <a:effectLst/>
                <a:latin typeface="+mn-lt"/>
                <a:ea typeface="+mn-ea"/>
                <a:cs typeface="+mn-cs"/>
              </a:rPr>
              <a:t> (MMF) của ba kỹ thuật truy cập (CR-RSMA, CR-NOMA, OMA) khi biến thiên SNR từ 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 đến 30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 Đây là chỉ số đánh giá khả năng đảm bảo công bằng trong phân bổ tài nguyên cho tất cả người dùng.</a:t>
            </a:r>
          </a:p>
          <a:p>
            <a:r>
              <a:rPr lang="vi-VN" sz="1200" b="1" i="0" kern="1200" dirty="0">
                <a:solidFill>
                  <a:schemeClr val="tx1"/>
                </a:solidFill>
                <a:effectLst/>
                <a:latin typeface="+mn-lt"/>
                <a:ea typeface="+mn-ea"/>
                <a:cs typeface="+mn-cs"/>
              </a:rPr>
              <a:t>Nhận xét chính:</a:t>
            </a:r>
            <a:endParaRPr lang="vi-VN"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CR-RSMA vượt trội so với CR-NOMA và OMA trên toàn bộ phạm vi SNR:</a:t>
            </a:r>
          </a:p>
          <a:p>
            <a:pPr lvl="1"/>
            <a:r>
              <a:rPr lang="vi-VN" sz="1200" b="0" i="0" kern="1200" dirty="0">
                <a:solidFill>
                  <a:schemeClr val="tx1"/>
                </a:solidFill>
                <a:effectLst/>
                <a:latin typeface="+mn-lt"/>
                <a:ea typeface="+mn-ea"/>
                <a:cs typeface="+mn-cs"/>
              </a:rPr>
              <a:t>Tại SNR = 10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 CR-RSMA đạt ~0.05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trong khi CR-NOMA chỉ ~0.04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(tăng ~25%)</a:t>
            </a:r>
          </a:p>
          <a:p>
            <a:pPr lvl="1"/>
            <a:r>
              <a:rPr lang="vi-VN" sz="1200" b="0" i="0" kern="1200" dirty="0">
                <a:solidFill>
                  <a:schemeClr val="tx1"/>
                </a:solidFill>
                <a:effectLst/>
                <a:latin typeface="+mn-lt"/>
                <a:ea typeface="+mn-ea"/>
                <a:cs typeface="+mn-cs"/>
              </a:rPr>
              <a:t>Tại SNR = 20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 CR-RSMA = 0.42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vs</a:t>
            </a:r>
            <a:r>
              <a:rPr lang="vi-VN" sz="1200" b="0" i="0" kern="1200" dirty="0">
                <a:solidFill>
                  <a:schemeClr val="tx1"/>
                </a:solidFill>
                <a:effectLst/>
                <a:latin typeface="+mn-lt"/>
                <a:ea typeface="+mn-ea"/>
                <a:cs typeface="+mn-cs"/>
              </a:rPr>
              <a:t> CR-NOMA = 0.38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(tăng ~11%)</a:t>
            </a:r>
          </a:p>
          <a:p>
            <a:pPr lvl="1"/>
            <a:r>
              <a:rPr lang="vi-VN" sz="1200" b="0" i="0" kern="1200" dirty="0">
                <a:solidFill>
                  <a:schemeClr val="tx1"/>
                </a:solidFill>
                <a:effectLst/>
                <a:latin typeface="+mn-lt"/>
                <a:ea typeface="+mn-ea"/>
                <a:cs typeface="+mn-cs"/>
              </a:rPr>
              <a:t>Tại SNR = 30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 CR-RSMA = 1.36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vs</a:t>
            </a:r>
            <a:r>
              <a:rPr lang="vi-VN" sz="1200" b="0" i="0" kern="1200" dirty="0">
                <a:solidFill>
                  <a:schemeClr val="tx1"/>
                </a:solidFill>
                <a:effectLst/>
                <a:latin typeface="+mn-lt"/>
                <a:ea typeface="+mn-ea"/>
                <a:cs typeface="+mn-cs"/>
              </a:rPr>
              <a:t> CR-NOMA = 1.13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(tăng ~20%)</a:t>
            </a:r>
          </a:p>
          <a:p>
            <a:r>
              <a:rPr lang="vi-VN" sz="1200" b="0" i="0" kern="1200" dirty="0">
                <a:solidFill>
                  <a:schemeClr val="tx1"/>
                </a:solidFill>
                <a:effectLst/>
                <a:latin typeface="+mn-lt"/>
                <a:ea typeface="+mn-ea"/>
                <a:cs typeface="+mn-cs"/>
              </a:rPr>
              <a:t>Khoảng cách giữa CR-RSMA và CR-NOMA tăng ở vùng SNR cao (&gt;20 </a:t>
            </a:r>
            <a:r>
              <a:rPr lang="vi-VN" sz="1200" b="0" i="0" kern="1200" dirty="0" err="1">
                <a:solidFill>
                  <a:schemeClr val="tx1"/>
                </a:solidFill>
                <a:effectLst/>
                <a:latin typeface="+mn-lt"/>
                <a:ea typeface="+mn-ea"/>
                <a:cs typeface="+mn-cs"/>
              </a:rPr>
              <a:t>dB</a:t>
            </a:r>
            <a:r>
              <a:rPr lang="vi-VN" sz="1200" b="0" i="0" kern="1200" dirty="0">
                <a:solidFill>
                  <a:schemeClr val="tx1"/>
                </a:solidFill>
                <a:effectLst/>
                <a:latin typeface="+mn-lt"/>
                <a:ea typeface="+mn-ea"/>
                <a:cs typeface="+mn-cs"/>
              </a:rPr>
              <a:t>):</a:t>
            </a:r>
          </a:p>
          <a:p>
            <a:pPr lvl="1"/>
            <a:r>
              <a:rPr lang="vi-VN" sz="1200" b="0" i="0" kern="1200" dirty="0">
                <a:solidFill>
                  <a:schemeClr val="tx1"/>
                </a:solidFill>
                <a:effectLst/>
                <a:latin typeface="+mn-lt"/>
                <a:ea typeface="+mn-ea"/>
                <a:cs typeface="+mn-cs"/>
              </a:rPr>
              <a:t>Điều này chứng minh rằng RSMA tận dụng tốt hơn các điều kiện kênh tốt</a:t>
            </a:r>
          </a:p>
          <a:p>
            <a:pPr lvl="1"/>
            <a:r>
              <a:rPr lang="vi-VN" sz="1200" b="0" i="0" kern="1200" dirty="0">
                <a:solidFill>
                  <a:schemeClr val="tx1"/>
                </a:solidFill>
                <a:effectLst/>
                <a:latin typeface="+mn-lt"/>
                <a:ea typeface="+mn-ea"/>
                <a:cs typeface="+mn-cs"/>
              </a:rPr>
              <a:t>Cấu trúc "</a:t>
            </a:r>
            <a:r>
              <a:rPr lang="vi-VN" sz="1200" b="0" i="0" kern="1200" dirty="0" err="1">
                <a:solidFill>
                  <a:schemeClr val="tx1"/>
                </a:solidFill>
                <a:effectLst/>
                <a:latin typeface="+mn-lt"/>
                <a:ea typeface="+mn-ea"/>
                <a:cs typeface="+mn-cs"/>
              </a:rPr>
              <a:t>rate-splitting</a:t>
            </a:r>
            <a:r>
              <a:rPr lang="vi-VN" sz="1200" b="0" i="0" kern="1200" dirty="0">
                <a:solidFill>
                  <a:schemeClr val="tx1"/>
                </a:solidFill>
                <a:effectLst/>
                <a:latin typeface="+mn-lt"/>
                <a:ea typeface="+mn-ea"/>
                <a:cs typeface="+mn-cs"/>
              </a:rPr>
              <a:t>" cho phép RSMA linh hoạt hơn trong phân bổ công suất giữa thành phần chung (</a:t>
            </a:r>
            <a:r>
              <a:rPr lang="vi-VN" sz="1200" b="0" i="0" kern="1200" dirty="0" err="1">
                <a:solidFill>
                  <a:schemeClr val="tx1"/>
                </a:solidFill>
                <a:effectLst/>
                <a:latin typeface="+mn-lt"/>
                <a:ea typeface="+mn-ea"/>
                <a:cs typeface="+mn-cs"/>
              </a:rPr>
              <a:t>common</a:t>
            </a:r>
            <a:r>
              <a:rPr lang="vi-VN" sz="1200" b="0" i="0" kern="1200" dirty="0">
                <a:solidFill>
                  <a:schemeClr val="tx1"/>
                </a:solidFill>
                <a:effectLst/>
                <a:latin typeface="+mn-lt"/>
                <a:ea typeface="+mn-ea"/>
                <a:cs typeface="+mn-cs"/>
              </a:rPr>
              <a:t>) và riêng (</a:t>
            </a:r>
            <a:r>
              <a:rPr lang="vi-VN" sz="1200" b="0" i="0" kern="1200" dirty="0" err="1">
                <a:solidFill>
                  <a:schemeClr val="tx1"/>
                </a:solidFill>
                <a:effectLst/>
                <a:latin typeface="+mn-lt"/>
                <a:ea typeface="+mn-ea"/>
                <a:cs typeface="+mn-cs"/>
              </a:rPr>
              <a:t>private</a:t>
            </a:r>
            <a:r>
              <a:rPr lang="vi-VN" sz="1200" b="0" i="0" kern="1200" dirty="0">
                <a:solidFill>
                  <a:schemeClr val="tx1"/>
                </a:solidFill>
                <a:effectLst/>
                <a:latin typeface="+mn-lt"/>
                <a:ea typeface="+mn-ea"/>
                <a:cs typeface="+mn-cs"/>
              </a:rPr>
              <a:t>)</a:t>
            </a:r>
          </a:p>
          <a:p>
            <a:r>
              <a:rPr lang="vi-VN" sz="1200" b="0" i="0" kern="1200" dirty="0">
                <a:solidFill>
                  <a:schemeClr val="tx1"/>
                </a:solidFill>
                <a:effectLst/>
                <a:latin typeface="+mn-lt"/>
                <a:ea typeface="+mn-ea"/>
                <a:cs typeface="+mn-cs"/>
              </a:rPr>
              <a:t>Cả ba kỹ thuật đều có xu hướng tăng MMF tuyến tính với SNR:</a:t>
            </a:r>
          </a:p>
          <a:p>
            <a:pPr lvl="1"/>
            <a:r>
              <a:rPr lang="vi-VN" sz="1200" b="0" i="0" kern="1200" dirty="0">
                <a:solidFill>
                  <a:schemeClr val="tx1"/>
                </a:solidFill>
                <a:effectLst/>
                <a:latin typeface="+mn-lt"/>
                <a:ea typeface="+mn-ea"/>
                <a:cs typeface="+mn-cs"/>
              </a:rPr>
              <a:t>MMF ∝ </a:t>
            </a:r>
            <a:r>
              <a:rPr lang="vi-VN" sz="1200" b="0" i="0" kern="1200" dirty="0" err="1">
                <a:solidFill>
                  <a:schemeClr val="tx1"/>
                </a:solidFill>
                <a:effectLst/>
                <a:latin typeface="+mn-lt"/>
                <a:ea typeface="+mn-ea"/>
                <a:cs typeface="+mn-cs"/>
              </a:rPr>
              <a:t>log</a:t>
            </a:r>
            <a:r>
              <a:rPr lang="vi-VN" sz="1200" b="0" i="0" kern="1200" dirty="0">
                <a:solidFill>
                  <a:schemeClr val="tx1"/>
                </a:solidFill>
                <a:effectLst/>
                <a:latin typeface="+mn-lt"/>
                <a:ea typeface="+mn-ea"/>
                <a:cs typeface="+mn-cs"/>
              </a:rPr>
              <a:t>(SNR) theo lý thuyết </a:t>
            </a:r>
            <a:r>
              <a:rPr lang="vi-VN" sz="1200" b="0" i="0" kern="1200" dirty="0" err="1">
                <a:solidFill>
                  <a:schemeClr val="tx1"/>
                </a:solidFill>
                <a:effectLst/>
                <a:latin typeface="+mn-lt"/>
                <a:ea typeface="+mn-ea"/>
                <a:cs typeface="+mn-cs"/>
              </a:rPr>
              <a:t>Shannon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capacity</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Đường cong CR-RSMA có độ dốc lớn hơn, đặc biệt ở vùng SNR cao</a:t>
            </a:r>
          </a:p>
          <a:p>
            <a:r>
              <a:rPr lang="vi-VN" sz="1200" b="0" i="0" kern="1200" dirty="0">
                <a:solidFill>
                  <a:schemeClr val="tx1"/>
                </a:solidFill>
                <a:effectLst/>
                <a:latin typeface="+mn-lt"/>
                <a:ea typeface="+mn-ea"/>
                <a:cs typeface="+mn-cs"/>
              </a:rPr>
              <a:t>OMA (</a:t>
            </a:r>
            <a:r>
              <a:rPr lang="vi-VN" sz="1200" b="0" i="0" kern="1200" dirty="0" err="1">
                <a:solidFill>
                  <a:schemeClr val="tx1"/>
                </a:solidFill>
                <a:effectLst/>
                <a:latin typeface="+mn-lt"/>
                <a:ea typeface="+mn-ea"/>
                <a:cs typeface="+mn-cs"/>
              </a:rPr>
              <a:t>baseline</a:t>
            </a:r>
            <a:r>
              <a:rPr lang="vi-VN" sz="1200" b="0" i="0" kern="1200" dirty="0">
                <a:solidFill>
                  <a:schemeClr val="tx1"/>
                </a:solidFill>
                <a:effectLst/>
                <a:latin typeface="+mn-lt"/>
                <a:ea typeface="+mn-ea"/>
                <a:cs typeface="+mn-cs"/>
              </a:rPr>
              <a:t>) luôn cho kết quả thấp nhất vì không tận dụng </a:t>
            </a:r>
            <a:r>
              <a:rPr lang="vi-VN" sz="1200" b="0" i="0" kern="1200" dirty="0" err="1">
                <a:solidFill>
                  <a:schemeClr val="tx1"/>
                </a:solidFill>
                <a:effectLst/>
                <a:latin typeface="+mn-lt"/>
                <a:ea typeface="+mn-ea"/>
                <a:cs typeface="+mn-cs"/>
              </a:rPr>
              <a:t>oversampling</a:t>
            </a:r>
            <a:r>
              <a:rPr lang="vi-VN" sz="1200" b="0" i="0" kern="1200" dirty="0">
                <a:solidFill>
                  <a:schemeClr val="tx1"/>
                </a:solidFill>
                <a:effectLst/>
                <a:latin typeface="+mn-lt"/>
                <a:ea typeface="+mn-ea"/>
                <a:cs typeface="+mn-cs"/>
              </a:rPr>
              <a:t> của kênh:</a:t>
            </a:r>
          </a:p>
          <a:p>
            <a:pPr lvl="1"/>
            <a:r>
              <a:rPr lang="vi-VN" sz="1200" b="0" i="0" kern="1200" dirty="0">
                <a:solidFill>
                  <a:schemeClr val="tx1"/>
                </a:solidFill>
                <a:effectLst/>
                <a:latin typeface="+mn-lt"/>
                <a:ea typeface="+mn-ea"/>
                <a:cs typeface="+mn-cs"/>
              </a:rPr>
              <a:t>OMA buộc phải chia thời gian/tần số, lãng phí tài nguyên</a:t>
            </a:r>
          </a:p>
          <a:p>
            <a:pPr lvl="1"/>
            <a:r>
              <a:rPr lang="vi-VN" sz="1200" b="0" i="0" kern="1200" dirty="0">
                <a:solidFill>
                  <a:schemeClr val="tx1"/>
                </a:solidFill>
                <a:effectLst/>
                <a:latin typeface="+mn-lt"/>
                <a:ea typeface="+mn-ea"/>
                <a:cs typeface="+mn-cs"/>
              </a:rPr>
              <a:t>CR-NOMA và CR-RSMA đều cho phép người dùng truyền cùng lúc, nên hiệu quả hơn</a:t>
            </a:r>
          </a:p>
          <a:p>
            <a:r>
              <a:rPr lang="vi-VN" sz="1200" b="1" i="0" kern="1200" dirty="0">
                <a:solidFill>
                  <a:schemeClr val="tx1"/>
                </a:solidFill>
                <a:effectLst/>
                <a:latin typeface="+mn-lt"/>
                <a:ea typeface="+mn-ea"/>
                <a:cs typeface="+mn-cs"/>
              </a:rPr>
              <a:t>Kết luận </a:t>
            </a:r>
            <a:r>
              <a:rPr lang="vi-VN" sz="1200" b="1" i="0" kern="1200" dirty="0" err="1">
                <a:solidFill>
                  <a:schemeClr val="tx1"/>
                </a:solidFill>
                <a:effectLst/>
                <a:latin typeface="+mn-lt"/>
                <a:ea typeface="+mn-ea"/>
                <a:cs typeface="+mn-cs"/>
              </a:rPr>
              <a:t>Scenario</a:t>
            </a:r>
            <a:r>
              <a:rPr lang="vi-VN" sz="1200" b="1" i="0" kern="1200" dirty="0">
                <a:solidFill>
                  <a:schemeClr val="tx1"/>
                </a:solidFill>
                <a:effectLst/>
                <a:latin typeface="+mn-lt"/>
                <a:ea typeface="+mn-ea"/>
                <a:cs typeface="+mn-cs"/>
              </a:rPr>
              <a:t> 1:</a:t>
            </a:r>
            <a:r>
              <a:rPr lang="vi-VN" sz="1200" b="0" i="0" kern="1200" dirty="0">
                <a:solidFill>
                  <a:schemeClr val="tx1"/>
                </a:solidFill>
                <a:effectLst/>
                <a:latin typeface="+mn-lt"/>
                <a:ea typeface="+mn-ea"/>
                <a:cs typeface="+mn-cs"/>
              </a:rPr>
              <a:t> CR-RSMA là lựa chọn tối ưu khi SNR cao, cung cấp MMF cao nhất cho hệ thống </a:t>
            </a:r>
            <a:r>
              <a:rPr lang="vi-VN" sz="1200" b="0" i="0" kern="1200" dirty="0" err="1">
                <a:solidFill>
                  <a:schemeClr val="tx1"/>
                </a:solidFill>
                <a:effectLst/>
                <a:latin typeface="+mn-lt"/>
                <a:ea typeface="+mn-ea"/>
                <a:cs typeface="+mn-cs"/>
              </a:rPr>
              <a:t>Cognitive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Radio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underlay</a:t>
            </a:r>
            <a:r>
              <a:rPr lang="vi-VN" sz="1200" b="0" i="0" kern="1200" dirty="0">
                <a:solidFill>
                  <a:schemeClr val="tx1"/>
                </a:solidFill>
                <a:effectLst/>
                <a:latin typeface="+mn-lt"/>
                <a:ea typeface="+mn-ea"/>
                <a:cs typeface="+mn-cs"/>
              </a:rPr>
              <a:t>.</a:t>
            </a:r>
          </a:p>
          <a:p>
            <a:endParaRPr lang="vi-VN" dirty="0"/>
          </a:p>
        </p:txBody>
      </p:sp>
      <p:sp>
        <p:nvSpPr>
          <p:cNvPr id="4" name="Slide Number Placeholder 3">
            <a:extLst>
              <a:ext uri="{FF2B5EF4-FFF2-40B4-BE49-F238E27FC236}">
                <a16:creationId xmlns:a16="http://schemas.microsoft.com/office/drawing/2014/main" id="{AB00FA24-E9CD-447F-F7E2-D8467977B4F6}"/>
              </a:ext>
            </a:extLst>
          </p:cNvPr>
          <p:cNvSpPr>
            <a:spLocks noGrp="1"/>
          </p:cNvSpPr>
          <p:nvPr>
            <p:ph type="sldNum" sz="quarter" idx="5"/>
          </p:nvPr>
        </p:nvSpPr>
        <p:spPr/>
        <p:txBody>
          <a:bodyPr/>
          <a:lstStyle/>
          <a:p>
            <a:fld id="{8FDCBCB6-B631-4457-A1AB-039C4426AD00}" type="slidenum">
              <a:rPr lang="vi-VN" smtClean="0"/>
              <a:t>13</a:t>
            </a:fld>
            <a:endParaRPr lang="vi-VN"/>
          </a:p>
        </p:txBody>
      </p:sp>
    </p:spTree>
    <p:extLst>
      <p:ext uri="{BB962C8B-B14F-4D97-AF65-F5344CB8AC3E}">
        <p14:creationId xmlns:p14="http://schemas.microsoft.com/office/powerpoint/2010/main" val="3940119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F217F-0821-F9C9-953D-4CEDF1516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772FE-0175-17B5-269E-CCC5B97FA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229B4-68A9-1575-6B82-981D7286C5E2}"/>
              </a:ext>
            </a:extLst>
          </p:cNvPr>
          <p:cNvSpPr>
            <a:spLocks noGrp="1"/>
          </p:cNvSpPr>
          <p:nvPr>
            <p:ph type="body" idx="1"/>
          </p:nvPr>
        </p:nvSpPr>
        <p:spPr/>
        <p:txBody>
          <a:bodyPr/>
          <a:lstStyle/>
          <a:p>
            <a:r>
              <a:rPr lang="vi-VN" sz="1200" b="0" i="0" kern="1200" dirty="0">
                <a:solidFill>
                  <a:schemeClr val="tx1"/>
                </a:solidFill>
                <a:effectLst/>
                <a:latin typeface="+mn-lt"/>
                <a:ea typeface="+mn-ea"/>
                <a:cs typeface="+mn-cs"/>
              </a:rPr>
              <a:t>Hình 2 thể hiện tác động của giới hạn nhiễu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(từ 0.05 W đến 1.0 W) lên hiệu năng MMF. Đây là ràng buộc quan trọng định nghĩa "</a:t>
            </a:r>
            <a:r>
              <a:rPr lang="vi-VN" sz="1200" b="0" i="0" kern="1200" dirty="0" err="1">
                <a:solidFill>
                  <a:schemeClr val="tx1"/>
                </a:solidFill>
                <a:effectLst/>
                <a:latin typeface="+mn-lt"/>
                <a:ea typeface="+mn-ea"/>
                <a:cs typeface="+mn-cs"/>
              </a:rPr>
              <a:t>underlay</a:t>
            </a:r>
            <a:r>
              <a:rPr lang="vi-VN" sz="1200" b="0" i="0" kern="1200" dirty="0">
                <a:solidFill>
                  <a:schemeClr val="tx1"/>
                </a:solidFill>
                <a:effectLst/>
                <a:latin typeface="+mn-lt"/>
                <a:ea typeface="+mn-ea"/>
                <a:cs typeface="+mn-cs"/>
              </a:rPr>
              <a:t>" - cho phép </a:t>
            </a:r>
            <a:r>
              <a:rPr lang="vi-VN" sz="1200" b="0" i="0" kern="1200" dirty="0" err="1">
                <a:solidFill>
                  <a:schemeClr val="tx1"/>
                </a:solidFill>
                <a:effectLst/>
                <a:latin typeface="+mn-lt"/>
                <a:ea typeface="+mn-ea"/>
                <a:cs typeface="+mn-cs"/>
              </a:rPr>
              <a:t>Secondary</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Users</a:t>
            </a:r>
            <a:r>
              <a:rPr lang="vi-VN" sz="1200" b="0" i="0" kern="1200" dirty="0">
                <a:solidFill>
                  <a:schemeClr val="tx1"/>
                </a:solidFill>
                <a:effectLst/>
                <a:latin typeface="+mn-lt"/>
                <a:ea typeface="+mn-ea"/>
                <a:cs typeface="+mn-cs"/>
              </a:rPr>
              <a:t> để lại bao nhiêu nhiễu cho </a:t>
            </a:r>
            <a:r>
              <a:rPr lang="vi-VN" sz="1200" b="0" i="0" kern="1200" dirty="0" err="1">
                <a:solidFill>
                  <a:schemeClr val="tx1"/>
                </a:solidFill>
                <a:effectLst/>
                <a:latin typeface="+mn-lt"/>
                <a:ea typeface="+mn-ea"/>
                <a:cs typeface="+mn-cs"/>
              </a:rPr>
              <a:t>Primary</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User</a:t>
            </a:r>
            <a:r>
              <a:rPr lang="vi-VN" sz="1200" b="0" i="0" kern="1200" dirty="0">
                <a:solidFill>
                  <a:schemeClr val="tx1"/>
                </a:solidFill>
                <a:effectLst/>
                <a:latin typeface="+mn-lt"/>
                <a:ea typeface="+mn-ea"/>
                <a:cs typeface="+mn-cs"/>
              </a:rPr>
              <a:t>.</a:t>
            </a:r>
          </a:p>
          <a:p>
            <a:r>
              <a:rPr lang="vi-VN" sz="1200" b="1" i="0" kern="1200" dirty="0">
                <a:solidFill>
                  <a:schemeClr val="tx1"/>
                </a:solidFill>
                <a:effectLst/>
                <a:latin typeface="+mn-lt"/>
                <a:ea typeface="+mn-ea"/>
                <a:cs typeface="+mn-cs"/>
              </a:rPr>
              <a:t>Nhận xét chính:</a:t>
            </a:r>
            <a:endParaRPr lang="vi-VN"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MMF tăng đơn điệu theo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cho cả ba kỹ thuật:</a:t>
            </a:r>
          </a:p>
          <a:p>
            <a:pPr lvl="1"/>
            <a:r>
              <a:rPr lang="vi-VN" sz="1200" b="0" i="0" kern="1200" dirty="0">
                <a:solidFill>
                  <a:schemeClr val="tx1"/>
                </a:solidFill>
                <a:effectLst/>
                <a:latin typeface="+mn-lt"/>
                <a:ea typeface="+mn-ea"/>
                <a:cs typeface="+mn-cs"/>
              </a:rPr>
              <a:t>Tại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 0.1 W: CR-RSMA ≈ 0.10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CR-NOMA ≈ 0.085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Tại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 1.0 W: CR-RSMA ≈ 0.38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CR-NOMA ≈ 0.35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Lý giải: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cao hơn → SU có thể dùng công suất lớn hơn → </a:t>
            </a:r>
            <a:r>
              <a:rPr lang="vi-VN" sz="1200" b="0" i="0" kern="1200" dirty="0" err="1">
                <a:solidFill>
                  <a:schemeClr val="tx1"/>
                </a:solidFill>
                <a:effectLst/>
                <a:latin typeface="+mn-lt"/>
                <a:ea typeface="+mn-ea"/>
                <a:cs typeface="+mn-cs"/>
              </a:rPr>
              <a:t>rate</a:t>
            </a:r>
            <a:r>
              <a:rPr lang="vi-VN" sz="1200" b="0" i="0" kern="1200" dirty="0">
                <a:solidFill>
                  <a:schemeClr val="tx1"/>
                </a:solidFill>
                <a:effectLst/>
                <a:latin typeface="+mn-lt"/>
                <a:ea typeface="+mn-ea"/>
                <a:cs typeface="+mn-cs"/>
              </a:rPr>
              <a:t> cao hơn → MMF tốt hơn</a:t>
            </a:r>
          </a:p>
          <a:p>
            <a:r>
              <a:rPr lang="vi-VN" sz="1200" b="0" i="0" kern="1200" dirty="0">
                <a:solidFill>
                  <a:schemeClr val="tx1"/>
                </a:solidFill>
                <a:effectLst/>
                <a:latin typeface="+mn-lt"/>
                <a:ea typeface="+mn-ea"/>
                <a:cs typeface="+mn-cs"/>
              </a:rPr>
              <a:t>CR-RSMA vẫn duy trì ưu thế so với CR-NOMA trên toàn bộ phạm vi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a:t>
            </a:r>
          </a:p>
          <a:p>
            <a:pPr lvl="1"/>
            <a:r>
              <a:rPr lang="vi-VN" sz="1200" b="0" i="0" kern="1200" dirty="0">
                <a:solidFill>
                  <a:schemeClr val="tx1"/>
                </a:solidFill>
                <a:effectLst/>
                <a:latin typeface="+mn-lt"/>
                <a:ea typeface="+mn-ea"/>
                <a:cs typeface="+mn-cs"/>
              </a:rPr>
              <a:t>Tại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 0.2 W: RSMA hơn NOMA khoảng 6%</a:t>
            </a:r>
          </a:p>
          <a:p>
            <a:pPr lvl="1"/>
            <a:r>
              <a:rPr lang="vi-VN" sz="1200" b="0" i="0" kern="1200" dirty="0">
                <a:solidFill>
                  <a:schemeClr val="tx1"/>
                </a:solidFill>
                <a:effectLst/>
                <a:latin typeface="+mn-lt"/>
                <a:ea typeface="+mn-ea"/>
                <a:cs typeface="+mn-cs"/>
              </a:rPr>
              <a:t>Tại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 0.8 W: RSMA hơn NOMA khoảng 5-6%</a:t>
            </a:r>
          </a:p>
          <a:p>
            <a:pPr lvl="1"/>
            <a:r>
              <a:rPr lang="vi-VN" sz="1200" b="0" i="0" kern="1200" dirty="0">
                <a:solidFill>
                  <a:schemeClr val="tx1"/>
                </a:solidFill>
                <a:effectLst/>
                <a:latin typeface="+mn-lt"/>
                <a:ea typeface="+mn-ea"/>
                <a:cs typeface="+mn-cs"/>
              </a:rPr>
              <a:t>Độ ổn định này cho thấy cấu trúc RSMA vốn tốt hơn, không phụ thuộc vào </a:t>
            </a:r>
            <a:r>
              <a:rPr lang="vi-VN" sz="1200" b="0" i="0" kern="1200" dirty="0" err="1">
                <a:solidFill>
                  <a:schemeClr val="tx1"/>
                </a:solidFill>
                <a:effectLst/>
                <a:latin typeface="+mn-lt"/>
                <a:ea typeface="+mn-ea"/>
                <a:cs typeface="+mn-cs"/>
              </a:rPr>
              <a:t>I_th</a:t>
            </a:r>
            <a:endParaRPr lang="vi-VN"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Đường cong có độ dốc cao ở vùng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thấp (0.05-0.3), sau đó bằng </a:t>
            </a:r>
            <a:r>
              <a:rPr lang="vi-VN" sz="1200" b="0" i="0" kern="1200" dirty="0" err="1">
                <a:solidFill>
                  <a:schemeClr val="tx1"/>
                </a:solidFill>
                <a:effectLst/>
                <a:latin typeface="+mn-lt"/>
                <a:ea typeface="+mn-ea"/>
                <a:cs typeface="+mn-cs"/>
              </a:rPr>
              <a:t>phẳng</a:t>
            </a:r>
            <a:r>
              <a:rPr lang="vi-VN" sz="1200" b="0" i="0" kern="1200" dirty="0">
                <a:solidFill>
                  <a:schemeClr val="tx1"/>
                </a:solidFill>
                <a:effectLst/>
                <a:latin typeface="+mn-lt"/>
                <a:ea typeface="+mn-ea"/>
                <a:cs typeface="+mn-cs"/>
              </a:rPr>
              <a:t> hơn ở vùng cao:</a:t>
            </a:r>
          </a:p>
          <a:p>
            <a:pPr lvl="1"/>
            <a:r>
              <a:rPr lang="vi-VN" sz="1200" b="0" i="0" kern="1200" dirty="0">
                <a:solidFill>
                  <a:schemeClr val="tx1"/>
                </a:solidFill>
                <a:effectLst/>
                <a:latin typeface="+mn-lt"/>
                <a:ea typeface="+mn-ea"/>
                <a:cs typeface="+mn-cs"/>
              </a:rPr>
              <a:t>Lý giải: Ở vùng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thấp, ràng buộc nhiễu rất gắt → tăng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rất hữu ích</a:t>
            </a:r>
          </a:p>
          <a:p>
            <a:pPr lvl="1"/>
            <a:r>
              <a:rPr lang="vi-VN" sz="1200" b="0" i="0" kern="1200" dirty="0">
                <a:solidFill>
                  <a:schemeClr val="tx1"/>
                </a:solidFill>
                <a:effectLst/>
                <a:latin typeface="+mn-lt"/>
                <a:ea typeface="+mn-ea"/>
                <a:cs typeface="+mn-cs"/>
              </a:rPr>
              <a:t>Ở vùng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cao, ràng buộc lỏng → tăng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không cải thiện nhiều (bị giới hạn bởi công suất tối đa </a:t>
            </a:r>
            <a:r>
              <a:rPr lang="vi-VN" sz="1200" b="0" i="0" kern="1200" dirty="0" err="1">
                <a:solidFill>
                  <a:schemeClr val="tx1"/>
                </a:solidFill>
                <a:effectLst/>
                <a:latin typeface="+mn-lt"/>
                <a:ea typeface="+mn-ea"/>
                <a:cs typeface="+mn-cs"/>
              </a:rPr>
              <a:t>Ps_max</a:t>
            </a:r>
            <a:r>
              <a:rPr lang="vi-VN" sz="1200" b="0" i="0" kern="1200" dirty="0">
                <a:solidFill>
                  <a:schemeClr val="tx1"/>
                </a:solidFill>
                <a:effectLst/>
                <a:latin typeface="+mn-lt"/>
                <a:ea typeface="+mn-ea"/>
                <a:cs typeface="+mn-cs"/>
              </a:rPr>
              <a:t>)</a:t>
            </a:r>
          </a:p>
          <a:p>
            <a:r>
              <a:rPr lang="vi-VN" sz="1200" b="0" i="0" kern="1200" dirty="0">
                <a:solidFill>
                  <a:schemeClr val="tx1"/>
                </a:solidFill>
                <a:effectLst/>
                <a:latin typeface="+mn-lt"/>
                <a:ea typeface="+mn-ea"/>
                <a:cs typeface="+mn-cs"/>
              </a:rPr>
              <a:t>Tách biệt giữa CR-NOMA và OMA lớn hơn ở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cao:</a:t>
            </a:r>
          </a:p>
          <a:p>
            <a:pPr lvl="1"/>
            <a:r>
              <a:rPr lang="vi-VN" sz="1200" b="0" i="0" kern="1200" dirty="0">
                <a:solidFill>
                  <a:schemeClr val="tx1"/>
                </a:solidFill>
                <a:effectLst/>
                <a:latin typeface="+mn-lt"/>
                <a:ea typeface="+mn-ea"/>
                <a:cs typeface="+mn-cs"/>
              </a:rPr>
              <a:t>Điều này cho thấy tầm quan trọng của công nghệ NOMA/RSMA thiết lập cao hơn khi hệ thống cho phép nhiễu nhiều hơn</a:t>
            </a:r>
          </a:p>
          <a:p>
            <a:r>
              <a:rPr lang="vi-VN" sz="1200" b="1" i="0" kern="1200" dirty="0">
                <a:solidFill>
                  <a:schemeClr val="tx1"/>
                </a:solidFill>
                <a:effectLst/>
                <a:latin typeface="+mn-lt"/>
                <a:ea typeface="+mn-ea"/>
                <a:cs typeface="+mn-cs"/>
              </a:rPr>
              <a:t>Kết luận </a:t>
            </a:r>
            <a:r>
              <a:rPr lang="vi-VN" sz="1200" b="1" i="0" kern="1200" dirty="0" err="1">
                <a:solidFill>
                  <a:schemeClr val="tx1"/>
                </a:solidFill>
                <a:effectLst/>
                <a:latin typeface="+mn-lt"/>
                <a:ea typeface="+mn-ea"/>
                <a:cs typeface="+mn-cs"/>
              </a:rPr>
              <a:t>Scenario</a:t>
            </a:r>
            <a:r>
              <a:rPr lang="vi-VN" sz="1200" b="1" i="0" kern="1200" dirty="0">
                <a:solidFill>
                  <a:schemeClr val="tx1"/>
                </a:solidFill>
                <a:effectLst/>
                <a:latin typeface="+mn-lt"/>
                <a:ea typeface="+mn-ea"/>
                <a:cs typeface="+mn-cs"/>
              </a:rPr>
              <a:t> 2:</a:t>
            </a:r>
            <a:r>
              <a:rPr lang="vi-VN" sz="1200" b="0" i="0" kern="1200" dirty="0">
                <a:solidFill>
                  <a:schemeClr val="tx1"/>
                </a:solidFill>
                <a:effectLst/>
                <a:latin typeface="+mn-lt"/>
                <a:ea typeface="+mn-ea"/>
                <a:cs typeface="+mn-cs"/>
              </a:rPr>
              <a:t> CR-RSMA có thể chấp nhận </a:t>
            </a:r>
            <a:r>
              <a:rPr lang="vi-VN" sz="1200" b="0" i="0" kern="1200" dirty="0" err="1">
                <a:solidFill>
                  <a:schemeClr val="tx1"/>
                </a:solidFill>
                <a:effectLst/>
                <a:latin typeface="+mn-lt"/>
                <a:ea typeface="+mn-ea"/>
                <a:cs typeface="+mn-cs"/>
              </a:rPr>
              <a:t>I_th</a:t>
            </a:r>
            <a:r>
              <a:rPr lang="vi-VN" sz="1200" b="0" i="0" kern="1200" dirty="0">
                <a:solidFill>
                  <a:schemeClr val="tx1"/>
                </a:solidFill>
                <a:effectLst/>
                <a:latin typeface="+mn-lt"/>
                <a:ea typeface="+mn-ea"/>
                <a:cs typeface="+mn-cs"/>
              </a:rPr>
              <a:t> cao hơn OMA/NOMA mà vẫn bảo vệ PU, đây là lợi thế chiến lược cho </a:t>
            </a:r>
            <a:r>
              <a:rPr lang="vi-VN" sz="1200" b="0" i="0" kern="1200" dirty="0" err="1">
                <a:solidFill>
                  <a:schemeClr val="tx1"/>
                </a:solidFill>
                <a:effectLst/>
                <a:latin typeface="+mn-lt"/>
                <a:ea typeface="+mn-ea"/>
                <a:cs typeface="+mn-cs"/>
              </a:rPr>
              <a:t>Cognitive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Radio</a:t>
            </a:r>
            <a:r>
              <a:rPr lang="vi-VN" sz="1200" b="0" i="0" kern="1200" dirty="0">
                <a:solidFill>
                  <a:schemeClr val="tx1"/>
                </a:solidFill>
                <a:effectLst/>
                <a:latin typeface="+mn-lt"/>
                <a:ea typeface="+mn-ea"/>
                <a:cs typeface="+mn-cs"/>
              </a:rPr>
              <a:t>.</a:t>
            </a:r>
          </a:p>
          <a:p>
            <a:br>
              <a:rPr lang="vi-VN" dirty="0"/>
            </a:br>
            <a:endParaRPr lang="vi-VN" dirty="0"/>
          </a:p>
        </p:txBody>
      </p:sp>
      <p:sp>
        <p:nvSpPr>
          <p:cNvPr id="4" name="Slide Number Placeholder 3">
            <a:extLst>
              <a:ext uri="{FF2B5EF4-FFF2-40B4-BE49-F238E27FC236}">
                <a16:creationId xmlns:a16="http://schemas.microsoft.com/office/drawing/2014/main" id="{17793DE9-3359-CF6A-B539-AED326B552A4}"/>
              </a:ext>
            </a:extLst>
          </p:cNvPr>
          <p:cNvSpPr>
            <a:spLocks noGrp="1"/>
          </p:cNvSpPr>
          <p:nvPr>
            <p:ph type="sldNum" sz="quarter" idx="5"/>
          </p:nvPr>
        </p:nvSpPr>
        <p:spPr/>
        <p:txBody>
          <a:bodyPr/>
          <a:lstStyle/>
          <a:p>
            <a:fld id="{8FDCBCB6-B631-4457-A1AB-039C4426AD00}" type="slidenum">
              <a:rPr lang="vi-VN" smtClean="0"/>
              <a:t>14</a:t>
            </a:fld>
            <a:endParaRPr lang="vi-VN"/>
          </a:p>
        </p:txBody>
      </p:sp>
    </p:spTree>
    <p:extLst>
      <p:ext uri="{BB962C8B-B14F-4D97-AF65-F5344CB8AC3E}">
        <p14:creationId xmlns:p14="http://schemas.microsoft.com/office/powerpoint/2010/main" val="2137996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55E72-18FF-5245-5DEF-BAF03ADDC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BBD11-4A88-E3D0-5906-C9F131E97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0749D-270D-64E5-6947-6D1F2F98632F}"/>
              </a:ext>
            </a:extLst>
          </p:cNvPr>
          <p:cNvSpPr>
            <a:spLocks noGrp="1"/>
          </p:cNvSpPr>
          <p:nvPr>
            <p:ph type="body" idx="1"/>
          </p:nvPr>
        </p:nvSpPr>
        <p:spPr/>
        <p:txBody>
          <a:bodyPr/>
          <a:lstStyle/>
          <a:p>
            <a:r>
              <a:rPr lang="vi-VN" sz="1200" b="0" i="0" kern="1200" dirty="0">
                <a:solidFill>
                  <a:schemeClr val="tx1"/>
                </a:solidFill>
                <a:effectLst/>
                <a:latin typeface="+mn-lt"/>
                <a:ea typeface="+mn-ea"/>
                <a:cs typeface="+mn-cs"/>
              </a:rPr>
              <a:t>Hình 3 đánh giá khả năng mở rộng hệ thống bằng cách tăng số lượng </a:t>
            </a:r>
            <a:r>
              <a:rPr lang="vi-VN" sz="1200" b="0" i="0" kern="1200" dirty="0" err="1">
                <a:solidFill>
                  <a:schemeClr val="tx1"/>
                </a:solidFill>
                <a:effectLst/>
                <a:latin typeface="+mn-lt"/>
                <a:ea typeface="+mn-ea"/>
                <a:cs typeface="+mn-cs"/>
              </a:rPr>
              <a:t>Secondary</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Users</a:t>
            </a:r>
            <a:r>
              <a:rPr lang="vi-VN" sz="1200" b="0" i="0" kern="1200" dirty="0">
                <a:solidFill>
                  <a:schemeClr val="tx1"/>
                </a:solidFill>
                <a:effectLst/>
                <a:latin typeface="+mn-lt"/>
                <a:ea typeface="+mn-ea"/>
                <a:cs typeface="+mn-cs"/>
              </a:rPr>
              <a:t> từ K=2 đến K=6 người dùng. Đây là chỉ số quan trọng cho các mạng thực tế với nhiều người dùng cách xa.</a:t>
            </a:r>
          </a:p>
          <a:p>
            <a:r>
              <a:rPr lang="vi-VN" sz="1200" b="1" i="0" kern="1200" dirty="0">
                <a:solidFill>
                  <a:schemeClr val="tx1"/>
                </a:solidFill>
                <a:effectLst/>
                <a:latin typeface="+mn-lt"/>
                <a:ea typeface="+mn-ea"/>
                <a:cs typeface="+mn-cs"/>
              </a:rPr>
              <a:t>Nhận xét chính:</a:t>
            </a:r>
            <a:endParaRPr lang="vi-VN"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MMF giảm khi K tăng (dự kiến vì phải chia sẻ tài nguyên):</a:t>
            </a:r>
          </a:p>
          <a:p>
            <a:pPr lvl="1"/>
            <a:r>
              <a:rPr lang="vi-VN" sz="1200" b="0" i="0" kern="1200" dirty="0">
                <a:solidFill>
                  <a:schemeClr val="tx1"/>
                </a:solidFill>
                <a:effectLst/>
                <a:latin typeface="+mn-lt"/>
                <a:ea typeface="+mn-ea"/>
                <a:cs typeface="+mn-cs"/>
              </a:rPr>
              <a:t>K=2: CR-RSMA ≈ 0.059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K=3: CR-RSMA ≈ 0.027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(giảm 54% so với K=2)</a:t>
            </a:r>
          </a:p>
          <a:p>
            <a:pPr lvl="1"/>
            <a:r>
              <a:rPr lang="vi-VN" sz="1200" b="0" i="0" kern="1200" dirty="0">
                <a:solidFill>
                  <a:schemeClr val="tx1"/>
                </a:solidFill>
                <a:effectLst/>
                <a:latin typeface="+mn-lt"/>
                <a:ea typeface="+mn-ea"/>
                <a:cs typeface="+mn-cs"/>
              </a:rPr>
              <a:t>K=6: CR-RSMA ≈ 0.008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(giảm 86% so với K=2)</a:t>
            </a:r>
          </a:p>
          <a:p>
            <a:r>
              <a:rPr lang="vi-VN" sz="1200" b="0" i="0" kern="1200" dirty="0">
                <a:solidFill>
                  <a:schemeClr val="tx1"/>
                </a:solidFill>
                <a:effectLst/>
                <a:latin typeface="+mn-lt"/>
                <a:ea typeface="+mn-ea"/>
                <a:cs typeface="+mn-cs"/>
              </a:rPr>
              <a:t>CR-RSMA và CR-NOMA rất gần nhau, khoảng cách &lt; 1-2%:</a:t>
            </a:r>
          </a:p>
          <a:p>
            <a:pPr lvl="1"/>
            <a:r>
              <a:rPr lang="vi-VN" sz="1200" b="0" i="0" kern="1200" dirty="0">
                <a:solidFill>
                  <a:schemeClr val="tx1"/>
                </a:solidFill>
                <a:effectLst/>
                <a:latin typeface="+mn-lt"/>
                <a:ea typeface="+mn-ea"/>
                <a:cs typeface="+mn-cs"/>
              </a:rPr>
              <a:t>K=2: RSMA - NOMA ≈ +0.002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K=4: RSMA - NOMA ≈ +0.001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K=6: RSMA - NOMA ≈ +0.0005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endParaRPr lang="vi-VN" sz="1200" b="0" i="0" kern="1200" dirty="0">
              <a:solidFill>
                <a:schemeClr val="tx1"/>
              </a:solidFill>
              <a:effectLst/>
              <a:latin typeface="+mn-lt"/>
              <a:ea typeface="+mn-ea"/>
              <a:cs typeface="+mn-cs"/>
            </a:endParaRPr>
          </a:p>
          <a:p>
            <a:pPr lvl="1"/>
            <a:r>
              <a:rPr lang="vi-VN" sz="1200" b="0" i="0" kern="1200" dirty="0">
                <a:solidFill>
                  <a:schemeClr val="tx1"/>
                </a:solidFill>
                <a:effectLst/>
                <a:latin typeface="+mn-lt"/>
                <a:ea typeface="+mn-ea"/>
                <a:cs typeface="+mn-cs"/>
              </a:rPr>
              <a:t>Lý giải: Khi K lớn, tài nguyên bị hạn chế, cả RSMA và NOMA đều hiệu quả tương đương</a:t>
            </a:r>
          </a:p>
          <a:p>
            <a:r>
              <a:rPr lang="vi-VN" sz="1200" b="0" i="0" kern="1200" dirty="0">
                <a:solidFill>
                  <a:schemeClr val="tx1"/>
                </a:solidFill>
                <a:effectLst/>
                <a:latin typeface="+mn-lt"/>
                <a:ea typeface="+mn-ea"/>
                <a:cs typeface="+mn-cs"/>
              </a:rPr>
              <a:t>OMA luôn tệ nhất vì không thể dùng </a:t>
            </a:r>
            <a:r>
              <a:rPr lang="vi-VN" sz="1200" b="0" i="0" kern="1200" dirty="0" err="1">
                <a:solidFill>
                  <a:schemeClr val="tx1"/>
                </a:solidFill>
                <a:effectLst/>
                <a:latin typeface="+mn-lt"/>
                <a:ea typeface="+mn-ea"/>
                <a:cs typeface="+mn-cs"/>
              </a:rPr>
              <a:t>nonorthogonal</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transmission</a:t>
            </a:r>
            <a:r>
              <a:rPr lang="vi-VN" sz="1200" b="0" i="0" kern="1200" dirty="0">
                <a:solidFill>
                  <a:schemeClr val="tx1"/>
                </a:solidFill>
                <a:effectLst/>
                <a:latin typeface="+mn-lt"/>
                <a:ea typeface="+mn-ea"/>
                <a:cs typeface="+mn-cs"/>
              </a:rPr>
              <a:t>:</a:t>
            </a:r>
          </a:p>
          <a:p>
            <a:pPr lvl="1"/>
            <a:r>
              <a:rPr lang="vi-VN" sz="1200" b="0" i="0" kern="1200" dirty="0">
                <a:solidFill>
                  <a:schemeClr val="tx1"/>
                </a:solidFill>
                <a:effectLst/>
                <a:latin typeface="+mn-lt"/>
                <a:ea typeface="+mn-ea"/>
                <a:cs typeface="+mn-cs"/>
              </a:rPr>
              <a:t>K=2: OMA ≈ 0.045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(kém RSMA 24%)</a:t>
            </a:r>
          </a:p>
          <a:p>
            <a:pPr lvl="1"/>
            <a:r>
              <a:rPr lang="vi-VN" sz="1200" b="0" i="0" kern="1200" dirty="0">
                <a:solidFill>
                  <a:schemeClr val="tx1"/>
                </a:solidFill>
                <a:effectLst/>
                <a:latin typeface="+mn-lt"/>
                <a:ea typeface="+mn-ea"/>
                <a:cs typeface="+mn-cs"/>
              </a:rPr>
              <a:t>K=6: OMA ≈ 0.003 </a:t>
            </a:r>
            <a:r>
              <a:rPr lang="vi-VN" sz="1200" b="0" i="0" kern="1200" dirty="0" err="1">
                <a:solidFill>
                  <a:schemeClr val="tx1"/>
                </a:solidFill>
                <a:effectLst/>
                <a:latin typeface="+mn-lt"/>
                <a:ea typeface="+mn-ea"/>
                <a:cs typeface="+mn-cs"/>
              </a:rPr>
              <a:t>bps</a:t>
            </a:r>
            <a:r>
              <a:rPr lang="vi-VN" sz="1200" b="0" i="0" kern="1200" dirty="0">
                <a:solidFill>
                  <a:schemeClr val="tx1"/>
                </a:solidFill>
                <a:effectLst/>
                <a:latin typeface="+mn-lt"/>
                <a:ea typeface="+mn-ea"/>
                <a:cs typeface="+mn-cs"/>
              </a:rPr>
              <a:t>/</a:t>
            </a:r>
            <a:r>
              <a:rPr lang="vi-VN" sz="1200" b="0" i="0" kern="1200" dirty="0" err="1">
                <a:solidFill>
                  <a:schemeClr val="tx1"/>
                </a:solidFill>
                <a:effectLst/>
                <a:latin typeface="+mn-lt"/>
                <a:ea typeface="+mn-ea"/>
                <a:cs typeface="+mn-cs"/>
              </a:rPr>
              <a:t>Hz</a:t>
            </a:r>
            <a:r>
              <a:rPr lang="vi-VN" sz="1200" b="0" i="0" kern="1200" dirty="0">
                <a:solidFill>
                  <a:schemeClr val="tx1"/>
                </a:solidFill>
                <a:effectLst/>
                <a:latin typeface="+mn-lt"/>
                <a:ea typeface="+mn-ea"/>
                <a:cs typeface="+mn-cs"/>
              </a:rPr>
              <a:t> (kém RSMA 62%)</a:t>
            </a:r>
          </a:p>
          <a:p>
            <a:pPr lvl="1"/>
            <a:r>
              <a:rPr lang="vi-VN" sz="1200" b="0" i="0" kern="1200" dirty="0">
                <a:solidFill>
                  <a:schemeClr val="tx1"/>
                </a:solidFill>
                <a:effectLst/>
                <a:latin typeface="+mn-lt"/>
                <a:ea typeface="+mn-ea"/>
                <a:cs typeface="+mn-cs"/>
              </a:rPr>
              <a:t>Khoảng cách tăng khi K lớn → OMA không </a:t>
            </a:r>
            <a:r>
              <a:rPr lang="vi-VN" sz="1200" b="0" i="0" kern="1200" dirty="0" err="1">
                <a:solidFill>
                  <a:schemeClr val="tx1"/>
                </a:solidFill>
                <a:effectLst/>
                <a:latin typeface="+mn-lt"/>
                <a:ea typeface="+mn-ea"/>
                <a:cs typeface="+mn-cs"/>
              </a:rPr>
              <a:t>scalable</a:t>
            </a:r>
            <a:endParaRPr lang="vi-VN"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Độ dốc của các đường cong giảm (cong lõm):</a:t>
            </a:r>
          </a:p>
          <a:p>
            <a:pPr lvl="1"/>
            <a:r>
              <a:rPr lang="vi-VN" sz="1200" b="0" i="0" kern="1200" dirty="0">
                <a:solidFill>
                  <a:schemeClr val="tx1"/>
                </a:solidFill>
                <a:effectLst/>
                <a:latin typeface="+mn-lt"/>
                <a:ea typeface="+mn-ea"/>
                <a:cs typeface="+mn-cs"/>
              </a:rPr>
              <a:t>Hiệu ứng "</a:t>
            </a:r>
            <a:r>
              <a:rPr lang="vi-VN" sz="1200" b="0" i="0" kern="1200" dirty="0" err="1">
                <a:solidFill>
                  <a:schemeClr val="tx1"/>
                </a:solidFill>
                <a:effectLst/>
                <a:latin typeface="+mn-lt"/>
                <a:ea typeface="+mn-ea"/>
                <a:cs typeface="+mn-cs"/>
              </a:rPr>
              <a:t>waterfall</a:t>
            </a:r>
            <a:r>
              <a:rPr lang="vi-VN" sz="1200" b="0" i="0" kern="1200" dirty="0">
                <a:solidFill>
                  <a:schemeClr val="tx1"/>
                </a:solidFill>
                <a:effectLst/>
                <a:latin typeface="+mn-lt"/>
                <a:ea typeface="+mn-ea"/>
                <a:cs typeface="+mn-cs"/>
              </a:rPr>
              <a:t>": Mỗi SU thêm vào gây tổn hại MMF giảm dần</a:t>
            </a:r>
          </a:p>
          <a:p>
            <a:pPr lvl="1"/>
            <a:r>
              <a:rPr lang="vi-VN" sz="1200" b="0" i="0" kern="1200" dirty="0">
                <a:solidFill>
                  <a:schemeClr val="tx1"/>
                </a:solidFill>
                <a:effectLst/>
                <a:latin typeface="+mn-lt"/>
                <a:ea typeface="+mn-ea"/>
                <a:cs typeface="+mn-cs"/>
              </a:rPr>
              <a:t>K=2→3 tệ nhất (-54%), K=5→6 tốt nhất (-20%) vì chia sẻ đã "trơn" hơn</a:t>
            </a:r>
          </a:p>
          <a:p>
            <a:r>
              <a:rPr lang="vi-VN" sz="1200" b="1" i="0" kern="1200" dirty="0">
                <a:solidFill>
                  <a:schemeClr val="tx1"/>
                </a:solidFill>
                <a:effectLst/>
                <a:latin typeface="+mn-lt"/>
                <a:ea typeface="+mn-ea"/>
                <a:cs typeface="+mn-cs"/>
              </a:rPr>
              <a:t>Kết luận </a:t>
            </a:r>
            <a:r>
              <a:rPr lang="vi-VN" sz="1200" b="1" i="0" kern="1200" dirty="0" err="1">
                <a:solidFill>
                  <a:schemeClr val="tx1"/>
                </a:solidFill>
                <a:effectLst/>
                <a:latin typeface="+mn-lt"/>
                <a:ea typeface="+mn-ea"/>
                <a:cs typeface="+mn-cs"/>
              </a:rPr>
              <a:t>Scenario</a:t>
            </a:r>
            <a:r>
              <a:rPr lang="vi-VN" sz="1200" b="1" i="0" kern="1200" dirty="0">
                <a:solidFill>
                  <a:schemeClr val="tx1"/>
                </a:solidFill>
                <a:effectLst/>
                <a:latin typeface="+mn-lt"/>
                <a:ea typeface="+mn-ea"/>
                <a:cs typeface="+mn-cs"/>
              </a:rPr>
              <a:t> 3:</a:t>
            </a:r>
            <a:r>
              <a:rPr lang="vi-VN" sz="1200" b="0" i="0" kern="1200" dirty="0">
                <a:solidFill>
                  <a:schemeClr val="tx1"/>
                </a:solidFill>
                <a:effectLst/>
                <a:latin typeface="+mn-lt"/>
                <a:ea typeface="+mn-ea"/>
                <a:cs typeface="+mn-cs"/>
              </a:rPr>
              <a:t> CR-RSMA tương đương CR-NOMA về khả năng mở rộng, nhưng cả hai đều tốt hơn OMA. Trong hệ thống có nhiều SU, cần áp dụng các kỹ thuật NOMA/RSMA để bảo vệ MMF.</a:t>
            </a:r>
          </a:p>
          <a:p>
            <a:br>
              <a:rPr lang="vi-VN" dirty="0"/>
            </a:br>
            <a:endParaRPr lang="vi-VN" dirty="0"/>
          </a:p>
        </p:txBody>
      </p:sp>
      <p:sp>
        <p:nvSpPr>
          <p:cNvPr id="4" name="Slide Number Placeholder 3">
            <a:extLst>
              <a:ext uri="{FF2B5EF4-FFF2-40B4-BE49-F238E27FC236}">
                <a16:creationId xmlns:a16="http://schemas.microsoft.com/office/drawing/2014/main" id="{4C1E4D4A-E239-B565-3988-285A5DB3E037}"/>
              </a:ext>
            </a:extLst>
          </p:cNvPr>
          <p:cNvSpPr>
            <a:spLocks noGrp="1"/>
          </p:cNvSpPr>
          <p:nvPr>
            <p:ph type="sldNum" sz="quarter" idx="5"/>
          </p:nvPr>
        </p:nvSpPr>
        <p:spPr/>
        <p:txBody>
          <a:bodyPr/>
          <a:lstStyle/>
          <a:p>
            <a:fld id="{8FDCBCB6-B631-4457-A1AB-039C4426AD00}" type="slidenum">
              <a:rPr lang="vi-VN" smtClean="0"/>
              <a:t>15</a:t>
            </a:fld>
            <a:endParaRPr lang="vi-VN"/>
          </a:p>
        </p:txBody>
      </p:sp>
    </p:spTree>
    <p:extLst>
      <p:ext uri="{BB962C8B-B14F-4D97-AF65-F5344CB8AC3E}">
        <p14:creationId xmlns:p14="http://schemas.microsoft.com/office/powerpoint/2010/main" val="27488974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BDDE-870C-1FDF-ED09-84A3BEACE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9BB23-FD2A-89E5-F76F-A79CC1689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61C6F-F7D5-2FC1-829C-48A9CDCDF750}"/>
              </a:ext>
            </a:extLst>
          </p:cNvPr>
          <p:cNvSpPr>
            <a:spLocks noGrp="1"/>
          </p:cNvSpPr>
          <p:nvPr>
            <p:ph type="body" idx="1"/>
          </p:nvPr>
        </p:nvSpPr>
        <p:spPr/>
        <p:txBody>
          <a:bodyPr/>
          <a:lstStyle/>
          <a:p>
            <a:endParaRPr lang="vi-VN"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DAF2BA2-50D0-13E2-D36F-65F54C0DD8BA}"/>
              </a:ext>
            </a:extLst>
          </p:cNvPr>
          <p:cNvSpPr>
            <a:spLocks noGrp="1"/>
          </p:cNvSpPr>
          <p:nvPr>
            <p:ph type="sldNum" sz="quarter" idx="5"/>
          </p:nvPr>
        </p:nvSpPr>
        <p:spPr/>
        <p:txBody>
          <a:bodyPr/>
          <a:lstStyle/>
          <a:p>
            <a:fld id="{8FDCBCB6-B631-4457-A1AB-039C4426AD00}" type="slidenum">
              <a:rPr lang="vi-VN" smtClean="0"/>
              <a:t>16</a:t>
            </a:fld>
            <a:endParaRPr lang="vi-VN"/>
          </a:p>
        </p:txBody>
      </p:sp>
    </p:spTree>
    <p:extLst>
      <p:ext uri="{BB962C8B-B14F-4D97-AF65-F5344CB8AC3E}">
        <p14:creationId xmlns:p14="http://schemas.microsoft.com/office/powerpoint/2010/main" val="4196603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A7534-09D3-1982-7477-97768832D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FB8C6-D1A3-3E7A-B9F9-C80C40440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BEF2D-5E7E-DC44-1221-567719556CF6}"/>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2AD8CE8C-C834-965D-9F31-6A142D34ED5E}"/>
              </a:ext>
            </a:extLst>
          </p:cNvPr>
          <p:cNvSpPr>
            <a:spLocks noGrp="1"/>
          </p:cNvSpPr>
          <p:nvPr>
            <p:ph type="sldNum" sz="quarter" idx="5"/>
          </p:nvPr>
        </p:nvSpPr>
        <p:spPr/>
        <p:txBody>
          <a:bodyPr/>
          <a:lstStyle/>
          <a:p>
            <a:fld id="{8FDCBCB6-B631-4457-A1AB-039C4426AD00}" type="slidenum">
              <a:rPr lang="vi-VN" smtClean="0"/>
              <a:t>17</a:t>
            </a:fld>
            <a:endParaRPr lang="vi-VN"/>
          </a:p>
        </p:txBody>
      </p:sp>
    </p:spTree>
    <p:extLst>
      <p:ext uri="{BB962C8B-B14F-4D97-AF65-F5344CB8AC3E}">
        <p14:creationId xmlns:p14="http://schemas.microsoft.com/office/powerpoint/2010/main" val="3018112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D97AA-B5B8-CA44-5471-FD8A6010C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7375F-E996-B56C-76DD-14FE1A0FF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C5750-6A2C-7622-75F8-73F7108D17C1}"/>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8B5DF33-B548-F748-7B4B-CF6BBD836144}"/>
              </a:ext>
            </a:extLst>
          </p:cNvPr>
          <p:cNvSpPr>
            <a:spLocks noGrp="1"/>
          </p:cNvSpPr>
          <p:nvPr>
            <p:ph type="sldNum" sz="quarter" idx="5"/>
          </p:nvPr>
        </p:nvSpPr>
        <p:spPr/>
        <p:txBody>
          <a:bodyPr/>
          <a:lstStyle/>
          <a:p>
            <a:fld id="{8FDCBCB6-B631-4457-A1AB-039C4426AD00}" type="slidenum">
              <a:rPr lang="vi-VN" smtClean="0"/>
              <a:t>18</a:t>
            </a:fld>
            <a:endParaRPr lang="vi-VN"/>
          </a:p>
        </p:txBody>
      </p:sp>
    </p:spTree>
    <p:extLst>
      <p:ext uri="{BB962C8B-B14F-4D97-AF65-F5344CB8AC3E}">
        <p14:creationId xmlns:p14="http://schemas.microsoft.com/office/powerpoint/2010/main" val="3924624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2674907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74285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888" y="1709739"/>
            <a:ext cx="78867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4010514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2362642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201428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1999650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6/1/2026</a:t>
            </a:fld>
            <a:endParaRPr lang="en-US" dirty="0"/>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66827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457200"/>
            <a:ext cx="2949178"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6/1/2026</a:t>
            </a:fld>
            <a:endParaRPr lang="en-US"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4142721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457200"/>
            <a:ext cx="2949178"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6/1/2026</a:t>
            </a:fld>
            <a:endParaRPr lang="en-US"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4113018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969039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543675" y="365125"/>
            <a:ext cx="1971675"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AE3E3AF4-E56C-405D-90D1-F29A6618B350}" type="slidenum">
              <a:rPr lang="vi-VN" smtClean="0"/>
              <a:pPr/>
              <a:t>‹#›</a:t>
            </a:fld>
            <a:endParaRPr lang="vi-VN" dirty="0"/>
          </a:p>
        </p:txBody>
      </p:sp>
    </p:spTree>
    <p:extLst>
      <p:ext uri="{BB962C8B-B14F-4D97-AF65-F5344CB8AC3E}">
        <p14:creationId xmlns:p14="http://schemas.microsoft.com/office/powerpoint/2010/main" val="1336178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1EEB35-B028-DD94-7115-BF97257B3EA6}"/>
              </a:ext>
            </a:extLst>
          </p:cNvPr>
          <p:cNvSpPr/>
          <p:nvPr userDrawn="1"/>
        </p:nvSpPr>
        <p:spPr>
          <a:xfrm>
            <a:off x="0" y="6510757"/>
            <a:ext cx="9144000" cy="36512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 name="Title Placeholder 1"/>
          <p:cNvSpPr>
            <a:spLocks noGrp="1"/>
          </p:cNvSpPr>
          <p:nvPr>
            <p:ph type="title"/>
          </p:nvPr>
        </p:nvSpPr>
        <p:spPr>
          <a:xfrm>
            <a:off x="628650" y="0"/>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439849" y="6510757"/>
            <a:ext cx="562062" cy="365125"/>
          </a:xfrm>
          <a:prstGeom prst="rect">
            <a:avLst/>
          </a:prstGeom>
          <a:solidFill>
            <a:schemeClr val="tx2">
              <a:lumMod val="90000"/>
              <a:lumOff val="10000"/>
            </a:schemeClr>
          </a:solidFill>
        </p:spPr>
        <p:txBody>
          <a:bodyPr vert="horz" lIns="91440" tIns="45720" rIns="91440" bIns="45720" rtlCol="0" anchor="ctr"/>
          <a:lstStyle>
            <a:lvl1pPr algn="r">
              <a:defRPr sz="2000" b="1">
                <a:solidFill>
                  <a:schemeClr val="bg1"/>
                </a:solidFill>
              </a:defRPr>
            </a:lvl1pPr>
          </a:lstStyle>
          <a:p>
            <a:fld id="{AE3E3AF4-E56C-405D-90D1-F29A6618B350}" type="slidenum">
              <a:rPr lang="vi-VN" smtClean="0"/>
              <a:pPr/>
              <a:t>‹#›</a:t>
            </a:fld>
            <a:endParaRPr lang="vi-VN" dirty="0"/>
          </a:p>
        </p:txBody>
      </p:sp>
      <p:pic>
        <p:nvPicPr>
          <p:cNvPr id="9" name="Picture 8" descr="A blue and black logo&#10;&#10;AI-generated content may be incorrect.">
            <a:extLst>
              <a:ext uri="{FF2B5EF4-FFF2-40B4-BE49-F238E27FC236}">
                <a16:creationId xmlns:a16="http://schemas.microsoft.com/office/drawing/2014/main" id="{4715C387-0FC5-4295-FD0A-28A1AB64C10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028788" y="185738"/>
            <a:ext cx="973123" cy="407242"/>
          </a:xfrm>
          <a:prstGeom prst="rect">
            <a:avLst/>
          </a:prstGeom>
        </p:spPr>
      </p:pic>
    </p:spTree>
    <p:extLst>
      <p:ext uri="{BB962C8B-B14F-4D97-AF65-F5344CB8AC3E}">
        <p14:creationId xmlns:p14="http://schemas.microsoft.com/office/powerpoint/2010/main" val="1972432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C0FB-F627-2006-D630-1B619F914356}"/>
              </a:ext>
            </a:extLst>
          </p:cNvPr>
          <p:cNvSpPr>
            <a:spLocks noGrp="1"/>
          </p:cNvSpPr>
          <p:nvPr>
            <p:ph type="ctrTitle"/>
          </p:nvPr>
        </p:nvSpPr>
        <p:spPr>
          <a:xfrm>
            <a:off x="460772" y="2172335"/>
            <a:ext cx="8222456" cy="1324004"/>
          </a:xfrm>
        </p:spPr>
        <p:txBody>
          <a:bodyPr anchor="b">
            <a:normAutofit/>
          </a:bodyPr>
          <a:lstStyle/>
          <a:p>
            <a:pPr>
              <a:lnSpc>
                <a:spcPct val="100000"/>
              </a:lnSpc>
              <a:spcBef>
                <a:spcPts val="0"/>
              </a:spcBef>
              <a:defRPr/>
            </a:pPr>
            <a:r>
              <a:rPr lang="vi-VN" sz="2500" dirty="0">
                <a:solidFill>
                  <a:schemeClr val="accent1">
                    <a:lumMod val="50000"/>
                  </a:schemeClr>
                </a:solidFill>
                <a:latin typeface="+mn-lt"/>
                <a:ea typeface="+mn-ea"/>
                <a:cs typeface="+mn-cs"/>
              </a:rPr>
              <a:t>CÂN BẰNG CHẤT LƯỢNG ĐA NGƯỜI DÙNG CHO DỊCH VỤ TRUYỀN VIDEO SVC QUA KÊNH CR-RSMA ĐƯỜNG LÊN</a:t>
            </a:r>
          </a:p>
        </p:txBody>
      </p:sp>
      <p:sp>
        <p:nvSpPr>
          <p:cNvPr id="17" name="TextBox 16">
            <a:extLst>
              <a:ext uri="{FF2B5EF4-FFF2-40B4-BE49-F238E27FC236}">
                <a16:creationId xmlns:a16="http://schemas.microsoft.com/office/drawing/2014/main" id="{7DBBA261-10CC-2E82-2258-F0A398FCFD58}"/>
              </a:ext>
            </a:extLst>
          </p:cNvPr>
          <p:cNvSpPr txBox="1"/>
          <p:nvPr/>
        </p:nvSpPr>
        <p:spPr>
          <a:xfrm>
            <a:off x="1448566" y="134035"/>
            <a:ext cx="6525361" cy="646331"/>
          </a:xfrm>
          <a:prstGeom prst="rect">
            <a:avLst/>
          </a:prstGeom>
          <a:noFill/>
        </p:spPr>
        <p:txBody>
          <a:bodyPr wrap="square" rtlCol="0">
            <a:spAutoFit/>
          </a:bodyPr>
          <a:lstStyle/>
          <a:p>
            <a:pPr algn="ctr"/>
            <a:r>
              <a:rPr lang="en-US" b="1" dirty="0">
                <a:solidFill>
                  <a:schemeClr val="tx2">
                    <a:lumMod val="90000"/>
                    <a:lumOff val="10000"/>
                  </a:schemeClr>
                </a:solidFill>
                <a:cs typeface="Arial" panose="020B0604020202020204" pitchFamily="34" charset="0"/>
              </a:rPr>
              <a:t>KHOA ĐIỆN TỬ VIỄN THÔNG</a:t>
            </a:r>
          </a:p>
          <a:p>
            <a:pPr algn="ctr"/>
            <a:r>
              <a:rPr lang="en-US" b="1" dirty="0">
                <a:solidFill>
                  <a:schemeClr val="tx2">
                    <a:lumMod val="90000"/>
                    <a:lumOff val="10000"/>
                  </a:schemeClr>
                </a:solidFill>
                <a:cs typeface="Arial" panose="020B0604020202020204" pitchFamily="34" charset="0"/>
              </a:rPr>
              <a:t>TRƯỜNG ĐẠI HỌC CÔNG NGHỆ - ĐẠI HỌC QUỐC GIA HÀ NỘI</a:t>
            </a:r>
            <a:endParaRPr lang="vi-VN" b="1" dirty="0">
              <a:solidFill>
                <a:schemeClr val="tx2">
                  <a:lumMod val="90000"/>
                  <a:lumOff val="10000"/>
                </a:schemeClr>
              </a:solidFill>
              <a:cs typeface="Arial" panose="020B0604020202020204" pitchFamily="34" charset="0"/>
            </a:endParaRPr>
          </a:p>
        </p:txBody>
      </p:sp>
      <p:pic>
        <p:nvPicPr>
          <p:cNvPr id="1026" name="Picture 2" descr="Trường Đại học Công nghệ, ĐHQGHN - VNU- University of Engineering and  Technology">
            <a:extLst>
              <a:ext uri="{FF2B5EF4-FFF2-40B4-BE49-F238E27FC236}">
                <a16:creationId xmlns:a16="http://schemas.microsoft.com/office/drawing/2014/main" id="{8DDBF34F-E1AE-71EA-C043-83C92251F6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493" y="136691"/>
            <a:ext cx="643675" cy="643675"/>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9">
            <a:extLst>
              <a:ext uri="{FF2B5EF4-FFF2-40B4-BE49-F238E27FC236}">
                <a16:creationId xmlns:a16="http://schemas.microsoft.com/office/drawing/2014/main" id="{2A2CBD80-5093-179A-89FB-AFEFAD4B4780}"/>
              </a:ext>
            </a:extLst>
          </p:cNvPr>
          <p:cNvSpPr>
            <a:spLocks noGrp="1"/>
          </p:cNvSpPr>
          <p:nvPr>
            <p:ph type="sldNum" sz="quarter" idx="12"/>
          </p:nvPr>
        </p:nvSpPr>
        <p:spPr>
          <a:xfrm>
            <a:off x="8439849" y="6510757"/>
            <a:ext cx="562062" cy="365125"/>
          </a:xfrm>
        </p:spPr>
        <p:txBody>
          <a:bodyPr/>
          <a:lstStyle/>
          <a:p>
            <a:fld id="{AE3E3AF4-E56C-405D-90D1-F29A6618B350}" type="slidenum">
              <a:rPr lang="vi-VN" smtClean="0"/>
              <a:t>1</a:t>
            </a:fld>
            <a:endParaRPr lang="vi-VN" dirty="0"/>
          </a:p>
        </p:txBody>
      </p:sp>
      <p:graphicFrame>
        <p:nvGraphicFramePr>
          <p:cNvPr id="13" name="Table 12">
            <a:extLst>
              <a:ext uri="{FF2B5EF4-FFF2-40B4-BE49-F238E27FC236}">
                <a16:creationId xmlns:a16="http://schemas.microsoft.com/office/drawing/2014/main" id="{3586CCC8-A4C9-AA23-D11A-DA2BCC9C513A}"/>
              </a:ext>
            </a:extLst>
          </p:cNvPr>
          <p:cNvGraphicFramePr>
            <a:graphicFrameLocks noGrp="1"/>
          </p:cNvGraphicFramePr>
          <p:nvPr>
            <p:extLst>
              <p:ext uri="{D42A27DB-BD31-4B8C-83A1-F6EECF244321}">
                <p14:modId xmlns:p14="http://schemas.microsoft.com/office/powerpoint/2010/main" val="1279236424"/>
              </p:ext>
            </p:extLst>
          </p:nvPr>
        </p:nvGraphicFramePr>
        <p:xfrm>
          <a:off x="1657879" y="4495230"/>
          <a:ext cx="6106736" cy="792480"/>
        </p:xfrm>
        <a:graphic>
          <a:graphicData uri="http://schemas.openxmlformats.org/drawingml/2006/table">
            <a:tbl>
              <a:tblPr firstRow="1" bandRow="1">
                <a:tableStyleId>{2D5ABB26-0587-4C30-8999-92F81FD0307C}</a:tableStyleId>
              </a:tblPr>
              <a:tblGrid>
                <a:gridCol w="3053368">
                  <a:extLst>
                    <a:ext uri="{9D8B030D-6E8A-4147-A177-3AD203B41FA5}">
                      <a16:colId xmlns:a16="http://schemas.microsoft.com/office/drawing/2014/main" val="4159455956"/>
                    </a:ext>
                  </a:extLst>
                </a:gridCol>
                <a:gridCol w="3053368">
                  <a:extLst>
                    <a:ext uri="{9D8B030D-6E8A-4147-A177-3AD203B41FA5}">
                      <a16:colId xmlns:a16="http://schemas.microsoft.com/office/drawing/2014/main" val="111716418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1">
                              <a:lumMod val="50000"/>
                            </a:schemeClr>
                          </a:solidFill>
                          <a:latin typeface="Times New Roman" panose="02020603050405020304" pitchFamily="18" charset="0"/>
                          <a:cs typeface="Times New Roman" panose="02020603050405020304" pitchFamily="18" charset="0"/>
                        </a:rPr>
                        <a:t>Sinh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viên</a:t>
                      </a:r>
                      <a:r>
                        <a:rPr lang="en-US" sz="2000" dirty="0">
                          <a:solidFill>
                            <a:schemeClr val="accent1">
                              <a:lumMod val="50000"/>
                            </a:schemeClr>
                          </a:solidFill>
                          <a:latin typeface="Times New Roman" panose="02020603050405020304" pitchFamily="18" charset="0"/>
                          <a:cs typeface="Times New Roman" panose="02020603050405020304" pitchFamily="18" charset="0"/>
                        </a:rPr>
                        <a:t>:</a:t>
                      </a:r>
                    </a:p>
                  </a:txBody>
                  <a:tcPr/>
                </a:tc>
                <a:tc>
                  <a:txBody>
                    <a:bodyPr/>
                    <a:lstStyle/>
                    <a:p>
                      <a:r>
                        <a:rPr lang="vi-VN" sz="2000" dirty="0">
                          <a:solidFill>
                            <a:schemeClr val="accent1">
                              <a:lumMod val="50000"/>
                            </a:schemeClr>
                          </a:solidFill>
                          <a:latin typeface="Times New Roman" panose="02020603050405020304" pitchFamily="18" charset="0"/>
                          <a:cs typeface="Times New Roman" panose="02020603050405020304" pitchFamily="18" charset="0"/>
                        </a:rPr>
                        <a:t>Nguyễn Thành Vinh</a:t>
                      </a:r>
                      <a:endParaRPr lang="vi-V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6713973"/>
                  </a:ext>
                </a:extLst>
              </a:tr>
              <a:tr h="370840">
                <a:tc>
                  <a:txBody>
                    <a:bodyPr/>
                    <a:lstStyle/>
                    <a:p>
                      <a:r>
                        <a:rPr lang="en-US" sz="2000" dirty="0" err="1">
                          <a:solidFill>
                            <a:schemeClr val="accent1">
                              <a:lumMod val="50000"/>
                            </a:schemeClr>
                          </a:solidFill>
                          <a:latin typeface="Times New Roman" panose="02020603050405020304" pitchFamily="18" charset="0"/>
                          <a:cs typeface="Times New Roman" panose="02020603050405020304" pitchFamily="18" charset="0"/>
                        </a:rPr>
                        <a:t>Giáo</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viên</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hướng</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dẫn</a:t>
                      </a:r>
                      <a:r>
                        <a:rPr lang="en-US" sz="2000" dirty="0">
                          <a:solidFill>
                            <a:schemeClr val="accent1">
                              <a:lumMod val="50000"/>
                            </a:schemeClr>
                          </a:solidFill>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1">
                              <a:lumMod val="50000"/>
                            </a:schemeClr>
                          </a:solidFill>
                          <a:latin typeface="Times New Roman" panose="02020603050405020304" pitchFamily="18" charset="0"/>
                          <a:cs typeface="Times New Roman" panose="02020603050405020304" pitchFamily="18" charset="0"/>
                        </a:rPr>
                        <a:t>TS. Đinh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Triều</a:t>
                      </a:r>
                      <a:r>
                        <a:rPr lang="en-US" sz="2000" dirty="0">
                          <a:solidFill>
                            <a:schemeClr val="accent1">
                              <a:lumMod val="50000"/>
                            </a:schemeClr>
                          </a:solidFill>
                          <a:latin typeface="Times New Roman" panose="02020603050405020304" pitchFamily="18" charset="0"/>
                          <a:cs typeface="Times New Roman" panose="02020603050405020304" pitchFamily="18" charset="0"/>
                        </a:rPr>
                        <a:t> Dương</a:t>
                      </a:r>
                      <a:endParaRPr lang="vi-V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7048313"/>
                  </a:ext>
                </a:extLst>
              </a:tr>
            </a:tbl>
          </a:graphicData>
        </a:graphic>
      </p:graphicFrame>
    </p:spTree>
    <p:extLst>
      <p:ext uri="{BB962C8B-B14F-4D97-AF65-F5344CB8AC3E}">
        <p14:creationId xmlns:p14="http://schemas.microsoft.com/office/powerpoint/2010/main" val="298915642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7078-A8E6-7336-6641-86B512761002}"/>
              </a:ext>
            </a:extLst>
          </p:cNvPr>
          <p:cNvSpPr>
            <a:spLocks noGrp="1"/>
          </p:cNvSpPr>
          <p:nvPr>
            <p:ph type="title"/>
          </p:nvPr>
        </p:nvSpPr>
        <p:spPr>
          <a:xfrm>
            <a:off x="628650" y="765810"/>
            <a:ext cx="2114550" cy="559753"/>
          </a:xfrm>
        </p:spPr>
        <p:txBody>
          <a:bodyPr>
            <a:noAutofit/>
          </a:bodyPr>
          <a:lstStyle/>
          <a:p>
            <a:r>
              <a:rPr lang="en-US" sz="3000" dirty="0">
                <a:latin typeface="+mn-lt"/>
              </a:rPr>
              <a:t>MỤC LỤC</a:t>
            </a:r>
            <a:endParaRPr lang="vi-VN" sz="3000" dirty="0">
              <a:latin typeface="+mn-lt"/>
            </a:endParaRPr>
          </a:p>
        </p:txBody>
      </p:sp>
      <p:sp>
        <p:nvSpPr>
          <p:cNvPr id="4" name="Slide Number Placeholder 3">
            <a:extLst>
              <a:ext uri="{FF2B5EF4-FFF2-40B4-BE49-F238E27FC236}">
                <a16:creationId xmlns:a16="http://schemas.microsoft.com/office/drawing/2014/main" id="{686F98E5-9A89-8F6D-C8F3-ED79C33F671E}"/>
              </a:ext>
            </a:extLst>
          </p:cNvPr>
          <p:cNvSpPr>
            <a:spLocks noGrp="1"/>
          </p:cNvSpPr>
          <p:nvPr>
            <p:ph type="sldNum" sz="quarter" idx="12"/>
          </p:nvPr>
        </p:nvSpPr>
        <p:spPr/>
        <p:txBody>
          <a:bodyPr/>
          <a:lstStyle/>
          <a:p>
            <a:fld id="{AE3E3AF4-E56C-405D-90D1-F29A6618B350}" type="slidenum">
              <a:rPr lang="vi-VN" smtClean="0"/>
              <a:pPr/>
              <a:t>2</a:t>
            </a:fld>
            <a:endParaRPr lang="vi-VN" dirty="0"/>
          </a:p>
        </p:txBody>
      </p:sp>
      <p:graphicFrame>
        <p:nvGraphicFramePr>
          <p:cNvPr id="5" name="Content Placeholder 2">
            <a:extLst>
              <a:ext uri="{FF2B5EF4-FFF2-40B4-BE49-F238E27FC236}">
                <a16:creationId xmlns:a16="http://schemas.microsoft.com/office/drawing/2014/main" id="{090D744A-0065-F93A-3721-5832D1B14FE9}"/>
              </a:ext>
            </a:extLst>
          </p:cNvPr>
          <p:cNvGraphicFramePr>
            <a:graphicFrameLocks noGrp="1"/>
          </p:cNvGraphicFramePr>
          <p:nvPr>
            <p:ph idx="1"/>
            <p:extLst>
              <p:ext uri="{D42A27DB-BD31-4B8C-83A1-F6EECF244321}">
                <p14:modId xmlns:p14="http://schemas.microsoft.com/office/powerpoint/2010/main" val="2223372382"/>
              </p:ext>
            </p:extLst>
          </p:nvPr>
        </p:nvGraphicFramePr>
        <p:xfrm>
          <a:off x="628651" y="1874519"/>
          <a:ext cx="7132320" cy="3840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73760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9A77C-B2DE-897F-F480-9ADF3C2B6C1F}"/>
              </a:ext>
            </a:extLst>
          </p:cNvPr>
          <p:cNvSpPr>
            <a:spLocks noGrp="1"/>
          </p:cNvSpPr>
          <p:nvPr>
            <p:ph type="title"/>
          </p:nvPr>
        </p:nvSpPr>
        <p:spPr>
          <a:xfrm>
            <a:off x="628650" y="681037"/>
            <a:ext cx="1988820" cy="644526"/>
          </a:xfrm>
        </p:spPr>
        <p:txBody>
          <a:bodyPr>
            <a:normAutofit/>
          </a:bodyPr>
          <a:lstStyle/>
          <a:p>
            <a:r>
              <a:rPr lang="vi-VN" sz="3000" b="1">
                <a:solidFill>
                  <a:schemeClr val="accent1">
                    <a:lumMod val="75000"/>
                  </a:schemeClr>
                </a:solidFill>
                <a:latin typeface="Aptos" panose="020B0004020202020204" pitchFamily="34" charset="0"/>
              </a:rPr>
              <a:t>BỐI CẢNH</a:t>
            </a:r>
            <a:endParaRPr lang="vi-VN" sz="3000" b="1" dirty="0">
              <a:solidFill>
                <a:schemeClr val="accent1">
                  <a:lumMod val="75000"/>
                </a:schemeClr>
              </a:solidFill>
              <a:latin typeface="Aptos" panose="020B0004020202020204" pitchFamily="34" charset="0"/>
            </a:endParaRPr>
          </a:p>
        </p:txBody>
      </p:sp>
      <p:sp>
        <p:nvSpPr>
          <p:cNvPr id="6" name="Content Placeholder 2">
            <a:extLst>
              <a:ext uri="{FF2B5EF4-FFF2-40B4-BE49-F238E27FC236}">
                <a16:creationId xmlns:a16="http://schemas.microsoft.com/office/drawing/2014/main" id="{1D275F09-799E-319F-E7C9-0D9676286CAB}"/>
              </a:ext>
            </a:extLst>
          </p:cNvPr>
          <p:cNvSpPr txBox="1">
            <a:spLocks noGrp="1"/>
          </p:cNvSpPr>
          <p:nvPr>
            <p:ph idx="1"/>
          </p:nvPr>
        </p:nvSpPr>
        <p:spPr>
          <a:xfrm>
            <a:off x="628650" y="2761485"/>
            <a:ext cx="2960370" cy="1335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1800" dirty="0">
                <a:latin typeface="Times New Roman" panose="02020603050405020304" pitchFamily="18" charset="0"/>
                <a:cs typeface="Times New Roman" panose="02020603050405020304" pitchFamily="18" charset="0"/>
              </a:rPr>
              <a:t>Lưu lượng </a:t>
            </a:r>
            <a:r>
              <a:rPr lang="vi-VN" sz="1800" dirty="0" err="1">
                <a:latin typeface="Times New Roman" panose="02020603050405020304" pitchFamily="18" charset="0"/>
                <a:cs typeface="Times New Roman" panose="02020603050405020304" pitchFamily="18" charset="0"/>
              </a:rPr>
              <a:t>video</a:t>
            </a:r>
            <a:r>
              <a:rPr lang="vi-VN" sz="1800" dirty="0">
                <a:latin typeface="Times New Roman" panose="02020603050405020304" pitchFamily="18" charset="0"/>
                <a:cs typeface="Times New Roman" panose="02020603050405020304" pitchFamily="18" charset="0"/>
              </a:rPr>
              <a:t> hiện chiếm tỷ trọng lớn trong các mạng không dây hiện đại, trong khi tài nguyên phổ tần ngày càng khan hiếm. </a:t>
            </a:r>
            <a:endParaRPr lang="en-US" sz="1800"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9EF19480-07C5-FBF6-E5BA-6E1C8222F7BC}"/>
              </a:ext>
            </a:extLst>
          </p:cNvPr>
          <p:cNvSpPr>
            <a:spLocks noGrp="1"/>
          </p:cNvSpPr>
          <p:nvPr>
            <p:ph type="sldNum" sz="quarter" idx="12"/>
          </p:nvPr>
        </p:nvSpPr>
        <p:spPr/>
        <p:txBody>
          <a:bodyPr/>
          <a:lstStyle/>
          <a:p>
            <a:fld id="{AE3E3AF4-E56C-405D-90D1-F29A6618B350}" type="slidenum">
              <a:rPr lang="vi-VN" smtClean="0"/>
              <a:t>3</a:t>
            </a:fld>
            <a:endParaRPr lang="vi-VN" dirty="0"/>
          </a:p>
        </p:txBody>
      </p:sp>
      <p:sp>
        <p:nvSpPr>
          <p:cNvPr id="3" name="Title 1">
            <a:extLst>
              <a:ext uri="{FF2B5EF4-FFF2-40B4-BE49-F238E27FC236}">
                <a16:creationId xmlns:a16="http://schemas.microsoft.com/office/drawing/2014/main" id="{BCE9201C-AE29-2EC1-C884-301E31F4925C}"/>
              </a:ext>
            </a:extLst>
          </p:cNvPr>
          <p:cNvSpPr txBox="1">
            <a:spLocks/>
          </p:cNvSpPr>
          <p:nvPr/>
        </p:nvSpPr>
        <p:spPr>
          <a:xfrm>
            <a:off x="628650" y="1325563"/>
            <a:ext cx="5086350" cy="4117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r>
              <a:rPr lang="vi-VN" sz="2000" dirty="0">
                <a:latin typeface="Aptos" panose="020B0004020202020204" pitchFamily="34" charset="0"/>
              </a:rPr>
              <a:t>Bùng nổ dữ liệu </a:t>
            </a:r>
            <a:r>
              <a:rPr lang="vi-VN" sz="2000" dirty="0" err="1">
                <a:latin typeface="Aptos" panose="020B0004020202020204" pitchFamily="34" charset="0"/>
              </a:rPr>
              <a:t>video</a:t>
            </a:r>
            <a:r>
              <a:rPr lang="vi-VN" sz="2000" dirty="0">
                <a:latin typeface="Aptos" panose="020B0004020202020204" pitchFamily="34" charset="0"/>
              </a:rPr>
              <a:t> &amp; Khan hiếm phổ tần</a:t>
            </a:r>
            <a:endParaRPr lang="vi-VN" sz="2000" dirty="0">
              <a:solidFill>
                <a:schemeClr val="accent1">
                  <a:lumMod val="50000"/>
                </a:schemeClr>
              </a:solidFill>
              <a:latin typeface="Aptos" panose="020B0004020202020204" pitchFamily="34" charset="0"/>
            </a:endParaRPr>
          </a:p>
        </p:txBody>
      </p:sp>
      <p:sp>
        <p:nvSpPr>
          <p:cNvPr id="7" name="Content Placeholder 2">
            <a:extLst>
              <a:ext uri="{FF2B5EF4-FFF2-40B4-BE49-F238E27FC236}">
                <a16:creationId xmlns:a16="http://schemas.microsoft.com/office/drawing/2014/main" id="{AEB00312-582A-C148-91E2-704C7017497C}"/>
              </a:ext>
            </a:extLst>
          </p:cNvPr>
          <p:cNvSpPr txBox="1">
            <a:spLocks/>
          </p:cNvSpPr>
          <p:nvPr/>
        </p:nvSpPr>
        <p:spPr>
          <a:xfrm>
            <a:off x="5462081" y="5120641"/>
            <a:ext cx="1816667" cy="2636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vi-VN" sz="1500" i="1" dirty="0"/>
              <a:t>Nguồn: </a:t>
            </a:r>
            <a:r>
              <a:rPr lang="vi-VN" sz="1500" i="1" dirty="0" err="1"/>
              <a:t>Cisco</a:t>
            </a:r>
            <a:r>
              <a:rPr lang="vi-VN" sz="1500" i="1" dirty="0"/>
              <a:t> VNI </a:t>
            </a:r>
            <a:endParaRPr lang="en-US" sz="1500" i="1" dirty="0">
              <a:cs typeface="Times New Roman" panose="02020603050405020304" pitchFamily="18" charset="0"/>
            </a:endParaRPr>
          </a:p>
        </p:txBody>
      </p:sp>
      <p:pic>
        <p:nvPicPr>
          <p:cNvPr id="11" name="Picture 10" descr="Cisco: Online video to account for 82% of all Internet traffic by 2021! –  IEEE ComSoc Technology Blog">
            <a:extLst>
              <a:ext uri="{FF2B5EF4-FFF2-40B4-BE49-F238E27FC236}">
                <a16:creationId xmlns:a16="http://schemas.microsoft.com/office/drawing/2014/main" id="{95A74B83-AF2E-385C-33AF-828013380C7D}"/>
              </a:ext>
            </a:extLst>
          </p:cNvPr>
          <p:cNvPicPr>
            <a:picLocks noChangeAspect="1"/>
          </p:cNvPicPr>
          <p:nvPr/>
        </p:nvPicPr>
        <p:blipFill>
          <a:blip r:embed="rId3"/>
          <a:stretch>
            <a:fillRect/>
          </a:stretch>
        </p:blipFill>
        <p:spPr>
          <a:xfrm>
            <a:off x="3931335" y="2362837"/>
            <a:ext cx="5065558" cy="2659418"/>
          </a:xfrm>
          <a:prstGeom prst="rect">
            <a:avLst/>
          </a:prstGeom>
        </p:spPr>
      </p:pic>
    </p:spTree>
    <p:extLst>
      <p:ext uri="{BB962C8B-B14F-4D97-AF65-F5344CB8AC3E}">
        <p14:creationId xmlns:p14="http://schemas.microsoft.com/office/powerpoint/2010/main" val="9571175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E9C1-0D00-4575-2ADA-B078F176B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7BE3E-A35A-150A-023D-02D18D84E4E7}"/>
              </a:ext>
            </a:extLst>
          </p:cNvPr>
          <p:cNvSpPr>
            <a:spLocks noGrp="1"/>
          </p:cNvSpPr>
          <p:nvPr>
            <p:ph type="title"/>
          </p:nvPr>
        </p:nvSpPr>
        <p:spPr>
          <a:xfrm>
            <a:off x="628650" y="1026985"/>
            <a:ext cx="1965960" cy="644526"/>
          </a:xfrm>
        </p:spPr>
        <p:txBody>
          <a:bodyPr>
            <a:normAutofit/>
          </a:bodyPr>
          <a:lstStyle/>
          <a:p>
            <a:r>
              <a:rPr lang="vi-VN" sz="3000" b="1">
                <a:solidFill>
                  <a:schemeClr val="accent1">
                    <a:lumMod val="75000"/>
                  </a:schemeClr>
                </a:solidFill>
                <a:latin typeface="Aptos" panose="020B0004020202020204" pitchFamily="34" charset="0"/>
              </a:rPr>
              <a:t>BỐI CẢNH</a:t>
            </a:r>
            <a:endParaRPr lang="vi-VN" sz="3000" b="1" dirty="0">
              <a:solidFill>
                <a:schemeClr val="accent1">
                  <a:lumMod val="75000"/>
                </a:schemeClr>
              </a:solidFill>
              <a:latin typeface="Aptos" panose="020B0004020202020204" pitchFamily="34" charset="0"/>
            </a:endParaRPr>
          </a:p>
        </p:txBody>
      </p:sp>
      <p:sp>
        <p:nvSpPr>
          <p:cNvPr id="10" name="Slide Number Placeholder 9">
            <a:extLst>
              <a:ext uri="{FF2B5EF4-FFF2-40B4-BE49-F238E27FC236}">
                <a16:creationId xmlns:a16="http://schemas.microsoft.com/office/drawing/2014/main" id="{E54D5ABB-F714-6423-B604-335E1D301FBC}"/>
              </a:ext>
            </a:extLst>
          </p:cNvPr>
          <p:cNvSpPr>
            <a:spLocks noGrp="1"/>
          </p:cNvSpPr>
          <p:nvPr>
            <p:ph type="sldNum" sz="quarter" idx="12"/>
          </p:nvPr>
        </p:nvSpPr>
        <p:spPr/>
        <p:txBody>
          <a:bodyPr/>
          <a:lstStyle/>
          <a:p>
            <a:fld id="{AE3E3AF4-E56C-405D-90D1-F29A6618B350}" type="slidenum">
              <a:rPr lang="vi-VN" smtClean="0"/>
              <a:t>4</a:t>
            </a:fld>
            <a:endParaRPr lang="vi-VN" dirty="0"/>
          </a:p>
        </p:txBody>
      </p:sp>
      <p:sp>
        <p:nvSpPr>
          <p:cNvPr id="3" name="Title 1">
            <a:extLst>
              <a:ext uri="{FF2B5EF4-FFF2-40B4-BE49-F238E27FC236}">
                <a16:creationId xmlns:a16="http://schemas.microsoft.com/office/drawing/2014/main" id="{3522BB30-8B1C-5665-DFD8-0B70213CD876}"/>
              </a:ext>
            </a:extLst>
          </p:cNvPr>
          <p:cNvSpPr txBox="1">
            <a:spLocks/>
          </p:cNvSpPr>
          <p:nvPr/>
        </p:nvSpPr>
        <p:spPr>
          <a:xfrm>
            <a:off x="628650" y="1579832"/>
            <a:ext cx="3302685" cy="41179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pPr>
              <a:lnSpc>
                <a:spcPct val="110000"/>
              </a:lnSpc>
            </a:pPr>
            <a:r>
              <a:rPr lang="vi-VN" sz="2000" dirty="0">
                <a:latin typeface="Aptos" panose="020B0004020202020204" pitchFamily="34" charset="0"/>
              </a:rPr>
              <a:t>Mục tiêu nghiên cứu:</a:t>
            </a:r>
          </a:p>
        </p:txBody>
      </p:sp>
      <p:sp>
        <p:nvSpPr>
          <p:cNvPr id="5" name="TextBox 4">
            <a:extLst>
              <a:ext uri="{FF2B5EF4-FFF2-40B4-BE49-F238E27FC236}">
                <a16:creationId xmlns:a16="http://schemas.microsoft.com/office/drawing/2014/main" id="{68458523-4EE1-8698-6835-C4B13664AAD7}"/>
              </a:ext>
            </a:extLst>
          </p:cNvPr>
          <p:cNvSpPr txBox="1"/>
          <p:nvPr/>
        </p:nvSpPr>
        <p:spPr>
          <a:xfrm>
            <a:off x="669202" y="2163323"/>
            <a:ext cx="3262133" cy="2308324"/>
          </a:xfrm>
          <a:prstGeom prst="rect">
            <a:avLst/>
          </a:prstGeom>
          <a:noFill/>
        </p:spPr>
        <p:txBody>
          <a:bodyPr wrap="square">
            <a:spAutoFit/>
          </a:bodyPr>
          <a:lstStyle/>
          <a:p>
            <a:pPr algn="just"/>
            <a:r>
              <a:rPr lang="vi-VN" dirty="0">
                <a:latin typeface="+mj-lt"/>
              </a:rPr>
              <a:t>Khóa luận tập trung vào bài toán </a:t>
            </a:r>
            <a:r>
              <a:rPr lang="vi-VN" dirty="0" err="1">
                <a:latin typeface="+mj-lt"/>
              </a:rPr>
              <a:t>Max</a:t>
            </a:r>
            <a:r>
              <a:rPr lang="vi-VN" dirty="0">
                <a:latin typeface="+mj-lt"/>
              </a:rPr>
              <a:t>–Min </a:t>
            </a:r>
            <a:r>
              <a:rPr lang="vi-VN" dirty="0" err="1">
                <a:latin typeface="+mj-lt"/>
              </a:rPr>
              <a:t>Fairness</a:t>
            </a:r>
            <a:r>
              <a:rPr lang="vi-VN" dirty="0">
                <a:latin typeface="+mj-lt"/>
              </a:rPr>
              <a:t> (MMF), với mục tiêu tối đa hóa tốc độ của người dùng có tốc độ thấp nhất trong hệ thống CR-RSMA </a:t>
            </a:r>
            <a:r>
              <a:rPr lang="vi-VN" dirty="0" err="1">
                <a:latin typeface="+mj-lt"/>
              </a:rPr>
              <a:t>Uplink</a:t>
            </a:r>
            <a:r>
              <a:rPr lang="vi-VN" dirty="0">
                <a:latin typeface="+mj-lt"/>
              </a:rPr>
              <a:t>, nhằm đảm bảo công bằng tài nguyên và nâng cao chất lượng truyền </a:t>
            </a:r>
            <a:r>
              <a:rPr lang="vi-VN" dirty="0" err="1">
                <a:latin typeface="+mj-lt"/>
              </a:rPr>
              <a:t>video</a:t>
            </a:r>
            <a:r>
              <a:rPr lang="vi-VN" dirty="0">
                <a:latin typeface="+mj-lt"/>
              </a:rPr>
              <a:t> SVC.</a:t>
            </a:r>
            <a:endParaRPr lang="vi-VN"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0919437B-FFBF-EABA-4BC5-9759FEEBA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8202" y="1423429"/>
            <a:ext cx="4903709" cy="3269139"/>
          </a:xfrm>
          <a:prstGeom prst="rect">
            <a:avLst/>
          </a:prstGeom>
        </p:spPr>
      </p:pic>
      <p:sp>
        <p:nvSpPr>
          <p:cNvPr id="16" name="Content Placeholder 2">
            <a:extLst>
              <a:ext uri="{FF2B5EF4-FFF2-40B4-BE49-F238E27FC236}">
                <a16:creationId xmlns:a16="http://schemas.microsoft.com/office/drawing/2014/main" id="{35038A20-22D2-917F-B283-6880D4672AB3}"/>
              </a:ext>
            </a:extLst>
          </p:cNvPr>
          <p:cNvSpPr txBox="1">
            <a:spLocks/>
          </p:cNvSpPr>
          <p:nvPr/>
        </p:nvSpPr>
        <p:spPr>
          <a:xfrm>
            <a:off x="4869961" y="4692568"/>
            <a:ext cx="3360189" cy="2636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vi-VN" sz="1500" i="1" dirty="0"/>
              <a:t>Mô hình đa truy cập qua kênh </a:t>
            </a:r>
            <a:r>
              <a:rPr lang="vi-VN" sz="1500" i="1" dirty="0" err="1"/>
              <a:t>Uplink</a:t>
            </a:r>
            <a:endParaRPr lang="en-US" sz="1500" i="1" dirty="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025C3EB-2E2F-E221-7CC2-862061C9D679}"/>
                  </a:ext>
                </a:extLst>
              </p:cNvPr>
              <p:cNvSpPr txBox="1"/>
              <p:nvPr/>
            </p:nvSpPr>
            <p:spPr>
              <a:xfrm>
                <a:off x="669202" y="4736286"/>
                <a:ext cx="3262133" cy="43992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vi-VN" i="1" smtClean="0"/>
                          </m:ctrlPr>
                        </m:sSubPr>
                        <m:e>
                          <m:r>
                            <m:rPr>
                              <m:sty m:val="p"/>
                            </m:rPr>
                            <a:rPr lang="vi-VN"/>
                            <m:t>max</m:t>
                          </m:r>
                        </m:e>
                        <m:sub>
                          <m:r>
                            <a:rPr lang="vi-VN" b="1"/>
                            <m:t>𝐩</m:t>
                          </m:r>
                        </m:sub>
                      </m:sSub>
                      <m:r>
                        <a:rPr lang="vi-VN"/>
                        <m:t> </m:t>
                      </m:r>
                      <m:sSub>
                        <m:sSubPr>
                          <m:ctrlPr>
                            <a:rPr lang="vi-VN" i="1"/>
                          </m:ctrlPr>
                        </m:sSubPr>
                        <m:e>
                          <m:r>
                            <m:rPr>
                              <m:sty m:val="p"/>
                            </m:rPr>
                            <a:rPr lang="vi-VN"/>
                            <m:t>min</m:t>
                          </m:r>
                        </m:e>
                        <m:sub>
                          <m:r>
                            <a:rPr lang="vi-VN" i="1"/>
                            <m:t>𝑘</m:t>
                          </m:r>
                          <m:r>
                            <a:rPr lang="vi-VN" i="1"/>
                            <m:t>∈</m:t>
                          </m:r>
                          <m:r>
                            <a:rPr lang="vi-VN" i="1"/>
                            <m:t>𝒦</m:t>
                          </m:r>
                        </m:sub>
                      </m:sSub>
                      <m:sSubSup>
                        <m:sSubSupPr>
                          <m:ctrlPr>
                            <a:rPr lang="vi-VN" i="1"/>
                          </m:ctrlPr>
                        </m:sSubSupPr>
                        <m:e>
                          <m:r>
                            <a:rPr lang="vi-VN" i="1"/>
                            <m:t>𝑅</m:t>
                          </m:r>
                        </m:e>
                        <m:sub>
                          <m:r>
                            <a:rPr lang="vi-VN" i="1"/>
                            <m:t>𝑘</m:t>
                          </m:r>
                        </m:sub>
                        <m:sup>
                          <m:r>
                            <a:rPr lang="vi-VN" i="1"/>
                            <m:t>𝑄𝑜𝐸</m:t>
                          </m:r>
                        </m:sup>
                      </m:sSubSup>
                    </m:oMath>
                  </m:oMathPara>
                </a14:m>
                <a:endParaRPr lang="vi-VN" dirty="0"/>
              </a:p>
            </p:txBody>
          </p:sp>
        </mc:Choice>
        <mc:Fallback>
          <p:sp>
            <p:nvSpPr>
              <p:cNvPr id="4" name="TextBox 3">
                <a:extLst>
                  <a:ext uri="{FF2B5EF4-FFF2-40B4-BE49-F238E27FC236}">
                    <a16:creationId xmlns:a16="http://schemas.microsoft.com/office/drawing/2014/main" id="{6025C3EB-2E2F-E221-7CC2-862061C9D679}"/>
                  </a:ext>
                </a:extLst>
              </p:cNvPr>
              <p:cNvSpPr txBox="1">
                <a:spLocks noRot="1" noChangeAspect="1" noMove="1" noResize="1" noEditPoints="1" noAdjustHandles="1" noChangeArrowheads="1" noChangeShapeType="1" noTextEdit="1"/>
              </p:cNvSpPr>
              <p:nvPr/>
            </p:nvSpPr>
            <p:spPr>
              <a:xfrm>
                <a:off x="669202" y="4736286"/>
                <a:ext cx="3262133" cy="439929"/>
              </a:xfrm>
              <a:prstGeom prst="rect">
                <a:avLst/>
              </a:prstGeom>
              <a:blipFill>
                <a:blip r:embed="rId4"/>
                <a:stretch>
                  <a:fillRect b="-2778"/>
                </a:stretch>
              </a:blipFill>
            </p:spPr>
            <p:txBody>
              <a:bodyPr/>
              <a:lstStyle/>
              <a:p>
                <a:r>
                  <a:rPr lang="vi-VN">
                    <a:noFill/>
                  </a:rPr>
                  <a:t> </a:t>
                </a:r>
              </a:p>
            </p:txBody>
          </p:sp>
        </mc:Fallback>
      </mc:AlternateContent>
      <p:sp>
        <p:nvSpPr>
          <p:cNvPr id="6" name="Content Placeholder 2">
            <a:extLst>
              <a:ext uri="{FF2B5EF4-FFF2-40B4-BE49-F238E27FC236}">
                <a16:creationId xmlns:a16="http://schemas.microsoft.com/office/drawing/2014/main" id="{1EBB2EEB-4A7C-63DF-5C03-E5266ECF42EE}"/>
              </a:ext>
            </a:extLst>
          </p:cNvPr>
          <p:cNvSpPr txBox="1">
            <a:spLocks/>
          </p:cNvSpPr>
          <p:nvPr/>
        </p:nvSpPr>
        <p:spPr>
          <a:xfrm>
            <a:off x="779514" y="5699173"/>
            <a:ext cx="3041507" cy="2636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1500" i="1" dirty="0"/>
              <a:t>Từ khóa: CR-RSMA </a:t>
            </a:r>
            <a:r>
              <a:rPr lang="vi-VN" sz="1500" i="1" dirty="0" err="1"/>
              <a:t>Uplink</a:t>
            </a:r>
            <a:r>
              <a:rPr lang="vi-VN" sz="1500" i="1" dirty="0"/>
              <a:t>, SVC</a:t>
            </a:r>
            <a:endParaRPr lang="en-US" sz="1500" i="1" dirty="0"/>
          </a:p>
        </p:txBody>
      </p:sp>
    </p:spTree>
    <p:extLst>
      <p:ext uri="{BB962C8B-B14F-4D97-AF65-F5344CB8AC3E}">
        <p14:creationId xmlns:p14="http://schemas.microsoft.com/office/powerpoint/2010/main" val="40430916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4F21-B676-EA70-C2C9-F7BD8CFDF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E9771-B58F-42CC-437E-DC75596DD600}"/>
              </a:ext>
            </a:extLst>
          </p:cNvPr>
          <p:cNvSpPr>
            <a:spLocks noGrp="1"/>
          </p:cNvSpPr>
          <p:nvPr>
            <p:ph type="title"/>
          </p:nvPr>
        </p:nvSpPr>
        <p:spPr>
          <a:xfrm>
            <a:off x="628650" y="347241"/>
            <a:ext cx="3302685" cy="644526"/>
          </a:xfrm>
        </p:spPr>
        <p:txBody>
          <a:bodyPr>
            <a:normAutofit/>
          </a:bodyPr>
          <a:lstStyle/>
          <a:p>
            <a:r>
              <a:rPr lang="vi-VN" sz="3000" b="1" dirty="0">
                <a:solidFill>
                  <a:schemeClr val="accent1">
                    <a:lumMod val="75000"/>
                  </a:schemeClr>
                </a:solidFill>
                <a:latin typeface="Aptos" panose="020B0004020202020204" pitchFamily="34" charset="0"/>
              </a:rPr>
              <a:t>CƠ SỞ LÝ THUYẾT</a:t>
            </a:r>
          </a:p>
        </p:txBody>
      </p:sp>
      <p:sp>
        <p:nvSpPr>
          <p:cNvPr id="10" name="Slide Number Placeholder 9">
            <a:extLst>
              <a:ext uri="{FF2B5EF4-FFF2-40B4-BE49-F238E27FC236}">
                <a16:creationId xmlns:a16="http://schemas.microsoft.com/office/drawing/2014/main" id="{C4B7D621-CB2E-4B99-C5E7-6BA5D41855AA}"/>
              </a:ext>
            </a:extLst>
          </p:cNvPr>
          <p:cNvSpPr>
            <a:spLocks noGrp="1"/>
          </p:cNvSpPr>
          <p:nvPr>
            <p:ph type="sldNum" sz="quarter" idx="12"/>
          </p:nvPr>
        </p:nvSpPr>
        <p:spPr/>
        <p:txBody>
          <a:bodyPr/>
          <a:lstStyle/>
          <a:p>
            <a:fld id="{AE3E3AF4-E56C-405D-90D1-F29A6618B350}" type="slidenum">
              <a:rPr lang="vi-VN" smtClean="0"/>
              <a:t>5</a:t>
            </a:fld>
            <a:endParaRPr lang="vi-VN" dirty="0"/>
          </a:p>
        </p:txBody>
      </p:sp>
      <p:sp>
        <p:nvSpPr>
          <p:cNvPr id="3" name="Title 1">
            <a:extLst>
              <a:ext uri="{FF2B5EF4-FFF2-40B4-BE49-F238E27FC236}">
                <a16:creationId xmlns:a16="http://schemas.microsoft.com/office/drawing/2014/main" id="{2A6B2D3F-7FB3-5900-B583-2360950EFE58}"/>
              </a:ext>
            </a:extLst>
          </p:cNvPr>
          <p:cNvSpPr txBox="1">
            <a:spLocks/>
          </p:cNvSpPr>
          <p:nvPr/>
        </p:nvSpPr>
        <p:spPr>
          <a:xfrm>
            <a:off x="628650" y="900088"/>
            <a:ext cx="6186678" cy="411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pPr>
              <a:lnSpc>
                <a:spcPct val="110000"/>
              </a:lnSpc>
            </a:pPr>
            <a:r>
              <a:rPr lang="vi-VN" sz="2000" dirty="0">
                <a:latin typeface="Aptos" panose="020B0004020202020204" pitchFamily="34" charset="0"/>
              </a:rPr>
              <a:t>Giới thiệu về </a:t>
            </a:r>
            <a:r>
              <a:rPr lang="vi-VN" sz="2000" dirty="0" err="1">
                <a:latin typeface="Aptos" panose="020B0004020202020204" pitchFamily="34" charset="0"/>
              </a:rPr>
              <a:t>Rate-Splitting</a:t>
            </a:r>
            <a:r>
              <a:rPr lang="vi-VN" sz="2000" dirty="0">
                <a:latin typeface="Aptos" panose="020B0004020202020204" pitchFamily="34" charset="0"/>
              </a:rPr>
              <a:t> </a:t>
            </a:r>
            <a:r>
              <a:rPr lang="vi-VN" sz="2000" dirty="0" err="1">
                <a:latin typeface="Aptos" panose="020B0004020202020204" pitchFamily="34" charset="0"/>
              </a:rPr>
              <a:t>Multiple</a:t>
            </a:r>
            <a:r>
              <a:rPr lang="vi-VN" sz="2000" dirty="0">
                <a:latin typeface="Aptos" panose="020B0004020202020204" pitchFamily="34" charset="0"/>
              </a:rPr>
              <a:t> Access </a:t>
            </a:r>
            <a:r>
              <a:rPr lang="vi-VN" sz="2000" dirty="0"/>
              <a:t>(</a:t>
            </a:r>
            <a:r>
              <a:rPr lang="vi-VN" sz="2000" dirty="0">
                <a:latin typeface="Aptos" panose="020B0004020202020204" pitchFamily="34" charset="0"/>
              </a:rPr>
              <a:t>RSMA):</a:t>
            </a:r>
          </a:p>
        </p:txBody>
      </p:sp>
      <p:pic>
        <p:nvPicPr>
          <p:cNvPr id="8" name="Picture 7">
            <a:extLst>
              <a:ext uri="{FF2B5EF4-FFF2-40B4-BE49-F238E27FC236}">
                <a16:creationId xmlns:a16="http://schemas.microsoft.com/office/drawing/2014/main" id="{018BB566-80BF-900D-E848-3206091B7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8161" y="1864732"/>
            <a:ext cx="6647678" cy="3758250"/>
          </a:xfrm>
          <a:prstGeom prst="rect">
            <a:avLst/>
          </a:prstGeom>
        </p:spPr>
      </p:pic>
    </p:spTree>
    <p:extLst>
      <p:ext uri="{BB962C8B-B14F-4D97-AF65-F5344CB8AC3E}">
        <p14:creationId xmlns:p14="http://schemas.microsoft.com/office/powerpoint/2010/main" val="15328979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5426-DED7-11BB-8325-5D5096010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87452-FC33-5A52-447D-10D5233AF824}"/>
              </a:ext>
            </a:extLst>
          </p:cNvPr>
          <p:cNvSpPr>
            <a:spLocks noGrp="1"/>
          </p:cNvSpPr>
          <p:nvPr>
            <p:ph type="title"/>
          </p:nvPr>
        </p:nvSpPr>
        <p:spPr>
          <a:xfrm>
            <a:off x="628650" y="160337"/>
            <a:ext cx="3302685" cy="644526"/>
          </a:xfrm>
        </p:spPr>
        <p:txBody>
          <a:bodyPr>
            <a:normAutofit/>
          </a:bodyPr>
          <a:lstStyle/>
          <a:p>
            <a:r>
              <a:rPr lang="vi-VN" sz="3000" b="1" dirty="0">
                <a:solidFill>
                  <a:schemeClr val="accent1">
                    <a:lumMod val="75000"/>
                  </a:schemeClr>
                </a:solidFill>
                <a:latin typeface="Aptos" panose="020B0004020202020204" pitchFamily="34" charset="0"/>
              </a:rPr>
              <a:t>CƠ SỞ LÝ THUYẾT</a:t>
            </a:r>
          </a:p>
        </p:txBody>
      </p:sp>
      <p:sp>
        <p:nvSpPr>
          <p:cNvPr id="10" name="Slide Number Placeholder 9">
            <a:extLst>
              <a:ext uri="{FF2B5EF4-FFF2-40B4-BE49-F238E27FC236}">
                <a16:creationId xmlns:a16="http://schemas.microsoft.com/office/drawing/2014/main" id="{6A3E97BC-8FF7-7591-6584-37EF6232107D}"/>
              </a:ext>
            </a:extLst>
          </p:cNvPr>
          <p:cNvSpPr>
            <a:spLocks noGrp="1"/>
          </p:cNvSpPr>
          <p:nvPr>
            <p:ph type="sldNum" sz="quarter" idx="12"/>
          </p:nvPr>
        </p:nvSpPr>
        <p:spPr/>
        <p:txBody>
          <a:bodyPr/>
          <a:lstStyle/>
          <a:p>
            <a:fld id="{AE3E3AF4-E56C-405D-90D1-F29A6618B350}" type="slidenum">
              <a:rPr lang="vi-VN" sz="1500" smtClean="0"/>
              <a:pPr/>
              <a:t>6</a:t>
            </a:fld>
            <a:endParaRPr lang="vi-VN" sz="1500" dirty="0"/>
          </a:p>
        </p:txBody>
      </p:sp>
      <p:sp>
        <p:nvSpPr>
          <p:cNvPr id="3" name="Title 1">
            <a:extLst>
              <a:ext uri="{FF2B5EF4-FFF2-40B4-BE49-F238E27FC236}">
                <a16:creationId xmlns:a16="http://schemas.microsoft.com/office/drawing/2014/main" id="{8C85E5D5-49DE-DEDE-3EEC-20D177DBBA86}"/>
              </a:ext>
            </a:extLst>
          </p:cNvPr>
          <p:cNvSpPr txBox="1">
            <a:spLocks/>
          </p:cNvSpPr>
          <p:nvPr/>
        </p:nvSpPr>
        <p:spPr>
          <a:xfrm>
            <a:off x="628650" y="713184"/>
            <a:ext cx="5875020" cy="411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pPr>
              <a:lnSpc>
                <a:spcPct val="110000"/>
              </a:lnSpc>
            </a:pPr>
            <a:r>
              <a:rPr lang="vi-VN" sz="2000" dirty="0">
                <a:latin typeface="Aptos" panose="020B0004020202020204" pitchFamily="34" charset="0"/>
              </a:rPr>
              <a:t>Giới thiệu về </a:t>
            </a:r>
            <a:r>
              <a:rPr lang="vi-VN" sz="2000" dirty="0" err="1">
                <a:latin typeface="Aptos" panose="020B0004020202020204" pitchFamily="34" charset="0"/>
              </a:rPr>
              <a:t>Cognitive</a:t>
            </a:r>
            <a:r>
              <a:rPr lang="vi-VN" sz="2000" dirty="0">
                <a:latin typeface="Aptos" panose="020B0004020202020204" pitchFamily="34" charset="0"/>
              </a:rPr>
              <a:t> </a:t>
            </a:r>
            <a:r>
              <a:rPr lang="vi-VN" sz="2000" dirty="0" err="1">
                <a:latin typeface="Aptos" panose="020B0004020202020204" pitchFamily="34" charset="0"/>
              </a:rPr>
              <a:t>Radio</a:t>
            </a:r>
            <a:r>
              <a:rPr lang="vi-VN" sz="2000" dirty="0">
                <a:latin typeface="Aptos" panose="020B0004020202020204" pitchFamily="34" charset="0"/>
              </a:rPr>
              <a:t> – Mô hình </a:t>
            </a:r>
            <a:r>
              <a:rPr lang="vi-VN" sz="2000" dirty="0" err="1">
                <a:latin typeface="Aptos" panose="020B0004020202020204" pitchFamily="34" charset="0"/>
              </a:rPr>
              <a:t>Underlay</a:t>
            </a:r>
            <a:r>
              <a:rPr lang="vi-VN" sz="2000" dirty="0">
                <a:latin typeface="Aptos" panose="020B0004020202020204" pitchFamily="34" charset="0"/>
              </a:rPr>
              <a:t>:</a:t>
            </a:r>
          </a:p>
        </p:txBody>
      </p:sp>
      <p:pic>
        <p:nvPicPr>
          <p:cNvPr id="14" name="Picture 13">
            <a:extLst>
              <a:ext uri="{FF2B5EF4-FFF2-40B4-BE49-F238E27FC236}">
                <a16:creationId xmlns:a16="http://schemas.microsoft.com/office/drawing/2014/main" id="{93F202A8-29AC-7BB9-72F2-9D1FD8B7B2FE}"/>
              </a:ext>
            </a:extLst>
          </p:cNvPr>
          <p:cNvPicPr>
            <a:picLocks noChangeAspect="1"/>
          </p:cNvPicPr>
          <p:nvPr/>
        </p:nvPicPr>
        <p:blipFill>
          <a:blip r:embed="rId3"/>
          <a:srcRect t="12508"/>
          <a:stretch>
            <a:fillRect/>
          </a:stretch>
        </p:blipFill>
        <p:spPr>
          <a:xfrm>
            <a:off x="1016000" y="1677828"/>
            <a:ext cx="7112000" cy="4148323"/>
          </a:xfrm>
          <a:prstGeom prst="rect">
            <a:avLst/>
          </a:prstGeom>
        </p:spPr>
      </p:pic>
    </p:spTree>
    <p:extLst>
      <p:ext uri="{BB962C8B-B14F-4D97-AF65-F5344CB8AC3E}">
        <p14:creationId xmlns:p14="http://schemas.microsoft.com/office/powerpoint/2010/main" val="32453331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0D00B-9F60-70F8-B749-61383D99F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B3D0-B8A4-BED4-DD03-E28173C07609}"/>
              </a:ext>
            </a:extLst>
          </p:cNvPr>
          <p:cNvSpPr>
            <a:spLocks noGrp="1"/>
          </p:cNvSpPr>
          <p:nvPr>
            <p:ph type="title"/>
          </p:nvPr>
        </p:nvSpPr>
        <p:spPr>
          <a:xfrm>
            <a:off x="628650" y="160337"/>
            <a:ext cx="3302685" cy="644526"/>
          </a:xfrm>
        </p:spPr>
        <p:txBody>
          <a:bodyPr>
            <a:normAutofit/>
          </a:bodyPr>
          <a:lstStyle/>
          <a:p>
            <a:r>
              <a:rPr lang="vi-VN" sz="3000" b="1" dirty="0">
                <a:solidFill>
                  <a:schemeClr val="accent1">
                    <a:lumMod val="75000"/>
                  </a:schemeClr>
                </a:solidFill>
                <a:latin typeface="Aptos" panose="020B0004020202020204" pitchFamily="34" charset="0"/>
              </a:rPr>
              <a:t>CƠ SỞ LÝ THUYẾT</a:t>
            </a:r>
          </a:p>
        </p:txBody>
      </p:sp>
      <p:sp>
        <p:nvSpPr>
          <p:cNvPr id="10" name="Slide Number Placeholder 9">
            <a:extLst>
              <a:ext uri="{FF2B5EF4-FFF2-40B4-BE49-F238E27FC236}">
                <a16:creationId xmlns:a16="http://schemas.microsoft.com/office/drawing/2014/main" id="{258CC336-3F32-BDA2-5AE8-1FD7375ECDE2}"/>
              </a:ext>
            </a:extLst>
          </p:cNvPr>
          <p:cNvSpPr>
            <a:spLocks noGrp="1"/>
          </p:cNvSpPr>
          <p:nvPr>
            <p:ph type="sldNum" sz="quarter" idx="12"/>
          </p:nvPr>
        </p:nvSpPr>
        <p:spPr/>
        <p:txBody>
          <a:bodyPr/>
          <a:lstStyle/>
          <a:p>
            <a:fld id="{AE3E3AF4-E56C-405D-90D1-F29A6618B350}" type="slidenum">
              <a:rPr lang="vi-VN" sz="1500" smtClean="0"/>
              <a:pPr/>
              <a:t>7</a:t>
            </a:fld>
            <a:endParaRPr lang="vi-VN" sz="1500" dirty="0"/>
          </a:p>
        </p:txBody>
      </p:sp>
      <p:sp>
        <p:nvSpPr>
          <p:cNvPr id="3" name="Title 1">
            <a:extLst>
              <a:ext uri="{FF2B5EF4-FFF2-40B4-BE49-F238E27FC236}">
                <a16:creationId xmlns:a16="http://schemas.microsoft.com/office/drawing/2014/main" id="{D6433EAD-6E33-70FA-EE8A-1668A6582321}"/>
              </a:ext>
            </a:extLst>
          </p:cNvPr>
          <p:cNvSpPr txBox="1">
            <a:spLocks/>
          </p:cNvSpPr>
          <p:nvPr/>
        </p:nvSpPr>
        <p:spPr>
          <a:xfrm>
            <a:off x="628650" y="713184"/>
            <a:ext cx="5875020" cy="411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pPr>
              <a:lnSpc>
                <a:spcPct val="110000"/>
              </a:lnSpc>
            </a:pPr>
            <a:r>
              <a:rPr lang="vi-VN" sz="2000" dirty="0">
                <a:latin typeface="Aptos" panose="020B0004020202020204" pitchFamily="34" charset="0"/>
              </a:rPr>
              <a:t>CR-RSMA</a:t>
            </a:r>
          </a:p>
        </p:txBody>
      </p:sp>
      <p:pic>
        <p:nvPicPr>
          <p:cNvPr id="5" name="Picture 4">
            <a:extLst>
              <a:ext uri="{FF2B5EF4-FFF2-40B4-BE49-F238E27FC236}">
                <a16:creationId xmlns:a16="http://schemas.microsoft.com/office/drawing/2014/main" id="{622A39CF-872A-65A2-2736-1D3CEC466806}"/>
              </a:ext>
            </a:extLst>
          </p:cNvPr>
          <p:cNvPicPr>
            <a:picLocks noChangeAspect="1"/>
          </p:cNvPicPr>
          <p:nvPr/>
        </p:nvPicPr>
        <p:blipFill>
          <a:blip r:embed="rId3"/>
          <a:stretch>
            <a:fillRect/>
          </a:stretch>
        </p:blipFill>
        <p:spPr>
          <a:xfrm>
            <a:off x="628650" y="1278509"/>
            <a:ext cx="8113853" cy="4866307"/>
          </a:xfrm>
          <a:prstGeom prst="rect">
            <a:avLst/>
          </a:prstGeom>
        </p:spPr>
      </p:pic>
    </p:spTree>
    <p:extLst>
      <p:ext uri="{BB962C8B-B14F-4D97-AF65-F5344CB8AC3E}">
        <p14:creationId xmlns:p14="http://schemas.microsoft.com/office/powerpoint/2010/main" val="344107099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BDB4-B38E-138B-D8F0-78ED6A08F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C4667-9D39-8155-911B-E2583F603A7A}"/>
              </a:ext>
            </a:extLst>
          </p:cNvPr>
          <p:cNvSpPr>
            <a:spLocks noGrp="1"/>
          </p:cNvSpPr>
          <p:nvPr>
            <p:ph type="title"/>
          </p:nvPr>
        </p:nvSpPr>
        <p:spPr>
          <a:xfrm>
            <a:off x="628650" y="611749"/>
            <a:ext cx="3302685" cy="644526"/>
          </a:xfrm>
        </p:spPr>
        <p:txBody>
          <a:bodyPr>
            <a:normAutofit/>
          </a:bodyPr>
          <a:lstStyle/>
          <a:p>
            <a:r>
              <a:rPr lang="vi-VN" sz="3000" b="1" dirty="0">
                <a:solidFill>
                  <a:schemeClr val="accent1">
                    <a:lumMod val="75000"/>
                  </a:schemeClr>
                </a:solidFill>
                <a:latin typeface="Aptos" panose="020B0004020202020204" pitchFamily="34" charset="0"/>
              </a:rPr>
              <a:t>CƠ SỞ LÝ THUYẾT</a:t>
            </a:r>
          </a:p>
        </p:txBody>
      </p:sp>
      <p:sp>
        <p:nvSpPr>
          <p:cNvPr id="10" name="Slide Number Placeholder 9">
            <a:extLst>
              <a:ext uri="{FF2B5EF4-FFF2-40B4-BE49-F238E27FC236}">
                <a16:creationId xmlns:a16="http://schemas.microsoft.com/office/drawing/2014/main" id="{80D81953-50EA-19CB-849F-4579F43D82ED}"/>
              </a:ext>
            </a:extLst>
          </p:cNvPr>
          <p:cNvSpPr>
            <a:spLocks noGrp="1"/>
          </p:cNvSpPr>
          <p:nvPr>
            <p:ph type="sldNum" sz="quarter" idx="12"/>
          </p:nvPr>
        </p:nvSpPr>
        <p:spPr/>
        <p:txBody>
          <a:bodyPr/>
          <a:lstStyle/>
          <a:p>
            <a:fld id="{AE3E3AF4-E56C-405D-90D1-F29A6618B350}" type="slidenum">
              <a:rPr lang="vi-VN" sz="1500" smtClean="0"/>
              <a:pPr/>
              <a:t>8</a:t>
            </a:fld>
            <a:endParaRPr lang="vi-VN" sz="1500" dirty="0"/>
          </a:p>
        </p:txBody>
      </p:sp>
      <p:sp>
        <p:nvSpPr>
          <p:cNvPr id="3" name="Title 1">
            <a:extLst>
              <a:ext uri="{FF2B5EF4-FFF2-40B4-BE49-F238E27FC236}">
                <a16:creationId xmlns:a16="http://schemas.microsoft.com/office/drawing/2014/main" id="{CD8D1D9C-4A7C-B4C4-E047-E92C97BF6430}"/>
              </a:ext>
            </a:extLst>
          </p:cNvPr>
          <p:cNvSpPr txBox="1">
            <a:spLocks/>
          </p:cNvSpPr>
          <p:nvPr/>
        </p:nvSpPr>
        <p:spPr>
          <a:xfrm>
            <a:off x="628650" y="1164596"/>
            <a:ext cx="5875020" cy="411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pPr>
              <a:lnSpc>
                <a:spcPct val="110000"/>
              </a:lnSpc>
            </a:pPr>
            <a:r>
              <a:rPr lang="vi-VN" sz="2000" dirty="0">
                <a:latin typeface="Aptos" panose="020B0004020202020204" pitchFamily="34" charset="0"/>
              </a:rPr>
              <a:t>Giới thiệu về </a:t>
            </a:r>
            <a:r>
              <a:rPr lang="vi-VN" sz="2000" dirty="0" err="1">
                <a:latin typeface="Aptos" panose="020B0004020202020204" pitchFamily="34" charset="0"/>
              </a:rPr>
              <a:t>Scalable</a:t>
            </a:r>
            <a:r>
              <a:rPr lang="vi-VN" sz="2000" dirty="0">
                <a:latin typeface="Aptos" panose="020B0004020202020204" pitchFamily="34" charset="0"/>
              </a:rPr>
              <a:t> </a:t>
            </a:r>
            <a:r>
              <a:rPr lang="vi-VN" sz="2000" dirty="0" err="1">
                <a:latin typeface="Aptos" panose="020B0004020202020204" pitchFamily="34" charset="0"/>
              </a:rPr>
              <a:t>Video</a:t>
            </a:r>
            <a:r>
              <a:rPr lang="vi-VN" sz="2000" dirty="0">
                <a:latin typeface="Aptos" panose="020B0004020202020204" pitchFamily="34" charset="0"/>
              </a:rPr>
              <a:t> </a:t>
            </a:r>
            <a:r>
              <a:rPr lang="vi-VN" sz="2000" dirty="0" err="1">
                <a:latin typeface="Aptos" panose="020B0004020202020204" pitchFamily="34" charset="0"/>
              </a:rPr>
              <a:t>Coding</a:t>
            </a:r>
            <a:r>
              <a:rPr lang="vi-VN" sz="2000" dirty="0">
                <a:latin typeface="Aptos" panose="020B0004020202020204" pitchFamily="34" charset="0"/>
              </a:rPr>
              <a:t>:</a:t>
            </a:r>
          </a:p>
        </p:txBody>
      </p:sp>
      <p:pic>
        <p:nvPicPr>
          <p:cNvPr id="5" name="Picture 4">
            <a:extLst>
              <a:ext uri="{FF2B5EF4-FFF2-40B4-BE49-F238E27FC236}">
                <a16:creationId xmlns:a16="http://schemas.microsoft.com/office/drawing/2014/main" id="{6A0A18D6-6941-7E8E-9F25-9EA2A1746DB4}"/>
              </a:ext>
            </a:extLst>
          </p:cNvPr>
          <p:cNvPicPr>
            <a:picLocks noChangeAspect="1"/>
          </p:cNvPicPr>
          <p:nvPr/>
        </p:nvPicPr>
        <p:blipFill>
          <a:blip r:embed="rId3"/>
          <a:stretch>
            <a:fillRect/>
          </a:stretch>
        </p:blipFill>
        <p:spPr>
          <a:xfrm>
            <a:off x="431800" y="1809122"/>
            <a:ext cx="8280400" cy="3696844"/>
          </a:xfrm>
          <a:prstGeom prst="rect">
            <a:avLst/>
          </a:prstGeom>
        </p:spPr>
      </p:pic>
    </p:spTree>
    <p:extLst>
      <p:ext uri="{BB962C8B-B14F-4D97-AF65-F5344CB8AC3E}">
        <p14:creationId xmlns:p14="http://schemas.microsoft.com/office/powerpoint/2010/main" val="345733777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C99832-CD45-5E29-2E86-62B4E922DC64}"/>
              </a:ext>
            </a:extLst>
          </p:cNvPr>
          <p:cNvSpPr>
            <a:spLocks noGrp="1"/>
          </p:cNvSpPr>
          <p:nvPr>
            <p:ph type="sldNum" sz="quarter" idx="12"/>
          </p:nvPr>
        </p:nvSpPr>
        <p:spPr/>
        <p:txBody>
          <a:bodyPr/>
          <a:lstStyle/>
          <a:p>
            <a:fld id="{AE3E3AF4-E56C-405D-90D1-F29A6618B350}" type="slidenum">
              <a:rPr lang="vi-VN" smtClean="0"/>
              <a:pPr/>
              <a:t>9</a:t>
            </a:fld>
            <a:endParaRPr lang="vi-VN" dirty="0"/>
          </a:p>
        </p:txBody>
      </p:sp>
      <p:sp>
        <p:nvSpPr>
          <p:cNvPr id="6" name="Title 1">
            <a:extLst>
              <a:ext uri="{FF2B5EF4-FFF2-40B4-BE49-F238E27FC236}">
                <a16:creationId xmlns:a16="http://schemas.microsoft.com/office/drawing/2014/main" id="{D3555C40-1E6C-4705-1D21-B844FDABEA96}"/>
              </a:ext>
            </a:extLst>
          </p:cNvPr>
          <p:cNvSpPr>
            <a:spLocks noGrp="1"/>
          </p:cNvSpPr>
          <p:nvPr>
            <p:ph type="title"/>
          </p:nvPr>
        </p:nvSpPr>
        <p:spPr>
          <a:xfrm>
            <a:off x="628649" y="301048"/>
            <a:ext cx="6573662" cy="594541"/>
          </a:xfrm>
        </p:spPr>
        <p:txBody>
          <a:bodyPr>
            <a:noAutofit/>
          </a:bodyPr>
          <a:lstStyle/>
          <a:p>
            <a:r>
              <a:rPr lang="vi-VN" sz="3000">
                <a:latin typeface="Aptos" panose="020B0004020202020204" pitchFamily="34" charset="0"/>
              </a:rPr>
              <a:t>BÀI TOÁN TỐI ƯU VÀ PHƯƠNG PHÁP</a:t>
            </a:r>
            <a:endParaRPr lang="vi-VN" sz="3000" dirty="0">
              <a:latin typeface="Aptos" panose="020B0004020202020204" pitchFamily="34" charset="0"/>
            </a:endParaRPr>
          </a:p>
        </p:txBody>
      </p:sp>
      <p:sp>
        <p:nvSpPr>
          <p:cNvPr id="7" name="TextBox 6">
            <a:extLst>
              <a:ext uri="{FF2B5EF4-FFF2-40B4-BE49-F238E27FC236}">
                <a16:creationId xmlns:a16="http://schemas.microsoft.com/office/drawing/2014/main" id="{77EF3E31-8C48-0333-F4CA-EADD8743D2FD}"/>
              </a:ext>
            </a:extLst>
          </p:cNvPr>
          <p:cNvSpPr txBox="1"/>
          <p:nvPr/>
        </p:nvSpPr>
        <p:spPr>
          <a:xfrm>
            <a:off x="628651" y="895589"/>
            <a:ext cx="3630834"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dirty="0">
                <a:solidFill>
                  <a:schemeClr val="tx2">
                    <a:lumMod val="90000"/>
                    <a:lumOff val="10000"/>
                  </a:schemeClr>
                </a:solidFill>
                <a:latin typeface="Aptos" panose="020B0004020202020204" pitchFamily="34" charset="0"/>
                <a:ea typeface="+mj-ea"/>
                <a:cs typeface="+mj-cs"/>
              </a:rPr>
              <a:t>Mô hình CR-RSMA </a:t>
            </a:r>
            <a:r>
              <a:rPr lang="vi-VN" sz="2000" b="1" dirty="0" err="1">
                <a:solidFill>
                  <a:schemeClr val="tx2">
                    <a:lumMod val="90000"/>
                    <a:lumOff val="10000"/>
                  </a:schemeClr>
                </a:solidFill>
                <a:latin typeface="Aptos" panose="020B0004020202020204" pitchFamily="34" charset="0"/>
                <a:ea typeface="+mj-ea"/>
                <a:cs typeface="+mj-cs"/>
              </a:rPr>
              <a:t>Uplink</a:t>
            </a:r>
            <a:r>
              <a:rPr lang="vi-VN" sz="2000" b="1" dirty="0">
                <a:solidFill>
                  <a:schemeClr val="tx2">
                    <a:lumMod val="90000"/>
                    <a:lumOff val="10000"/>
                  </a:schemeClr>
                </a:solidFill>
                <a:latin typeface="Aptos" panose="020B0004020202020204" pitchFamily="34" charset="0"/>
                <a:ea typeface="+mj-ea"/>
                <a:cs typeface="+mj-cs"/>
              </a:rPr>
              <a:t> SVC</a:t>
            </a:r>
            <a:endParaRPr lang="en-US" sz="2000" b="1" dirty="0">
              <a:solidFill>
                <a:schemeClr val="tx2">
                  <a:lumMod val="90000"/>
                  <a:lumOff val="10000"/>
                </a:schemeClr>
              </a:solidFill>
              <a:latin typeface="Aptos" panose="020B0004020202020204" pitchFamily="34" charset="0"/>
              <a:ea typeface="+mj-ea"/>
              <a:cs typeface="+mj-cs"/>
            </a:endParaRPr>
          </a:p>
        </p:txBody>
      </p:sp>
      <p:pic>
        <p:nvPicPr>
          <p:cNvPr id="5" name="Picture 4">
            <a:extLst>
              <a:ext uri="{FF2B5EF4-FFF2-40B4-BE49-F238E27FC236}">
                <a16:creationId xmlns:a16="http://schemas.microsoft.com/office/drawing/2014/main" id="{EB08CDED-B5F4-BE4F-F8E4-48E9F6407DAD}"/>
              </a:ext>
            </a:extLst>
          </p:cNvPr>
          <p:cNvPicPr>
            <a:picLocks noChangeAspect="1"/>
          </p:cNvPicPr>
          <p:nvPr/>
        </p:nvPicPr>
        <p:blipFill>
          <a:blip r:embed="rId3"/>
          <a:stretch>
            <a:fillRect/>
          </a:stretch>
        </p:blipFill>
        <p:spPr>
          <a:xfrm>
            <a:off x="463154" y="1401625"/>
            <a:ext cx="8217691" cy="4903290"/>
          </a:xfrm>
          <a:prstGeom prst="rect">
            <a:avLst/>
          </a:prstGeom>
        </p:spPr>
      </p:pic>
    </p:spTree>
    <p:extLst>
      <p:ext uri="{BB962C8B-B14F-4D97-AF65-F5344CB8AC3E}">
        <p14:creationId xmlns:p14="http://schemas.microsoft.com/office/powerpoint/2010/main" val="10901639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E3F11-C535-1BF3-4BD3-93D9CAD1C0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81F788-1B56-F4A4-7964-7913095B16B1}"/>
              </a:ext>
            </a:extLst>
          </p:cNvPr>
          <p:cNvSpPr>
            <a:spLocks noGrp="1"/>
          </p:cNvSpPr>
          <p:nvPr>
            <p:ph type="sldNum" sz="quarter" idx="12"/>
          </p:nvPr>
        </p:nvSpPr>
        <p:spPr/>
        <p:txBody>
          <a:bodyPr/>
          <a:lstStyle/>
          <a:p>
            <a:fld id="{AE3E3AF4-E56C-405D-90D1-F29A6618B350}" type="slidenum">
              <a:rPr lang="vi-VN" smtClean="0"/>
              <a:pPr/>
              <a:t>10</a:t>
            </a:fld>
            <a:endParaRPr lang="vi-VN" dirty="0"/>
          </a:p>
        </p:txBody>
      </p:sp>
      <p:sp>
        <p:nvSpPr>
          <p:cNvPr id="6" name="Title 1">
            <a:extLst>
              <a:ext uri="{FF2B5EF4-FFF2-40B4-BE49-F238E27FC236}">
                <a16:creationId xmlns:a16="http://schemas.microsoft.com/office/drawing/2014/main" id="{FFE9132F-5D78-4D9F-5D21-83489796C015}"/>
              </a:ext>
            </a:extLst>
          </p:cNvPr>
          <p:cNvSpPr>
            <a:spLocks noGrp="1"/>
          </p:cNvSpPr>
          <p:nvPr>
            <p:ph type="title"/>
          </p:nvPr>
        </p:nvSpPr>
        <p:spPr>
          <a:xfrm>
            <a:off x="628649" y="301048"/>
            <a:ext cx="6573662" cy="594541"/>
          </a:xfrm>
        </p:spPr>
        <p:txBody>
          <a:bodyPr>
            <a:noAutofit/>
          </a:bodyPr>
          <a:lstStyle/>
          <a:p>
            <a:r>
              <a:rPr lang="vi-VN" sz="3000" dirty="0">
                <a:latin typeface="Aptos" panose="020B0004020202020204" pitchFamily="34" charset="0"/>
              </a:rPr>
              <a:t>BÀI TOÁN TỐI ƯU VÀ PHƯƠNG PHÁP</a:t>
            </a:r>
          </a:p>
        </p:txBody>
      </p:sp>
      <p:sp>
        <p:nvSpPr>
          <p:cNvPr id="7" name="TextBox 6">
            <a:extLst>
              <a:ext uri="{FF2B5EF4-FFF2-40B4-BE49-F238E27FC236}">
                <a16:creationId xmlns:a16="http://schemas.microsoft.com/office/drawing/2014/main" id="{9E9AC66C-1023-0A34-0308-1A91FE6CC94B}"/>
              </a:ext>
            </a:extLst>
          </p:cNvPr>
          <p:cNvSpPr txBox="1"/>
          <p:nvPr/>
        </p:nvSpPr>
        <p:spPr>
          <a:xfrm>
            <a:off x="628651" y="895589"/>
            <a:ext cx="1798460"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Tập ràng buộc</a:t>
            </a:r>
            <a:endParaRPr lang="en-US" sz="2000" b="1" dirty="0">
              <a:solidFill>
                <a:schemeClr val="tx2">
                  <a:lumMod val="90000"/>
                  <a:lumOff val="10000"/>
                </a:schemeClr>
              </a:solidFill>
              <a:latin typeface="Aptos" panose="020B0004020202020204" pitchFamily="34" charset="0"/>
              <a:ea typeface="+mj-ea"/>
              <a:cs typeface="+mj-cs"/>
            </a:endParaRPr>
          </a:p>
        </p:txBody>
      </p:sp>
      <p:sp>
        <p:nvSpPr>
          <p:cNvPr id="5" name="TextBox 4">
            <a:extLst>
              <a:ext uri="{FF2B5EF4-FFF2-40B4-BE49-F238E27FC236}">
                <a16:creationId xmlns:a16="http://schemas.microsoft.com/office/drawing/2014/main" id="{8807208F-46D8-103A-D4A5-CF778E740664}"/>
              </a:ext>
            </a:extLst>
          </p:cNvPr>
          <p:cNvSpPr txBox="1"/>
          <p:nvPr/>
        </p:nvSpPr>
        <p:spPr>
          <a:xfrm>
            <a:off x="628649" y="1490130"/>
            <a:ext cx="5102577" cy="369332"/>
          </a:xfrm>
          <a:prstGeom prst="rect">
            <a:avLst/>
          </a:prstGeom>
          <a:noFill/>
        </p:spPr>
        <p:txBody>
          <a:bodyPr wrap="square">
            <a:spAutoFit/>
          </a:bodyPr>
          <a:lstStyle/>
          <a:p>
            <a:pPr>
              <a:buNone/>
            </a:pPr>
            <a:r>
              <a:rPr lang="vi-VN" b="1" dirty="0">
                <a:latin typeface="+mj-lt"/>
              </a:rPr>
              <a:t>C1. Ràng buộc công suất của </a:t>
            </a:r>
            <a:r>
              <a:rPr lang="vi-VN" b="1" dirty="0" err="1">
                <a:latin typeface="+mj-lt"/>
              </a:rPr>
              <a:t>Splitting</a:t>
            </a:r>
            <a:r>
              <a:rPr lang="vi-VN" b="1" dirty="0">
                <a:latin typeface="+mj-lt"/>
              </a:rPr>
              <a:t> </a:t>
            </a:r>
            <a:r>
              <a:rPr lang="vi-VN" b="1" dirty="0" err="1">
                <a:latin typeface="+mj-lt"/>
              </a:rPr>
              <a:t>User</a:t>
            </a:r>
            <a:endParaRPr lang="vi-VN" dirty="0">
              <a:latin typeface="+mj-lt"/>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5F61A8A-44ED-E84E-C85C-8A10ED05C090}"/>
                  </a:ext>
                </a:extLst>
              </p:cNvPr>
              <p:cNvSpPr txBox="1"/>
              <p:nvPr/>
            </p:nvSpPr>
            <p:spPr>
              <a:xfrm>
                <a:off x="2280356" y="1984511"/>
                <a:ext cx="4583288" cy="3780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vi-VN" b="0" i="1" smtClean="0">
                              <a:latin typeface="Cambria Math" panose="02040503050406030204" pitchFamily="18" charset="0"/>
                            </a:rPr>
                          </m:ctrlPr>
                        </m:mPr>
                        <m:mr>
                          <m:e/>
                          <m:e>
                            <m:r>
                              <m:rPr>
                                <m:nor/>
                              </m:rPr>
                              <a:rPr lang="vi-VN" b="0"/>
                              <m:t> </m:t>
                            </m:r>
                            <m:sSub>
                              <m:sSubPr>
                                <m:ctrlPr>
                                  <a:rPr lang="vi-VN" b="0" i="1">
                                    <a:latin typeface="Cambria Math" panose="02040503050406030204" pitchFamily="18" charset="0"/>
                                  </a:rPr>
                                </m:ctrlPr>
                              </m:sSubPr>
                              <m:e>
                                <m:r>
                                  <a:rPr lang="vi-VN" b="0" i="1">
                                    <a:latin typeface="Cambria Math" panose="02040503050406030204" pitchFamily="18" charset="0"/>
                                  </a:rPr>
                                  <m:t>𝑝</m:t>
                                </m:r>
                              </m:e>
                              <m:sub>
                                <m:sSup>
                                  <m:sSupPr>
                                    <m:ctrlPr>
                                      <a:rPr lang="vi-VN" b="0" i="1" smtClean="0">
                                        <a:latin typeface="Cambria Math" panose="02040503050406030204" pitchFamily="18" charset="0"/>
                                      </a:rPr>
                                    </m:ctrlPr>
                                  </m:sSupPr>
                                  <m:e>
                                    <m:r>
                                      <a:rPr lang="vi-VN" b="0" i="1">
                                        <a:latin typeface="Cambria Math" panose="02040503050406030204" pitchFamily="18" charset="0"/>
                                      </a:rPr>
                                      <m:t>𝑗</m:t>
                                    </m:r>
                                  </m:e>
                                  <m:sup>
                                    <m:r>
                                      <a:rPr lang="vi-VN" b="0" i="0">
                                        <a:latin typeface="Cambria Math" panose="02040503050406030204" pitchFamily="18" charset="0"/>
                                      </a:rPr>
                                      <m:t>∗</m:t>
                                    </m:r>
                                  </m:sup>
                                </m:sSup>
                                <m:r>
                                  <a:rPr lang="vi-VN" b="0" i="0" smtClean="0">
                                    <a:latin typeface="Cambria Math" panose="02040503050406030204" pitchFamily="18" charset="0"/>
                                  </a:rPr>
                                  <m:t>,1</m:t>
                                </m:r>
                              </m:sub>
                            </m:sSub>
                            <m:r>
                              <a:rPr lang="vi-VN" b="0" i="0">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𝑝</m:t>
                                </m:r>
                              </m:e>
                              <m:sub>
                                <m:sSup>
                                  <m:sSupPr>
                                    <m:ctrlPr>
                                      <a:rPr lang="vi-VN" b="0" i="1">
                                        <a:latin typeface="Cambria Math" panose="02040503050406030204" pitchFamily="18" charset="0"/>
                                      </a:rPr>
                                    </m:ctrlPr>
                                  </m:sSupPr>
                                  <m:e>
                                    <m:r>
                                      <a:rPr lang="vi-VN" b="0" i="1">
                                        <a:latin typeface="Cambria Math" panose="02040503050406030204" pitchFamily="18" charset="0"/>
                                      </a:rPr>
                                      <m:t>𝑗</m:t>
                                    </m:r>
                                  </m:e>
                                  <m:sup>
                                    <m:r>
                                      <a:rPr lang="vi-VN" b="0" i="0">
                                        <a:latin typeface="Cambria Math" panose="02040503050406030204" pitchFamily="18" charset="0"/>
                                      </a:rPr>
                                      <m:t>∗</m:t>
                                    </m:r>
                                  </m:sup>
                                </m:sSup>
                                <m:r>
                                  <a:rPr lang="vi-VN" b="0" i="0">
                                    <a:latin typeface="Cambria Math" panose="02040503050406030204" pitchFamily="18" charset="0"/>
                                  </a:rPr>
                                  <m:t>,2</m:t>
                                </m:r>
                              </m:sub>
                            </m:sSub>
                            <m:r>
                              <a:rPr lang="vi-VN" b="0" i="0">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𝑃</m:t>
                                </m:r>
                              </m:e>
                              <m:sub>
                                <m:r>
                                  <a:rPr lang="vi-VN" b="0" i="1">
                                    <a:latin typeface="Cambria Math" panose="02040503050406030204" pitchFamily="18" charset="0"/>
                                  </a:rPr>
                                  <m:t>𝑠</m:t>
                                </m:r>
                                <m:r>
                                  <a:rPr lang="vi-VN" b="0" i="0">
                                    <a:latin typeface="Cambria Math" panose="02040503050406030204" pitchFamily="18" charset="0"/>
                                  </a:rPr>
                                  <m:t>,</m:t>
                                </m:r>
                                <m:r>
                                  <m:rPr>
                                    <m:sty m:val="p"/>
                                  </m:rPr>
                                  <a:rPr lang="vi-VN" i="1">
                                    <a:latin typeface="Cambria Math" panose="02040503050406030204" pitchFamily="18" charset="0"/>
                                  </a:rPr>
                                  <m:t>max</m:t>
                                </m:r>
                              </m:sub>
                            </m:sSub>
                          </m:e>
                          <m:e/>
                          <m:e/>
                        </m:mr>
                      </m:m>
                    </m:oMath>
                  </m:oMathPara>
                </a14:m>
                <a:endParaRPr lang="vi-VN" dirty="0"/>
              </a:p>
            </p:txBody>
          </p:sp>
        </mc:Choice>
        <mc:Fallback>
          <p:sp>
            <p:nvSpPr>
              <p:cNvPr id="9" name="TextBox 8">
                <a:extLst>
                  <a:ext uri="{FF2B5EF4-FFF2-40B4-BE49-F238E27FC236}">
                    <a16:creationId xmlns:a16="http://schemas.microsoft.com/office/drawing/2014/main" id="{45F61A8A-44ED-E84E-C85C-8A10ED05C090}"/>
                  </a:ext>
                </a:extLst>
              </p:cNvPr>
              <p:cNvSpPr txBox="1">
                <a:spLocks noRot="1" noChangeAspect="1" noMove="1" noResize="1" noEditPoints="1" noAdjustHandles="1" noChangeArrowheads="1" noChangeShapeType="1" noTextEdit="1"/>
              </p:cNvSpPr>
              <p:nvPr/>
            </p:nvSpPr>
            <p:spPr>
              <a:xfrm>
                <a:off x="2280356" y="1984511"/>
                <a:ext cx="4583288" cy="378052"/>
              </a:xfrm>
              <a:prstGeom prst="rect">
                <a:avLst/>
              </a:prstGeom>
              <a:blipFill>
                <a:blip r:embed="rId3"/>
                <a:stretch>
                  <a:fillRect b="-1613"/>
                </a:stretch>
              </a:blipFill>
            </p:spPr>
            <p:txBody>
              <a:bodyPr/>
              <a:lstStyle/>
              <a:p>
                <a:r>
                  <a:rPr lang="vi-VN">
                    <a:noFill/>
                  </a:rPr>
                  <a:t> </a:t>
                </a:r>
              </a:p>
            </p:txBody>
          </p:sp>
        </mc:Fallback>
      </mc:AlternateContent>
      <p:sp>
        <p:nvSpPr>
          <p:cNvPr id="11" name="TextBox 10">
            <a:extLst>
              <a:ext uri="{FF2B5EF4-FFF2-40B4-BE49-F238E27FC236}">
                <a16:creationId xmlns:a16="http://schemas.microsoft.com/office/drawing/2014/main" id="{21B15798-A7B3-41FE-3A7F-018EE877F89F}"/>
              </a:ext>
            </a:extLst>
          </p:cNvPr>
          <p:cNvSpPr txBox="1"/>
          <p:nvPr/>
        </p:nvSpPr>
        <p:spPr>
          <a:xfrm>
            <a:off x="628648" y="2454003"/>
            <a:ext cx="5102577" cy="369332"/>
          </a:xfrm>
          <a:prstGeom prst="rect">
            <a:avLst/>
          </a:prstGeom>
          <a:noFill/>
        </p:spPr>
        <p:txBody>
          <a:bodyPr wrap="square">
            <a:spAutoFit/>
          </a:bodyPr>
          <a:lstStyle/>
          <a:p>
            <a:r>
              <a:rPr lang="vi-VN" b="1" dirty="0">
                <a:latin typeface="+mj-lt"/>
              </a:rPr>
              <a:t>C2. Ràng buộc công suất của Non-</a:t>
            </a:r>
            <a:r>
              <a:rPr lang="vi-VN" b="1" dirty="0" err="1">
                <a:latin typeface="+mj-lt"/>
              </a:rPr>
              <a:t>Splitting</a:t>
            </a:r>
            <a:r>
              <a:rPr lang="vi-VN" b="1" dirty="0">
                <a:latin typeface="+mj-lt"/>
              </a:rPr>
              <a:t> </a:t>
            </a:r>
            <a:r>
              <a:rPr lang="vi-VN" b="1" dirty="0" err="1">
                <a:latin typeface="+mj-lt"/>
              </a:rPr>
              <a:t>Users</a:t>
            </a:r>
            <a:endParaRPr lang="vi-VN" b="1" dirty="0">
              <a:latin typeface="+mj-lt"/>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20A416A-A2FB-68DF-CF98-CE94BD15BB2E}"/>
                  </a:ext>
                </a:extLst>
              </p:cNvPr>
              <p:cNvSpPr txBox="1"/>
              <p:nvPr/>
            </p:nvSpPr>
            <p:spPr>
              <a:xfrm>
                <a:off x="2280356" y="2957104"/>
                <a:ext cx="45832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vi-VN" i="1">
                              <a:latin typeface="Cambria Math" panose="02040503050406030204" pitchFamily="18" charset="0"/>
                            </a:rPr>
                          </m:ctrlPr>
                        </m:mPr>
                        <m:mr>
                          <m:e/>
                          <m:e>
                            <m:sSub>
                              <m:sSubPr>
                                <m:ctrlPr>
                                  <a:rPr lang="vi-VN" i="1">
                                    <a:latin typeface="Cambria Math" panose="02040503050406030204" pitchFamily="18" charset="0"/>
                                  </a:rPr>
                                </m:ctrlPr>
                              </m:sSubPr>
                              <m:e>
                                <m:r>
                                  <a:rPr lang="vi-VN" i="1">
                                    <a:latin typeface="Cambria Math" panose="02040503050406030204" pitchFamily="18" charset="0"/>
                                  </a:rPr>
                                  <m:t>𝑝</m:t>
                                </m:r>
                              </m:e>
                              <m:sub>
                                <m:r>
                                  <a:rPr lang="vi-VN" i="1">
                                    <a:latin typeface="Cambria Math" panose="02040503050406030204" pitchFamily="18" charset="0"/>
                                  </a:rPr>
                                  <m:t>𝑘</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𝑃</m:t>
                                </m:r>
                              </m:e>
                              <m:sub>
                                <m:r>
                                  <a:rPr lang="vi-VN" i="1">
                                    <a:latin typeface="Cambria Math" panose="02040503050406030204" pitchFamily="18" charset="0"/>
                                  </a:rPr>
                                  <m:t>𝑠</m:t>
                                </m:r>
                                <m:r>
                                  <a:rPr lang="vi-VN" i="1">
                                    <a:latin typeface="Cambria Math" panose="02040503050406030204" pitchFamily="18" charset="0"/>
                                  </a:rPr>
                                  <m:t>,</m:t>
                                </m:r>
                                <m:r>
                                  <m:rPr>
                                    <m:sty m:val="p"/>
                                  </m:rPr>
                                  <a:rPr lang="vi-VN" i="1">
                                    <a:latin typeface="Cambria Math" panose="02040503050406030204" pitchFamily="18" charset="0"/>
                                  </a:rPr>
                                  <m:t>max</m:t>
                                </m:r>
                              </m:sub>
                            </m:sSub>
                            <m:r>
                              <a:rPr lang="vi-VN" i="1">
                                <a:latin typeface="Cambria Math" panose="02040503050406030204" pitchFamily="18" charset="0"/>
                              </a:rPr>
                              <m:t>,</m:t>
                            </m:r>
                            <m:r>
                              <a:rPr lang="vi-VN" i="1">
                                <a:latin typeface="Cambria Math" panose="02040503050406030204" pitchFamily="18" charset="0"/>
                              </a:rPr>
                              <m:t>𝑘</m:t>
                            </m:r>
                            <m:r>
                              <a:rPr lang="vi-VN" i="1">
                                <a:latin typeface="Cambria Math" panose="02040503050406030204" pitchFamily="18" charset="0"/>
                              </a:rPr>
                              <m:t>≠</m:t>
                            </m:r>
                            <m:sSup>
                              <m:sSupPr>
                                <m:ctrlPr>
                                  <a:rPr lang="vi-VN" i="1">
                                    <a:latin typeface="Cambria Math" panose="02040503050406030204" pitchFamily="18" charset="0"/>
                                  </a:rPr>
                                </m:ctrlPr>
                              </m:sSupPr>
                              <m:e>
                                <m:r>
                                  <a:rPr lang="vi-VN" i="1">
                                    <a:latin typeface="Cambria Math" panose="02040503050406030204" pitchFamily="18" charset="0"/>
                                  </a:rPr>
                                  <m:t>𝑗</m:t>
                                </m:r>
                              </m:e>
                              <m:sup>
                                <m:r>
                                  <a:rPr lang="vi-VN" i="1">
                                    <a:latin typeface="Cambria Math" panose="02040503050406030204" pitchFamily="18" charset="0"/>
                                  </a:rPr>
                                  <m:t>∗</m:t>
                                </m:r>
                              </m:sup>
                            </m:sSup>
                          </m:e>
                          <m:e/>
                          <m:e/>
                        </m:mr>
                      </m:m>
                    </m:oMath>
                  </m:oMathPara>
                </a14:m>
                <a:endParaRPr lang="vi-VN" i="1" dirty="0">
                  <a:latin typeface="Cambria Math" panose="02040503050406030204" pitchFamily="18" charset="0"/>
                </a:endParaRPr>
              </a:p>
            </p:txBody>
          </p:sp>
        </mc:Choice>
        <mc:Fallback>
          <p:sp>
            <p:nvSpPr>
              <p:cNvPr id="13" name="TextBox 12">
                <a:extLst>
                  <a:ext uri="{FF2B5EF4-FFF2-40B4-BE49-F238E27FC236}">
                    <a16:creationId xmlns:a16="http://schemas.microsoft.com/office/drawing/2014/main" id="{820A416A-A2FB-68DF-CF98-CE94BD15BB2E}"/>
                  </a:ext>
                </a:extLst>
              </p:cNvPr>
              <p:cNvSpPr txBox="1">
                <a:spLocks noRot="1" noChangeAspect="1" noMove="1" noResize="1" noEditPoints="1" noAdjustHandles="1" noChangeArrowheads="1" noChangeShapeType="1" noTextEdit="1"/>
              </p:cNvSpPr>
              <p:nvPr/>
            </p:nvSpPr>
            <p:spPr>
              <a:xfrm>
                <a:off x="2280356" y="2957104"/>
                <a:ext cx="4583288" cy="369332"/>
              </a:xfrm>
              <a:prstGeom prst="rect">
                <a:avLst/>
              </a:prstGeom>
              <a:blipFill>
                <a:blip r:embed="rId4"/>
                <a:stretch>
                  <a:fillRect b="-9836"/>
                </a:stretch>
              </a:blipFill>
            </p:spPr>
            <p:txBody>
              <a:bodyPr/>
              <a:lstStyle/>
              <a:p>
                <a:r>
                  <a:rPr lang="vi-VN">
                    <a:noFill/>
                  </a:rPr>
                  <a:t> </a:t>
                </a:r>
              </a:p>
            </p:txBody>
          </p:sp>
        </mc:Fallback>
      </mc:AlternateContent>
      <p:sp>
        <p:nvSpPr>
          <p:cNvPr id="15" name="TextBox 14">
            <a:extLst>
              <a:ext uri="{FF2B5EF4-FFF2-40B4-BE49-F238E27FC236}">
                <a16:creationId xmlns:a16="http://schemas.microsoft.com/office/drawing/2014/main" id="{A60B4402-2538-594E-B147-143F4937B834}"/>
              </a:ext>
            </a:extLst>
          </p:cNvPr>
          <p:cNvSpPr txBox="1"/>
          <p:nvPr/>
        </p:nvSpPr>
        <p:spPr>
          <a:xfrm>
            <a:off x="628647" y="3460205"/>
            <a:ext cx="5102577" cy="369332"/>
          </a:xfrm>
          <a:prstGeom prst="rect">
            <a:avLst/>
          </a:prstGeom>
          <a:noFill/>
        </p:spPr>
        <p:txBody>
          <a:bodyPr wrap="square">
            <a:spAutoFit/>
          </a:bodyPr>
          <a:lstStyle/>
          <a:p>
            <a:r>
              <a:rPr lang="vi-VN" b="1" dirty="0">
                <a:latin typeface="+mj-lt"/>
              </a:rPr>
              <a:t>C3. Ràng buộc nhiễu </a:t>
            </a:r>
            <a:r>
              <a:rPr lang="vi-VN" b="1" dirty="0" err="1">
                <a:latin typeface="+mj-lt"/>
              </a:rPr>
              <a:t>Cognitive</a:t>
            </a:r>
            <a:r>
              <a:rPr lang="vi-VN" b="1" dirty="0">
                <a:latin typeface="+mj-lt"/>
              </a:rPr>
              <a:t> </a:t>
            </a:r>
            <a:r>
              <a:rPr lang="vi-VN" b="1" dirty="0" err="1">
                <a:latin typeface="+mj-lt"/>
              </a:rPr>
              <a:t>Radio</a:t>
            </a:r>
            <a:r>
              <a:rPr lang="vi-VN" b="1" dirty="0">
                <a:latin typeface="+mj-lt"/>
              </a:rPr>
              <a:t> (</a:t>
            </a:r>
            <a:r>
              <a:rPr lang="vi-VN" b="1" dirty="0" err="1">
                <a:latin typeface="+mj-lt"/>
              </a:rPr>
              <a:t>Underlay</a:t>
            </a:r>
            <a:r>
              <a:rPr lang="vi-VN" b="1" dirty="0">
                <a:latin typeface="+mj-lt"/>
              </a:rPr>
              <a:t>)</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4406C011-2BD8-F747-1B52-B730183F70F2}"/>
                  </a:ext>
                </a:extLst>
              </p:cNvPr>
              <p:cNvSpPr txBox="1"/>
              <p:nvPr/>
            </p:nvSpPr>
            <p:spPr>
              <a:xfrm>
                <a:off x="2344702" y="3993864"/>
                <a:ext cx="4454596"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vi-VN" i="1">
                              <a:latin typeface="Cambria Math" panose="02040503050406030204" pitchFamily="18" charset="0"/>
                            </a:rPr>
                          </m:ctrlPr>
                        </m:mPr>
                        <m:mr>
                          <m:e/>
                          <m:e>
                            <m:nary>
                              <m:naryPr>
                                <m:chr m:val="∑"/>
                                <m:limLoc m:val="undOvr"/>
                                <m:grow m:val="on"/>
                                <m:supHide m:val="on"/>
                                <m:ctrlPr>
                                  <a:rPr lang="vi-VN" i="1">
                                    <a:latin typeface="Cambria Math" panose="02040503050406030204" pitchFamily="18" charset="0"/>
                                  </a:rPr>
                                </m:ctrlPr>
                              </m:naryPr>
                              <m:sub>
                                <m:r>
                                  <a:rPr lang="vi-VN" i="1">
                                    <a:latin typeface="Cambria Math" panose="02040503050406030204" pitchFamily="18" charset="0"/>
                                  </a:rPr>
                                  <m:t>𝑚</m:t>
                                </m:r>
                              </m:sub>
                              <m:sup/>
                              <m:e>
                                <m:sSub>
                                  <m:sSubPr>
                                    <m:ctrlPr>
                                      <a:rPr lang="vi-VN" i="1">
                                        <a:latin typeface="Cambria Math" panose="02040503050406030204" pitchFamily="18" charset="0"/>
                                      </a:rPr>
                                    </m:ctrlPr>
                                  </m:sSubPr>
                                  <m:e>
                                    <m:r>
                                      <a:rPr lang="vi-VN" i="1">
                                        <a:latin typeface="Cambria Math" panose="02040503050406030204" pitchFamily="18" charset="0"/>
                                      </a:rPr>
                                      <m:t>𝑝</m:t>
                                    </m:r>
                                  </m:e>
                                  <m:sub>
                                    <m:r>
                                      <a:rPr lang="vi-VN" i="1">
                                        <a:latin typeface="Cambria Math" panose="02040503050406030204" pitchFamily="18" charset="0"/>
                                      </a:rPr>
                                      <m:t>𝑚</m:t>
                                    </m:r>
                                  </m:sub>
                                </m:sSub>
                              </m:e>
                            </m:nary>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𝑔</m:t>
                                </m:r>
                              </m:e>
                              <m:sub>
                                <m:r>
                                  <a:rPr lang="vi-VN" i="1">
                                    <a:latin typeface="Cambria Math" panose="02040503050406030204" pitchFamily="18" charset="0"/>
                                  </a:rPr>
                                  <m:t>𝑚</m:t>
                                </m:r>
                              </m:sub>
                            </m:sSub>
                            <m:sSup>
                              <m:sSupPr>
                                <m:ctrlPr>
                                  <a:rPr lang="vi-VN" i="1">
                                    <a:latin typeface="Cambria Math" panose="02040503050406030204" pitchFamily="18" charset="0"/>
                                  </a:rPr>
                                </m:ctrlPr>
                              </m:sSupPr>
                              <m:e>
                                <m:r>
                                  <a:rPr lang="vi-VN" i="1">
                                    <a:latin typeface="Cambria Math" panose="02040503050406030204" pitchFamily="18" charset="0"/>
                                  </a:rPr>
                                  <m:t>∣</m:t>
                                </m:r>
                              </m:e>
                              <m:sup>
                                <m:r>
                                  <a:rPr lang="vi-VN" i="1">
                                    <a:latin typeface="Cambria Math" panose="02040503050406030204" pitchFamily="18" charset="0"/>
                                  </a:rPr>
                                  <m:t>2</m:t>
                                </m:r>
                              </m:sup>
                            </m:s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𝐼</m:t>
                                </m:r>
                              </m:e>
                              <m:sub>
                                <m:r>
                                  <m:rPr>
                                    <m:nor/>
                                  </m:rPr>
                                  <a:rPr lang="vi-VN" i="1">
                                    <a:latin typeface="Cambria Math" panose="02040503050406030204" pitchFamily="18" charset="0"/>
                                  </a:rPr>
                                  <m:t>th</m:t>
                                </m:r>
                              </m:sub>
                            </m:sSub>
                          </m:e>
                          <m:e/>
                          <m:e/>
                        </m:mr>
                      </m:m>
                    </m:oMath>
                  </m:oMathPara>
                </a14:m>
                <a:endParaRPr lang="vi-VN" i="1" dirty="0">
                  <a:latin typeface="Cambria Math" panose="02040503050406030204" pitchFamily="18" charset="0"/>
                </a:endParaRPr>
              </a:p>
            </p:txBody>
          </p:sp>
        </mc:Choice>
        <mc:Fallback>
          <p:sp>
            <p:nvSpPr>
              <p:cNvPr id="17" name="TextBox 16">
                <a:extLst>
                  <a:ext uri="{FF2B5EF4-FFF2-40B4-BE49-F238E27FC236}">
                    <a16:creationId xmlns:a16="http://schemas.microsoft.com/office/drawing/2014/main" id="{4406C011-2BD8-F747-1B52-B730183F70F2}"/>
                  </a:ext>
                </a:extLst>
              </p:cNvPr>
              <p:cNvSpPr txBox="1">
                <a:spLocks noRot="1" noChangeAspect="1" noMove="1" noResize="1" noEditPoints="1" noAdjustHandles="1" noChangeArrowheads="1" noChangeShapeType="1" noTextEdit="1"/>
              </p:cNvSpPr>
              <p:nvPr/>
            </p:nvSpPr>
            <p:spPr>
              <a:xfrm>
                <a:off x="2344702" y="3993864"/>
                <a:ext cx="4454596" cy="764505"/>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84983658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7531-1BE5-A1D1-B3CA-CC12A377D1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43876E-D123-2A7E-9319-FF946A4F888B}"/>
              </a:ext>
            </a:extLst>
          </p:cNvPr>
          <p:cNvSpPr>
            <a:spLocks noGrp="1"/>
          </p:cNvSpPr>
          <p:nvPr>
            <p:ph type="sldNum" sz="quarter" idx="12"/>
          </p:nvPr>
        </p:nvSpPr>
        <p:spPr/>
        <p:txBody>
          <a:bodyPr/>
          <a:lstStyle/>
          <a:p>
            <a:fld id="{AE3E3AF4-E56C-405D-90D1-F29A6618B350}" type="slidenum">
              <a:rPr lang="vi-VN" smtClean="0"/>
              <a:pPr/>
              <a:t>11</a:t>
            </a:fld>
            <a:endParaRPr lang="vi-VN" dirty="0"/>
          </a:p>
        </p:txBody>
      </p:sp>
      <p:sp>
        <p:nvSpPr>
          <p:cNvPr id="6" name="Title 1">
            <a:extLst>
              <a:ext uri="{FF2B5EF4-FFF2-40B4-BE49-F238E27FC236}">
                <a16:creationId xmlns:a16="http://schemas.microsoft.com/office/drawing/2014/main" id="{A8804D57-95DA-F0A9-332A-7B743D0314EE}"/>
              </a:ext>
            </a:extLst>
          </p:cNvPr>
          <p:cNvSpPr>
            <a:spLocks noGrp="1"/>
          </p:cNvSpPr>
          <p:nvPr>
            <p:ph type="title"/>
          </p:nvPr>
        </p:nvSpPr>
        <p:spPr>
          <a:xfrm>
            <a:off x="628648" y="698343"/>
            <a:ext cx="6483351" cy="594541"/>
          </a:xfrm>
        </p:spPr>
        <p:txBody>
          <a:bodyPr>
            <a:noAutofit/>
          </a:bodyPr>
          <a:lstStyle/>
          <a:p>
            <a:r>
              <a:rPr lang="vi-VN" sz="3000" dirty="0">
                <a:latin typeface="Aptos" panose="020B0004020202020204" pitchFamily="34" charset="0"/>
              </a:rPr>
              <a:t>BÀI TOÁN TỐI ƯU VÀ PHƯƠNG PHÁP</a:t>
            </a:r>
          </a:p>
        </p:txBody>
      </p:sp>
      <p:sp>
        <p:nvSpPr>
          <p:cNvPr id="7" name="TextBox 6">
            <a:extLst>
              <a:ext uri="{FF2B5EF4-FFF2-40B4-BE49-F238E27FC236}">
                <a16:creationId xmlns:a16="http://schemas.microsoft.com/office/drawing/2014/main" id="{9D47DBBF-DD3E-E365-E441-11BAA703A302}"/>
              </a:ext>
            </a:extLst>
          </p:cNvPr>
          <p:cNvSpPr txBox="1"/>
          <p:nvPr/>
        </p:nvSpPr>
        <p:spPr>
          <a:xfrm>
            <a:off x="628650" y="1292884"/>
            <a:ext cx="1494790"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dirty="0">
                <a:solidFill>
                  <a:schemeClr val="tx2">
                    <a:lumMod val="90000"/>
                    <a:lumOff val="10000"/>
                  </a:schemeClr>
                </a:solidFill>
                <a:latin typeface="Aptos" panose="020B0004020202020204" pitchFamily="34" charset="0"/>
                <a:ea typeface="+mj-ea"/>
                <a:cs typeface="+mj-cs"/>
              </a:rPr>
              <a:t>Biến tối ưu</a:t>
            </a:r>
            <a:endParaRPr lang="en-US" sz="2000" b="1" dirty="0">
              <a:solidFill>
                <a:schemeClr val="tx2">
                  <a:lumMod val="90000"/>
                  <a:lumOff val="10000"/>
                </a:schemeClr>
              </a:solidFill>
              <a:latin typeface="Aptos" panose="020B0004020202020204" pitchFamily="34" charset="0"/>
              <a:ea typeface="+mj-ea"/>
              <a:cs typeface="+mj-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A54A2EF-A6C2-0C31-9733-45FE7B6AB3A2}"/>
                  </a:ext>
                </a:extLst>
              </p:cNvPr>
              <p:cNvSpPr txBox="1"/>
              <p:nvPr/>
            </p:nvSpPr>
            <p:spPr>
              <a:xfrm>
                <a:off x="628648" y="1871539"/>
                <a:ext cx="3630835" cy="710259"/>
              </a:xfrm>
              <a:prstGeom prst="rect">
                <a:avLst/>
              </a:prstGeom>
              <a:noFill/>
            </p:spPr>
            <p:txBody>
              <a:bodyPr wrap="square">
                <a:spAutoFit/>
              </a:bodyPr>
              <a:lstStyle/>
              <a:p>
                <a:pPr algn="just"/>
                <a:r>
                  <a:rPr lang="vi-VN" b="1" dirty="0">
                    <a:solidFill>
                      <a:srgbClr val="000000"/>
                    </a:solidFill>
                    <a:latin typeface="Times New Roman" panose="02020603050405020304" pitchFamily="18" charset="0"/>
                    <a:cs typeface="Times New Roman" panose="02020603050405020304" pitchFamily="18" charset="0"/>
                  </a:rPr>
                  <a:t>Hàm mục tiêu</a:t>
                </a:r>
                <a:r>
                  <a:rPr lang="vi-VN" b="1" i="0" u="none" strike="noStrike" dirty="0">
                    <a:solidFill>
                      <a:srgbClr val="000000"/>
                    </a:solidFill>
                    <a:effectLst/>
                    <a:latin typeface="Times New Roman" panose="02020603050405020304" pitchFamily="18" charset="0"/>
                    <a:cs typeface="Times New Roman" panose="02020603050405020304" pitchFamily="18" charset="0"/>
                  </a:rPr>
                  <a:t>:</a:t>
                </a:r>
                <a:r>
                  <a:rPr lang="vi-VN" b="0" i="0" u="none" strike="noStrike" dirty="0">
                    <a:solidFill>
                      <a:srgbClr val="000000"/>
                    </a:solidFill>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lang="vi-VN" i="1">
                            <a:latin typeface="Cambria Math" panose="02040503050406030204" pitchFamily="18" charset="0"/>
                          </a:rPr>
                        </m:ctrlPr>
                      </m:sSubPr>
                      <m:e>
                        <m:r>
                          <m:rPr>
                            <m:sty m:val="p"/>
                          </m:rPr>
                          <a:rPr lang="vi-VN">
                            <a:latin typeface="Cambria Math" panose="02040503050406030204" pitchFamily="18" charset="0"/>
                          </a:rPr>
                          <m:t>max</m:t>
                        </m:r>
                      </m:e>
                      <m:sub>
                        <m:r>
                          <a:rPr lang="vi-VN" b="1">
                            <a:latin typeface="Cambria Math" panose="02040503050406030204" pitchFamily="18" charset="0"/>
                          </a:rPr>
                          <m:t>𝐩</m:t>
                        </m:r>
                      </m:sub>
                    </m:sSub>
                    <m:r>
                      <a:rPr lang="vi-VN">
                        <a:latin typeface="Cambria Math" panose="02040503050406030204" pitchFamily="18" charset="0"/>
                      </a:rPr>
                      <m:t> </m:t>
                    </m:r>
                    <m:sSub>
                      <m:sSubPr>
                        <m:ctrlPr>
                          <a:rPr lang="vi-VN" i="1">
                            <a:latin typeface="Cambria Math" panose="02040503050406030204" pitchFamily="18" charset="0"/>
                          </a:rPr>
                        </m:ctrlPr>
                      </m:sSubPr>
                      <m:e>
                        <m:r>
                          <m:rPr>
                            <m:sty m:val="p"/>
                          </m:rPr>
                          <a:rPr lang="vi-VN">
                            <a:latin typeface="Cambria Math" panose="02040503050406030204" pitchFamily="18" charset="0"/>
                          </a:rPr>
                          <m:t>min</m:t>
                        </m:r>
                      </m:e>
                      <m:sub>
                        <m:r>
                          <a:rPr lang="vi-VN" i="1">
                            <a:latin typeface="Cambria Math" panose="02040503050406030204" pitchFamily="18" charset="0"/>
                          </a:rPr>
                          <m:t>𝑘</m:t>
                        </m:r>
                        <m:r>
                          <a:rPr lang="vi-VN" i="1">
                            <a:latin typeface="Cambria Math" panose="02040503050406030204" pitchFamily="18" charset="0"/>
                          </a:rPr>
                          <m:t>∈</m:t>
                        </m:r>
                        <m:r>
                          <a:rPr lang="vi-VN" i="1">
                            <a:latin typeface="Cambria Math" panose="02040503050406030204" pitchFamily="18" charset="0"/>
                          </a:rPr>
                          <m:t>𝒦</m:t>
                        </m:r>
                      </m:sub>
                    </m:sSub>
                    <m:sSubSup>
                      <m:sSubSupPr>
                        <m:ctrlPr>
                          <a:rPr lang="vi-VN" i="1">
                            <a:latin typeface="Cambria Math" panose="02040503050406030204" pitchFamily="18" charset="0"/>
                          </a:rPr>
                        </m:ctrlPr>
                      </m:sSubSupPr>
                      <m:e>
                        <m:r>
                          <a:rPr lang="vi-VN" i="1">
                            <a:latin typeface="Cambria Math" panose="02040503050406030204" pitchFamily="18" charset="0"/>
                          </a:rPr>
                          <m:t>𝑅</m:t>
                        </m:r>
                      </m:e>
                      <m:sub>
                        <m:r>
                          <a:rPr lang="vi-VN" i="1">
                            <a:latin typeface="Cambria Math" panose="02040503050406030204" pitchFamily="18" charset="0"/>
                          </a:rPr>
                          <m:t>𝑘</m:t>
                        </m:r>
                      </m:sub>
                      <m:sup>
                        <m:r>
                          <a:rPr lang="vi-VN" i="1">
                            <a:latin typeface="Cambria Math" panose="02040503050406030204" pitchFamily="18" charset="0"/>
                          </a:rPr>
                          <m:t>𝑄𝑜𝐸</m:t>
                        </m:r>
                      </m:sup>
                    </m:sSubSup>
                  </m:oMath>
                </a14:m>
                <a:endParaRPr lang="vi-VN" dirty="0"/>
              </a:p>
              <a:p>
                <a:pPr algn="just" rtl="0">
                  <a:buNone/>
                </a:pPr>
                <a:endParaRPr lang="vi-VN" b="0" dirty="0">
                  <a:effectLst/>
                  <a:latin typeface="Times New Roman" panose="02020603050405020304" pitchFamily="18" charset="0"/>
                  <a:cs typeface="Times New Roman" panose="02020603050405020304" pitchFamily="18" charset="0"/>
                </a:endParaRPr>
              </a:p>
            </p:txBody>
          </p:sp>
        </mc:Choice>
        <mc:Fallback>
          <p:sp>
            <p:nvSpPr>
              <p:cNvPr id="2" name="TextBox 1">
                <a:extLst>
                  <a:ext uri="{FF2B5EF4-FFF2-40B4-BE49-F238E27FC236}">
                    <a16:creationId xmlns:a16="http://schemas.microsoft.com/office/drawing/2014/main" id="{BA54A2EF-A6C2-0C31-9733-45FE7B6AB3A2}"/>
                  </a:ext>
                </a:extLst>
              </p:cNvPr>
              <p:cNvSpPr txBox="1">
                <a:spLocks noRot="1" noChangeAspect="1" noMove="1" noResize="1" noEditPoints="1" noAdjustHandles="1" noChangeArrowheads="1" noChangeShapeType="1" noTextEdit="1"/>
              </p:cNvSpPr>
              <p:nvPr/>
            </p:nvSpPr>
            <p:spPr>
              <a:xfrm>
                <a:off x="628648" y="1871539"/>
                <a:ext cx="3630835" cy="710259"/>
              </a:xfrm>
              <a:prstGeom prst="rect">
                <a:avLst/>
              </a:prstGeom>
              <a:blipFill>
                <a:blip r:embed="rId3"/>
                <a:stretch>
                  <a:fillRect l="-1342"/>
                </a:stretch>
              </a:blipFill>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71FFDBA9-18D3-655E-1537-A375E9AAC682}"/>
              </a:ext>
            </a:extLst>
          </p:cNvPr>
          <p:cNvGrpSpPr/>
          <p:nvPr/>
        </p:nvGrpSpPr>
        <p:grpSpPr>
          <a:xfrm>
            <a:off x="0" y="3043265"/>
            <a:ext cx="9144000" cy="1818101"/>
            <a:chOff x="280388" y="2140164"/>
            <a:chExt cx="8583223" cy="1589033"/>
          </a:xfrm>
        </p:grpSpPr>
        <p:pic>
          <p:nvPicPr>
            <p:cNvPr id="13" name="Picture 12">
              <a:extLst>
                <a:ext uri="{FF2B5EF4-FFF2-40B4-BE49-F238E27FC236}">
                  <a16:creationId xmlns:a16="http://schemas.microsoft.com/office/drawing/2014/main" id="{178290A9-EF38-4249-D371-79E05B5D56F1}"/>
                </a:ext>
              </a:extLst>
            </p:cNvPr>
            <p:cNvPicPr>
              <a:picLocks noChangeAspect="1"/>
            </p:cNvPicPr>
            <p:nvPr/>
          </p:nvPicPr>
          <p:blipFill>
            <a:blip r:embed="rId4"/>
            <a:stretch>
              <a:fillRect/>
            </a:stretch>
          </p:blipFill>
          <p:spPr>
            <a:xfrm>
              <a:off x="3538392" y="2140164"/>
              <a:ext cx="2067213" cy="552527"/>
            </a:xfrm>
            <a:prstGeom prst="rect">
              <a:avLst/>
            </a:prstGeom>
          </p:spPr>
        </p:pic>
        <p:pic>
          <p:nvPicPr>
            <p:cNvPr id="15" name="Picture 14">
              <a:extLst>
                <a:ext uri="{FF2B5EF4-FFF2-40B4-BE49-F238E27FC236}">
                  <a16:creationId xmlns:a16="http://schemas.microsoft.com/office/drawing/2014/main" id="{99FA2A76-0A47-E582-6E1A-2E13C2E20F73}"/>
                </a:ext>
              </a:extLst>
            </p:cNvPr>
            <p:cNvPicPr>
              <a:picLocks noChangeAspect="1"/>
            </p:cNvPicPr>
            <p:nvPr/>
          </p:nvPicPr>
          <p:blipFill>
            <a:blip r:embed="rId5"/>
            <a:stretch>
              <a:fillRect/>
            </a:stretch>
          </p:blipFill>
          <p:spPr>
            <a:xfrm>
              <a:off x="280388" y="2833722"/>
              <a:ext cx="8583223" cy="895475"/>
            </a:xfrm>
            <a:prstGeom prst="rect">
              <a:avLst/>
            </a:prstGeom>
          </p:spPr>
        </p:pic>
      </p:grpSp>
    </p:spTree>
    <p:extLst>
      <p:ext uri="{BB962C8B-B14F-4D97-AF65-F5344CB8AC3E}">
        <p14:creationId xmlns:p14="http://schemas.microsoft.com/office/powerpoint/2010/main" val="16920242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D304-A4A1-603E-EF5B-91FD2CB2F1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D937B8-A40E-5F13-AF57-B17513D4830C}"/>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12</a:t>
            </a:fld>
            <a:endParaRPr lang="vi-VN" sz="1900"/>
          </a:p>
        </p:txBody>
      </p:sp>
      <p:sp>
        <p:nvSpPr>
          <p:cNvPr id="8" name="TextBox 7">
            <a:extLst>
              <a:ext uri="{FF2B5EF4-FFF2-40B4-BE49-F238E27FC236}">
                <a16:creationId xmlns:a16="http://schemas.microsoft.com/office/drawing/2014/main" id="{2EB5DE2D-E2DD-C407-255E-6D9BA09CC8D3}"/>
              </a:ext>
            </a:extLst>
          </p:cNvPr>
          <p:cNvSpPr txBox="1"/>
          <p:nvPr/>
        </p:nvSpPr>
        <p:spPr>
          <a:xfrm>
            <a:off x="364537" y="2324458"/>
            <a:ext cx="7297904" cy="1631216"/>
          </a:xfrm>
          <a:prstGeom prst="rect">
            <a:avLst/>
          </a:prstGeom>
          <a:noFill/>
        </p:spPr>
        <p:txBody>
          <a:bodyPr wrap="square">
            <a:spAutoFit/>
          </a:bodyPr>
          <a:lstStyle/>
          <a:p>
            <a:r>
              <a:rPr lang="vi-VN" sz="2000" b="1" dirty="0">
                <a:latin typeface="+mj-lt"/>
              </a:rPr>
              <a:t>Ý tưởng chính:</a:t>
            </a:r>
            <a:endParaRPr lang="vi-VN" sz="2000" dirty="0">
              <a:latin typeface="+mj-lt"/>
            </a:endParaRPr>
          </a:p>
          <a:p>
            <a:pPr marL="342900" indent="-342900">
              <a:buFont typeface="Arial" panose="020B0604020202020204" pitchFamily="34" charset="0"/>
              <a:buChar char="•"/>
            </a:pPr>
            <a:r>
              <a:rPr lang="vi-VN" sz="2000" dirty="0">
                <a:latin typeface="+mj-lt"/>
              </a:rPr>
              <a:t>Xấp xỉ bài toán phi lồi bằng một bài toán lồi tại mỗi vòng lặp.</a:t>
            </a:r>
          </a:p>
          <a:p>
            <a:pPr marL="342900" indent="-342900">
              <a:buFont typeface="Arial" panose="020B0604020202020204" pitchFamily="34" charset="0"/>
              <a:buChar char="•"/>
            </a:pPr>
            <a:r>
              <a:rPr lang="vi-VN" sz="2000" dirty="0">
                <a:latin typeface="+mj-lt"/>
              </a:rPr>
              <a:t>Giải bài toán lồi để tìm nghiệm tạm thời.</a:t>
            </a:r>
          </a:p>
          <a:p>
            <a:pPr marL="342900" indent="-342900">
              <a:buFont typeface="Arial" panose="020B0604020202020204" pitchFamily="34" charset="0"/>
              <a:buChar char="•"/>
            </a:pPr>
            <a:r>
              <a:rPr lang="vi-VN" sz="2000" dirty="0">
                <a:latin typeface="+mj-lt"/>
              </a:rPr>
              <a:t>Cập nhật điểm tuyến tính hóa.</a:t>
            </a:r>
          </a:p>
          <a:p>
            <a:pPr marL="342900" indent="-342900">
              <a:buFont typeface="Arial" panose="020B0604020202020204" pitchFamily="34" charset="0"/>
              <a:buChar char="•"/>
            </a:pPr>
            <a:r>
              <a:rPr lang="vi-VN" sz="2000" dirty="0">
                <a:latin typeface="+mj-lt"/>
              </a:rPr>
              <a:t>Lặp lại cho đến khi hội tụ.</a:t>
            </a:r>
          </a:p>
        </p:txBody>
      </p:sp>
      <p:sp>
        <p:nvSpPr>
          <p:cNvPr id="11" name="Title 1">
            <a:extLst>
              <a:ext uri="{FF2B5EF4-FFF2-40B4-BE49-F238E27FC236}">
                <a16:creationId xmlns:a16="http://schemas.microsoft.com/office/drawing/2014/main" id="{7EADADDD-0D1A-6B44-24F2-0C580C092DA9}"/>
              </a:ext>
            </a:extLst>
          </p:cNvPr>
          <p:cNvSpPr txBox="1">
            <a:spLocks/>
          </p:cNvSpPr>
          <p:nvPr/>
        </p:nvSpPr>
        <p:spPr>
          <a:xfrm>
            <a:off x="364538" y="946548"/>
            <a:ext cx="5802581" cy="6889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3200" b="1" kern="1200">
                <a:solidFill>
                  <a:schemeClr val="tx2">
                    <a:lumMod val="90000"/>
                    <a:lumOff val="10000"/>
                  </a:schemeClr>
                </a:solidFill>
                <a:latin typeface="+mj-lt"/>
                <a:ea typeface="+mj-ea"/>
                <a:cs typeface="+mj-cs"/>
              </a:defRPr>
            </a:lvl1pPr>
          </a:lstStyle>
          <a:p>
            <a:r>
              <a:rPr lang="vi-VN" sz="3000" dirty="0">
                <a:latin typeface="Aptos" panose="020B0004020202020204" pitchFamily="34" charset="0"/>
              </a:rPr>
              <a:t>BÀI TOÁN TỐI ƯU VÀ PHƯƠNG PHÁP</a:t>
            </a:r>
            <a:endParaRPr lang="en-US" sz="3000" dirty="0">
              <a:latin typeface="+mn-lt"/>
            </a:endParaRPr>
          </a:p>
        </p:txBody>
      </p:sp>
      <p:sp>
        <p:nvSpPr>
          <p:cNvPr id="2" name="TextBox 1">
            <a:extLst>
              <a:ext uri="{FF2B5EF4-FFF2-40B4-BE49-F238E27FC236}">
                <a16:creationId xmlns:a16="http://schemas.microsoft.com/office/drawing/2014/main" id="{F00C69CE-D7E2-2F96-1B58-2F8562F43167}"/>
              </a:ext>
            </a:extLst>
          </p:cNvPr>
          <p:cNvSpPr txBox="1"/>
          <p:nvPr/>
        </p:nvSpPr>
        <p:spPr>
          <a:xfrm>
            <a:off x="364537" y="1426856"/>
            <a:ext cx="4300060"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dirty="0">
                <a:solidFill>
                  <a:schemeClr val="tx2">
                    <a:lumMod val="90000"/>
                    <a:lumOff val="10000"/>
                  </a:schemeClr>
                </a:solidFill>
                <a:latin typeface="Aptos" panose="020B0004020202020204" pitchFamily="34" charset="0"/>
                <a:ea typeface="+mj-ea"/>
                <a:cs typeface="+mj-cs"/>
              </a:rPr>
              <a:t>Thuật toán xấp </a:t>
            </a:r>
            <a:r>
              <a:rPr lang="vi-VN" sz="2000" b="1">
                <a:solidFill>
                  <a:schemeClr val="tx2">
                    <a:lumMod val="90000"/>
                    <a:lumOff val="10000"/>
                  </a:schemeClr>
                </a:solidFill>
                <a:latin typeface="Aptos" panose="020B0004020202020204" pitchFamily="34" charset="0"/>
                <a:ea typeface="+mj-ea"/>
                <a:cs typeface="+mj-cs"/>
              </a:rPr>
              <a:t>xỉ lồi liên tiếp </a:t>
            </a:r>
            <a:r>
              <a:rPr lang="vi-VN" sz="2000" b="1" dirty="0">
                <a:solidFill>
                  <a:schemeClr val="tx2">
                    <a:lumMod val="90000"/>
                    <a:lumOff val="10000"/>
                  </a:schemeClr>
                </a:solidFill>
                <a:latin typeface="Aptos" panose="020B0004020202020204" pitchFamily="34" charset="0"/>
                <a:ea typeface="+mj-ea"/>
                <a:cs typeface="+mj-cs"/>
              </a:rPr>
              <a:t>- SCA</a:t>
            </a:r>
            <a:endParaRPr lang="en-US" sz="2000" b="1" dirty="0">
              <a:solidFill>
                <a:schemeClr val="tx2">
                  <a:lumMod val="90000"/>
                  <a:lumOff val="10000"/>
                </a:schemeClr>
              </a:solidFill>
              <a:latin typeface="Aptos" panose="020B0004020202020204" pitchFamily="34" charset="0"/>
              <a:ea typeface="+mj-ea"/>
              <a:cs typeface="+mj-cs"/>
            </a:endParaRPr>
          </a:p>
        </p:txBody>
      </p:sp>
    </p:spTree>
    <p:extLst>
      <p:ext uri="{BB962C8B-B14F-4D97-AF65-F5344CB8AC3E}">
        <p14:creationId xmlns:p14="http://schemas.microsoft.com/office/powerpoint/2010/main" val="99402845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14A42-4946-826E-65F5-D68F25AD045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CD406C3-924C-EA45-7F86-3991185F0586}"/>
              </a:ext>
            </a:extLst>
          </p:cNvPr>
          <p:cNvSpPr>
            <a:spLocks noGrp="1"/>
          </p:cNvSpPr>
          <p:nvPr>
            <p:ph type="title"/>
          </p:nvPr>
        </p:nvSpPr>
        <p:spPr>
          <a:xfrm>
            <a:off x="364539" y="306468"/>
            <a:ext cx="4288484" cy="688955"/>
          </a:xfrm>
        </p:spPr>
        <p:txBody>
          <a:bodyPr vert="horz" lIns="91440" tIns="45720" rIns="91440" bIns="45720" rtlCol="0" anchor="ctr">
            <a:normAutofit/>
          </a:bodyPr>
          <a:lstStyle/>
          <a:p>
            <a:r>
              <a:rPr lang="vi-VN" sz="3000" b="1" kern="1200" dirty="0">
                <a:latin typeface="Aptos" panose="020B0004020202020204" pitchFamily="34" charset="0"/>
              </a:rPr>
              <a:t>KẾT QUẢ VÀ ĐÁNH GIÁ</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5335C298-6D01-B3F0-FFF0-C247B77591D9}"/>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13</a:t>
            </a:fld>
            <a:endParaRPr lang="vi-VN" sz="1900"/>
          </a:p>
        </p:txBody>
      </p:sp>
      <p:sp>
        <p:nvSpPr>
          <p:cNvPr id="5" name="TextBox 4">
            <a:extLst>
              <a:ext uri="{FF2B5EF4-FFF2-40B4-BE49-F238E27FC236}">
                <a16:creationId xmlns:a16="http://schemas.microsoft.com/office/drawing/2014/main" id="{B0A83AA9-33AD-C012-F325-9ADA737C1644}"/>
              </a:ext>
            </a:extLst>
          </p:cNvPr>
          <p:cNvSpPr txBox="1"/>
          <p:nvPr/>
        </p:nvSpPr>
        <p:spPr>
          <a:xfrm>
            <a:off x="364539" y="857489"/>
            <a:ext cx="2355801"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Kết quả mô phỏng</a:t>
            </a:r>
            <a:endParaRPr lang="en-US" sz="2000" b="1" dirty="0">
              <a:solidFill>
                <a:schemeClr val="tx2">
                  <a:lumMod val="90000"/>
                  <a:lumOff val="10000"/>
                </a:schemeClr>
              </a:solidFill>
              <a:latin typeface="Aptos" panose="020B0004020202020204" pitchFamily="34" charset="0"/>
              <a:ea typeface="+mj-ea"/>
              <a:cs typeface="+mj-cs"/>
            </a:endParaRPr>
          </a:p>
        </p:txBody>
      </p:sp>
      <p:pic>
        <p:nvPicPr>
          <p:cNvPr id="3" name="Picture 2">
            <a:extLst>
              <a:ext uri="{FF2B5EF4-FFF2-40B4-BE49-F238E27FC236}">
                <a16:creationId xmlns:a16="http://schemas.microsoft.com/office/drawing/2014/main" id="{0CCE534A-697A-6E2E-67A3-434C856BC66B}"/>
              </a:ext>
            </a:extLst>
          </p:cNvPr>
          <p:cNvPicPr>
            <a:picLocks noChangeAspect="1"/>
          </p:cNvPicPr>
          <p:nvPr/>
        </p:nvPicPr>
        <p:blipFill>
          <a:blip r:embed="rId3"/>
          <a:srcRect t="5394"/>
          <a:stretch>
            <a:fillRect/>
          </a:stretch>
        </p:blipFill>
        <p:spPr>
          <a:xfrm>
            <a:off x="790222" y="1630680"/>
            <a:ext cx="7563556" cy="4574280"/>
          </a:xfrm>
          <a:prstGeom prst="rect">
            <a:avLst/>
          </a:prstGeom>
        </p:spPr>
      </p:pic>
    </p:spTree>
    <p:extLst>
      <p:ext uri="{BB962C8B-B14F-4D97-AF65-F5344CB8AC3E}">
        <p14:creationId xmlns:p14="http://schemas.microsoft.com/office/powerpoint/2010/main" val="34371072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006BD-6188-7057-8D6D-5D8D97B135C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8367093-6BE9-1747-4157-9F69B7FE6FFF}"/>
              </a:ext>
            </a:extLst>
          </p:cNvPr>
          <p:cNvSpPr>
            <a:spLocks noGrp="1"/>
          </p:cNvSpPr>
          <p:nvPr>
            <p:ph type="title"/>
          </p:nvPr>
        </p:nvSpPr>
        <p:spPr>
          <a:xfrm>
            <a:off x="364539" y="306468"/>
            <a:ext cx="4288484" cy="688955"/>
          </a:xfrm>
        </p:spPr>
        <p:txBody>
          <a:bodyPr vert="horz" lIns="91440" tIns="45720" rIns="91440" bIns="45720" rtlCol="0" anchor="ctr">
            <a:normAutofit/>
          </a:bodyPr>
          <a:lstStyle/>
          <a:p>
            <a:r>
              <a:rPr lang="vi-VN" sz="3000" b="1" kern="1200" dirty="0">
                <a:latin typeface="Aptos" panose="020B0004020202020204" pitchFamily="34" charset="0"/>
              </a:rPr>
              <a:t>KẾT QUẢ VÀ ĐÁNH GIÁ</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5A7BACA5-4D33-08D8-C35A-3F7EFD7E35B4}"/>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14</a:t>
            </a:fld>
            <a:endParaRPr lang="vi-VN" sz="1900"/>
          </a:p>
        </p:txBody>
      </p:sp>
      <p:sp>
        <p:nvSpPr>
          <p:cNvPr id="5" name="TextBox 4">
            <a:extLst>
              <a:ext uri="{FF2B5EF4-FFF2-40B4-BE49-F238E27FC236}">
                <a16:creationId xmlns:a16="http://schemas.microsoft.com/office/drawing/2014/main" id="{12FCCA56-39EE-F2EB-26F2-35AEB3AF7846}"/>
              </a:ext>
            </a:extLst>
          </p:cNvPr>
          <p:cNvSpPr txBox="1"/>
          <p:nvPr/>
        </p:nvSpPr>
        <p:spPr>
          <a:xfrm>
            <a:off x="364539" y="857489"/>
            <a:ext cx="2355801"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Kết quả mô phỏng</a:t>
            </a:r>
            <a:endParaRPr lang="en-US" sz="2000" b="1" dirty="0">
              <a:solidFill>
                <a:schemeClr val="tx2">
                  <a:lumMod val="90000"/>
                  <a:lumOff val="10000"/>
                </a:schemeClr>
              </a:solidFill>
              <a:latin typeface="Aptos" panose="020B0004020202020204" pitchFamily="34" charset="0"/>
              <a:ea typeface="+mj-ea"/>
              <a:cs typeface="+mj-cs"/>
            </a:endParaRPr>
          </a:p>
        </p:txBody>
      </p:sp>
      <p:pic>
        <p:nvPicPr>
          <p:cNvPr id="3" name="Picture 2">
            <a:extLst>
              <a:ext uri="{FF2B5EF4-FFF2-40B4-BE49-F238E27FC236}">
                <a16:creationId xmlns:a16="http://schemas.microsoft.com/office/drawing/2014/main" id="{17215D66-88FA-E497-D38A-ECB96E295E54}"/>
              </a:ext>
            </a:extLst>
          </p:cNvPr>
          <p:cNvPicPr>
            <a:picLocks noChangeAspect="1"/>
          </p:cNvPicPr>
          <p:nvPr/>
        </p:nvPicPr>
        <p:blipFill>
          <a:blip r:embed="rId3"/>
          <a:srcRect t="5098"/>
          <a:stretch>
            <a:fillRect/>
          </a:stretch>
        </p:blipFill>
        <p:spPr>
          <a:xfrm>
            <a:off x="717630" y="1382325"/>
            <a:ext cx="7870785" cy="4755320"/>
          </a:xfrm>
          <a:prstGeom prst="rect">
            <a:avLst/>
          </a:prstGeom>
        </p:spPr>
      </p:pic>
    </p:spTree>
    <p:extLst>
      <p:ext uri="{BB962C8B-B14F-4D97-AF65-F5344CB8AC3E}">
        <p14:creationId xmlns:p14="http://schemas.microsoft.com/office/powerpoint/2010/main" val="128466972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26466-FFAB-08E2-39BF-4B7552384E5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6963957-FAA1-EE7F-BB69-7B320724B015}"/>
              </a:ext>
            </a:extLst>
          </p:cNvPr>
          <p:cNvSpPr>
            <a:spLocks noGrp="1"/>
          </p:cNvSpPr>
          <p:nvPr>
            <p:ph type="title"/>
          </p:nvPr>
        </p:nvSpPr>
        <p:spPr>
          <a:xfrm>
            <a:off x="364539" y="306468"/>
            <a:ext cx="4288484" cy="688955"/>
          </a:xfrm>
        </p:spPr>
        <p:txBody>
          <a:bodyPr vert="horz" lIns="91440" tIns="45720" rIns="91440" bIns="45720" rtlCol="0" anchor="ctr">
            <a:normAutofit/>
          </a:bodyPr>
          <a:lstStyle/>
          <a:p>
            <a:r>
              <a:rPr lang="vi-VN" sz="3000" b="1" kern="1200" dirty="0">
                <a:latin typeface="Aptos" panose="020B0004020202020204" pitchFamily="34" charset="0"/>
              </a:rPr>
              <a:t>KẾT QUẢ VÀ ĐÁNH GIÁ</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C022EA2D-0828-3981-7982-082738603CFE}"/>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15</a:t>
            </a:fld>
            <a:endParaRPr lang="vi-VN" sz="1900"/>
          </a:p>
        </p:txBody>
      </p:sp>
      <p:sp>
        <p:nvSpPr>
          <p:cNvPr id="5" name="TextBox 4">
            <a:extLst>
              <a:ext uri="{FF2B5EF4-FFF2-40B4-BE49-F238E27FC236}">
                <a16:creationId xmlns:a16="http://schemas.microsoft.com/office/drawing/2014/main" id="{2DDB8DDD-CCD1-01EC-6F9F-E545F50AF078}"/>
              </a:ext>
            </a:extLst>
          </p:cNvPr>
          <p:cNvSpPr txBox="1"/>
          <p:nvPr/>
        </p:nvSpPr>
        <p:spPr>
          <a:xfrm>
            <a:off x="364539" y="857489"/>
            <a:ext cx="2355801"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Kết quả mô phỏng</a:t>
            </a:r>
            <a:endParaRPr lang="en-US" sz="2000" b="1" dirty="0">
              <a:solidFill>
                <a:schemeClr val="tx2">
                  <a:lumMod val="90000"/>
                  <a:lumOff val="10000"/>
                </a:schemeClr>
              </a:solidFill>
              <a:latin typeface="Aptos" panose="020B0004020202020204" pitchFamily="34" charset="0"/>
              <a:ea typeface="+mj-ea"/>
              <a:cs typeface="+mj-cs"/>
            </a:endParaRPr>
          </a:p>
        </p:txBody>
      </p:sp>
      <p:pic>
        <p:nvPicPr>
          <p:cNvPr id="7" name="Picture 6">
            <a:extLst>
              <a:ext uri="{FF2B5EF4-FFF2-40B4-BE49-F238E27FC236}">
                <a16:creationId xmlns:a16="http://schemas.microsoft.com/office/drawing/2014/main" id="{5B67EC62-02E7-7B8A-9405-8141C15393C6}"/>
              </a:ext>
            </a:extLst>
          </p:cNvPr>
          <p:cNvPicPr>
            <a:picLocks noChangeAspect="1"/>
          </p:cNvPicPr>
          <p:nvPr/>
        </p:nvPicPr>
        <p:blipFill>
          <a:blip r:embed="rId3"/>
          <a:srcRect t="4978"/>
          <a:stretch>
            <a:fillRect/>
          </a:stretch>
        </p:blipFill>
        <p:spPr>
          <a:xfrm>
            <a:off x="820705" y="1546444"/>
            <a:ext cx="7502589" cy="4535973"/>
          </a:xfrm>
          <a:prstGeom prst="rect">
            <a:avLst/>
          </a:prstGeom>
        </p:spPr>
      </p:pic>
    </p:spTree>
    <p:extLst>
      <p:ext uri="{BB962C8B-B14F-4D97-AF65-F5344CB8AC3E}">
        <p14:creationId xmlns:p14="http://schemas.microsoft.com/office/powerpoint/2010/main" val="143417160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BB7CB-8553-CFA9-C24F-FDA4483B84E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0D611F1-685C-9C38-E633-553D501740DD}"/>
              </a:ext>
            </a:extLst>
          </p:cNvPr>
          <p:cNvSpPr>
            <a:spLocks noGrp="1"/>
          </p:cNvSpPr>
          <p:nvPr>
            <p:ph type="title"/>
          </p:nvPr>
        </p:nvSpPr>
        <p:spPr>
          <a:xfrm>
            <a:off x="364539" y="306468"/>
            <a:ext cx="4288484" cy="688955"/>
          </a:xfrm>
        </p:spPr>
        <p:txBody>
          <a:bodyPr vert="horz" lIns="91440" tIns="45720" rIns="91440" bIns="45720" rtlCol="0" anchor="ctr">
            <a:normAutofit/>
          </a:bodyPr>
          <a:lstStyle/>
          <a:p>
            <a:r>
              <a:rPr lang="vi-VN" sz="3000" b="1" kern="1200" dirty="0">
                <a:latin typeface="Aptos" panose="020B0004020202020204" pitchFamily="34" charset="0"/>
              </a:rPr>
              <a:t>KẾT QUẢ VÀ ĐÁNH GIÁ</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DB06CFAB-DA34-78AD-FA9E-0391AE2FAFA7}"/>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16</a:t>
            </a:fld>
            <a:endParaRPr lang="vi-VN" sz="1900"/>
          </a:p>
        </p:txBody>
      </p:sp>
      <p:sp>
        <p:nvSpPr>
          <p:cNvPr id="5" name="TextBox 4">
            <a:extLst>
              <a:ext uri="{FF2B5EF4-FFF2-40B4-BE49-F238E27FC236}">
                <a16:creationId xmlns:a16="http://schemas.microsoft.com/office/drawing/2014/main" id="{5C436C8D-756C-5F4C-4735-C5CC9FF9C1B4}"/>
              </a:ext>
            </a:extLst>
          </p:cNvPr>
          <p:cNvSpPr txBox="1"/>
          <p:nvPr/>
        </p:nvSpPr>
        <p:spPr>
          <a:xfrm>
            <a:off x="364539" y="857489"/>
            <a:ext cx="2355801"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Kết quả mô phỏng</a:t>
            </a:r>
            <a:endParaRPr lang="en-US" sz="2000" b="1" dirty="0">
              <a:solidFill>
                <a:schemeClr val="tx2">
                  <a:lumMod val="90000"/>
                  <a:lumOff val="10000"/>
                </a:schemeClr>
              </a:solidFill>
              <a:latin typeface="Aptos" panose="020B0004020202020204" pitchFamily="34" charset="0"/>
              <a:ea typeface="+mj-ea"/>
              <a:cs typeface="+mj-cs"/>
            </a:endParaRPr>
          </a:p>
        </p:txBody>
      </p:sp>
      <p:sp>
        <p:nvSpPr>
          <p:cNvPr id="3" name="TextBox 2">
            <a:extLst>
              <a:ext uri="{FF2B5EF4-FFF2-40B4-BE49-F238E27FC236}">
                <a16:creationId xmlns:a16="http://schemas.microsoft.com/office/drawing/2014/main" id="{2F1450C5-08F6-A8A9-8B6F-A945F1B3BEFA}"/>
              </a:ext>
            </a:extLst>
          </p:cNvPr>
          <p:cNvSpPr txBox="1"/>
          <p:nvPr/>
        </p:nvSpPr>
        <p:spPr>
          <a:xfrm>
            <a:off x="364539" y="1443841"/>
            <a:ext cx="7917083" cy="3970318"/>
          </a:xfrm>
          <a:prstGeom prst="rect">
            <a:avLst/>
          </a:prstGeom>
          <a:noFill/>
        </p:spPr>
        <p:txBody>
          <a:bodyPr wrap="square">
            <a:spAutoFit/>
          </a:bodyPr>
          <a:lstStyle/>
          <a:p>
            <a:r>
              <a:rPr lang="vi-VN" sz="1800" b="1" i="0" kern="1200" dirty="0">
                <a:solidFill>
                  <a:schemeClr val="tx1"/>
                </a:solidFill>
                <a:effectLst/>
                <a:latin typeface="+mj-lt"/>
                <a:ea typeface="+mn-ea"/>
                <a:cs typeface="+mn-cs"/>
              </a:rPr>
              <a:t>4.5 So Sánh Chất Lượng </a:t>
            </a:r>
            <a:r>
              <a:rPr lang="vi-VN" sz="1800" b="1" i="0" kern="1200" dirty="0" err="1">
                <a:solidFill>
                  <a:schemeClr val="tx1"/>
                </a:solidFill>
                <a:effectLst/>
                <a:latin typeface="+mj-lt"/>
                <a:ea typeface="+mn-ea"/>
                <a:cs typeface="+mn-cs"/>
              </a:rPr>
              <a:t>Video</a:t>
            </a:r>
            <a:r>
              <a:rPr lang="vi-VN" sz="1800" b="1" i="0" kern="1200" dirty="0">
                <a:solidFill>
                  <a:schemeClr val="tx1"/>
                </a:solidFill>
                <a:effectLst/>
                <a:latin typeface="+mj-lt"/>
                <a:ea typeface="+mn-ea"/>
                <a:cs typeface="+mn-cs"/>
              </a:rPr>
              <a:t> (</a:t>
            </a:r>
            <a:r>
              <a:rPr lang="vi-VN" sz="1800" b="1" i="0" kern="1200" dirty="0" err="1">
                <a:solidFill>
                  <a:schemeClr val="tx1"/>
                </a:solidFill>
                <a:effectLst/>
                <a:latin typeface="+mj-lt"/>
                <a:ea typeface="+mn-ea"/>
                <a:cs typeface="+mn-cs"/>
              </a:rPr>
              <a:t>QoE</a:t>
            </a:r>
            <a:r>
              <a:rPr lang="vi-VN" sz="1800" b="1" i="0" kern="1200" dirty="0">
                <a:solidFill>
                  <a:schemeClr val="tx1"/>
                </a:solidFill>
                <a:effectLst/>
                <a:latin typeface="+mj-lt"/>
                <a:ea typeface="+mn-ea"/>
                <a:cs typeface="+mn-cs"/>
              </a:rPr>
              <a:t>)</a:t>
            </a:r>
          </a:p>
          <a:p>
            <a:r>
              <a:rPr lang="vi-VN" sz="1800" b="0" i="0" kern="1200" dirty="0">
                <a:solidFill>
                  <a:schemeClr val="tx1"/>
                </a:solidFill>
                <a:effectLst/>
                <a:latin typeface="+mj-lt"/>
                <a:ea typeface="+mn-ea"/>
                <a:cs typeface="+mn-cs"/>
              </a:rPr>
              <a:t>Dựa trên </a:t>
            </a:r>
            <a:r>
              <a:rPr lang="vi-VN" sz="1800" b="0" i="0" kern="1200" dirty="0" err="1">
                <a:solidFill>
                  <a:schemeClr val="tx1"/>
                </a:solidFill>
                <a:effectLst/>
                <a:latin typeface="+mj-lt"/>
                <a:ea typeface="+mn-ea"/>
                <a:cs typeface="+mn-cs"/>
              </a:rPr>
              <a:t>mapping</a:t>
            </a:r>
            <a:r>
              <a:rPr lang="vi-VN" sz="1800" b="0" i="0" kern="1200" dirty="0">
                <a:solidFill>
                  <a:schemeClr val="tx1"/>
                </a:solidFill>
                <a:effectLst/>
                <a:latin typeface="+mj-lt"/>
                <a:ea typeface="+mn-ea"/>
                <a:cs typeface="+mn-cs"/>
              </a:rPr>
              <a:t> PSNR từ SVC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a:t>
            </a:r>
          </a:p>
          <a:p>
            <a:r>
              <a:rPr lang="vi-VN" sz="1800" b="0" i="0" kern="1200" dirty="0">
                <a:solidFill>
                  <a:schemeClr val="tx1"/>
                </a:solidFill>
                <a:effectLst/>
                <a:latin typeface="+mj-lt"/>
                <a:ea typeface="+mn-ea"/>
                <a:cs typeface="+mn-cs"/>
              </a:rPr>
              <a:t>Với MMF ≥ 0.288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Người dùng nhận được 4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PSNR = 41.19 </a:t>
            </a:r>
            <a:r>
              <a:rPr lang="vi-VN" sz="1800" b="0" i="0" kern="1200" dirty="0" err="1">
                <a:solidFill>
                  <a:schemeClr val="tx1"/>
                </a:solidFill>
                <a:effectLst/>
                <a:latin typeface="+mj-lt"/>
                <a:ea typeface="+mn-ea"/>
                <a:cs typeface="+mn-cs"/>
              </a:rPr>
              <a:t>dB</a:t>
            </a:r>
            <a:r>
              <a:rPr lang="vi-VN" sz="1800" b="0" i="0" kern="1200" dirty="0">
                <a:solidFill>
                  <a:schemeClr val="tx1"/>
                </a:solidFill>
                <a:effectLst/>
                <a:latin typeface="+mj-lt"/>
                <a:ea typeface="+mn-ea"/>
                <a:cs typeface="+mn-cs"/>
              </a:rPr>
              <a:t> (Rất tốt)</a:t>
            </a:r>
          </a:p>
          <a:p>
            <a:r>
              <a:rPr lang="vi-VN" sz="1800" b="0" i="0" kern="1200" dirty="0">
                <a:solidFill>
                  <a:schemeClr val="tx1"/>
                </a:solidFill>
                <a:effectLst/>
                <a:latin typeface="+mj-lt"/>
                <a:ea typeface="+mn-ea"/>
                <a:cs typeface="+mn-cs"/>
              </a:rPr>
              <a:t>Với MMF ≥ 0.144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Người dùng nhận được 3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PSNR = 36.98 </a:t>
            </a:r>
            <a:r>
              <a:rPr lang="vi-VN" sz="1800" b="0" i="0" kern="1200" dirty="0" err="1">
                <a:solidFill>
                  <a:schemeClr val="tx1"/>
                </a:solidFill>
                <a:effectLst/>
                <a:latin typeface="+mj-lt"/>
                <a:ea typeface="+mn-ea"/>
                <a:cs typeface="+mn-cs"/>
              </a:rPr>
              <a:t>dB</a:t>
            </a:r>
            <a:r>
              <a:rPr lang="vi-VN" sz="1800" b="0" i="0" kern="1200" dirty="0">
                <a:solidFill>
                  <a:schemeClr val="tx1"/>
                </a:solidFill>
                <a:effectLst/>
                <a:latin typeface="+mj-lt"/>
                <a:ea typeface="+mn-ea"/>
                <a:cs typeface="+mn-cs"/>
              </a:rPr>
              <a:t> (Tốt)</a:t>
            </a:r>
          </a:p>
          <a:p>
            <a:r>
              <a:rPr lang="vi-VN" sz="1800" b="0" i="0" kern="1200" dirty="0">
                <a:solidFill>
                  <a:schemeClr val="tx1"/>
                </a:solidFill>
                <a:effectLst/>
                <a:latin typeface="+mj-lt"/>
                <a:ea typeface="+mn-ea"/>
                <a:cs typeface="+mn-cs"/>
              </a:rPr>
              <a:t>Với MMF ≥ 0.072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Người dùng nhận được 2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PSNR = 33.17 </a:t>
            </a:r>
            <a:r>
              <a:rPr lang="vi-VN" sz="1800" b="0" i="0" kern="1200" dirty="0" err="1">
                <a:solidFill>
                  <a:schemeClr val="tx1"/>
                </a:solidFill>
                <a:effectLst/>
                <a:latin typeface="+mj-lt"/>
                <a:ea typeface="+mn-ea"/>
                <a:cs typeface="+mn-cs"/>
              </a:rPr>
              <a:t>dB</a:t>
            </a:r>
            <a:r>
              <a:rPr lang="vi-VN" sz="1800" b="0" i="0" kern="1200" dirty="0">
                <a:solidFill>
                  <a:schemeClr val="tx1"/>
                </a:solidFill>
                <a:effectLst/>
                <a:latin typeface="+mj-lt"/>
                <a:ea typeface="+mn-ea"/>
                <a:cs typeface="+mn-cs"/>
              </a:rPr>
              <a:t> (Tạm được)</a:t>
            </a:r>
          </a:p>
          <a:p>
            <a:r>
              <a:rPr lang="vi-VN" sz="1800" b="0" i="0" kern="1200" dirty="0">
                <a:solidFill>
                  <a:schemeClr val="tx1"/>
                </a:solidFill>
                <a:effectLst/>
                <a:latin typeface="+mj-lt"/>
                <a:ea typeface="+mn-ea"/>
                <a:cs typeface="+mn-cs"/>
              </a:rPr>
              <a:t>Với MMF &lt; 0.072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Người dùng chỉ có 1 </a:t>
            </a:r>
            <a:r>
              <a:rPr lang="vi-VN" sz="1800" b="0" i="0" kern="1200" dirty="0" err="1">
                <a:solidFill>
                  <a:schemeClr val="tx1"/>
                </a:solidFill>
                <a:effectLst/>
                <a:latin typeface="+mj-lt"/>
                <a:ea typeface="+mn-ea"/>
                <a:cs typeface="+mn-cs"/>
              </a:rPr>
              <a:t>layer</a:t>
            </a:r>
            <a:r>
              <a:rPr lang="vi-VN" sz="1800" b="0" i="0" kern="1200" dirty="0">
                <a:solidFill>
                  <a:schemeClr val="tx1"/>
                </a:solidFill>
                <a:effectLst/>
                <a:latin typeface="+mj-lt"/>
                <a:ea typeface="+mn-ea"/>
                <a:cs typeface="+mn-cs"/>
              </a:rPr>
              <a:t> → PSNR = 29.87 </a:t>
            </a:r>
            <a:r>
              <a:rPr lang="vi-VN" sz="1800" b="0" i="0" kern="1200" dirty="0" err="1">
                <a:solidFill>
                  <a:schemeClr val="tx1"/>
                </a:solidFill>
                <a:effectLst/>
                <a:latin typeface="+mj-lt"/>
                <a:ea typeface="+mn-ea"/>
                <a:cs typeface="+mn-cs"/>
              </a:rPr>
              <a:t>dB</a:t>
            </a:r>
            <a:r>
              <a:rPr lang="vi-VN" sz="1800" b="0" i="0" kern="1200" dirty="0">
                <a:solidFill>
                  <a:schemeClr val="tx1"/>
                </a:solidFill>
                <a:effectLst/>
                <a:latin typeface="+mj-lt"/>
                <a:ea typeface="+mn-ea"/>
                <a:cs typeface="+mn-cs"/>
              </a:rPr>
              <a:t> (Xấu)</a:t>
            </a:r>
          </a:p>
          <a:p>
            <a:r>
              <a:rPr lang="vi-VN" sz="1800" b="1" i="0" kern="1200" dirty="0">
                <a:solidFill>
                  <a:schemeClr val="tx1"/>
                </a:solidFill>
                <a:effectLst/>
                <a:latin typeface="+mj-lt"/>
                <a:ea typeface="+mn-ea"/>
                <a:cs typeface="+mn-cs"/>
              </a:rPr>
              <a:t>Quan sát:</a:t>
            </a:r>
            <a:endParaRPr lang="vi-VN" sz="1800" b="0" i="0" kern="1200" dirty="0">
              <a:solidFill>
                <a:schemeClr val="tx1"/>
              </a:solidFill>
              <a:effectLst/>
              <a:latin typeface="+mj-lt"/>
              <a:ea typeface="+mn-ea"/>
              <a:cs typeface="+mn-cs"/>
            </a:endParaRPr>
          </a:p>
          <a:p>
            <a:r>
              <a:rPr lang="vi-VN" sz="1800" b="0" i="0" kern="1200" dirty="0" err="1">
                <a:solidFill>
                  <a:schemeClr val="tx1"/>
                </a:solidFill>
                <a:effectLst/>
                <a:latin typeface="+mj-lt"/>
                <a:ea typeface="+mn-ea"/>
                <a:cs typeface="+mn-cs"/>
              </a:rPr>
              <a:t>Scenario</a:t>
            </a:r>
            <a:r>
              <a:rPr lang="vi-VN" sz="1800" b="0" i="0" kern="1200" dirty="0">
                <a:solidFill>
                  <a:schemeClr val="tx1"/>
                </a:solidFill>
                <a:effectLst/>
                <a:latin typeface="+mj-lt"/>
                <a:ea typeface="+mn-ea"/>
                <a:cs typeface="+mn-cs"/>
              </a:rPr>
              <a:t> 1 (SNR=20dB): RSMA đạt 0.42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3-4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a:t>
            </a:r>
            <a:r>
              <a:rPr lang="vi-VN" sz="1800" b="0" i="0" kern="1200" dirty="0" err="1">
                <a:solidFill>
                  <a:schemeClr val="tx1"/>
                </a:solidFill>
                <a:effectLst/>
                <a:latin typeface="+mj-lt"/>
                <a:ea typeface="+mn-ea"/>
                <a:cs typeface="+mn-cs"/>
              </a:rPr>
              <a:t>QoE</a:t>
            </a:r>
            <a:r>
              <a:rPr lang="vi-VN" sz="1800" b="0" i="0" kern="1200" dirty="0">
                <a:solidFill>
                  <a:schemeClr val="tx1"/>
                </a:solidFill>
                <a:effectLst/>
                <a:latin typeface="+mj-lt"/>
                <a:ea typeface="+mn-ea"/>
                <a:cs typeface="+mn-cs"/>
              </a:rPr>
              <a:t> tốt</a:t>
            </a:r>
          </a:p>
          <a:p>
            <a:r>
              <a:rPr lang="vi-VN" sz="1800" b="0" i="0" kern="1200" dirty="0" err="1">
                <a:solidFill>
                  <a:schemeClr val="tx1"/>
                </a:solidFill>
                <a:effectLst/>
                <a:latin typeface="+mj-lt"/>
                <a:ea typeface="+mn-ea"/>
                <a:cs typeface="+mn-cs"/>
              </a:rPr>
              <a:t>Scenario</a:t>
            </a:r>
            <a:r>
              <a:rPr lang="vi-VN" sz="1800" b="0" i="0" kern="1200" dirty="0">
                <a:solidFill>
                  <a:schemeClr val="tx1"/>
                </a:solidFill>
                <a:effectLst/>
                <a:latin typeface="+mj-lt"/>
                <a:ea typeface="+mn-ea"/>
                <a:cs typeface="+mn-cs"/>
              </a:rPr>
              <a:t> 2 (</a:t>
            </a:r>
            <a:r>
              <a:rPr lang="vi-VN" sz="1800" b="0" i="0" kern="1200" dirty="0" err="1">
                <a:solidFill>
                  <a:schemeClr val="tx1"/>
                </a:solidFill>
                <a:effectLst/>
                <a:latin typeface="+mj-lt"/>
                <a:ea typeface="+mn-ea"/>
                <a:cs typeface="+mn-cs"/>
              </a:rPr>
              <a:t>I_th</a:t>
            </a:r>
            <a:r>
              <a:rPr lang="vi-VN" sz="1800" b="0" i="0" kern="1200" dirty="0">
                <a:solidFill>
                  <a:schemeClr val="tx1"/>
                </a:solidFill>
                <a:effectLst/>
                <a:latin typeface="+mj-lt"/>
                <a:ea typeface="+mn-ea"/>
                <a:cs typeface="+mn-cs"/>
              </a:rPr>
              <a:t>=0.8W): RSMA đạt 0.34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3-4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a:t>
            </a:r>
            <a:r>
              <a:rPr lang="vi-VN" sz="1800" b="0" i="0" kern="1200" dirty="0" err="1">
                <a:solidFill>
                  <a:schemeClr val="tx1"/>
                </a:solidFill>
                <a:effectLst/>
                <a:latin typeface="+mj-lt"/>
                <a:ea typeface="+mn-ea"/>
                <a:cs typeface="+mn-cs"/>
              </a:rPr>
              <a:t>QoE</a:t>
            </a:r>
            <a:r>
              <a:rPr lang="vi-VN" sz="1800" b="0" i="0" kern="1200" dirty="0">
                <a:solidFill>
                  <a:schemeClr val="tx1"/>
                </a:solidFill>
                <a:effectLst/>
                <a:latin typeface="+mj-lt"/>
                <a:ea typeface="+mn-ea"/>
                <a:cs typeface="+mn-cs"/>
              </a:rPr>
              <a:t> tốt</a:t>
            </a:r>
          </a:p>
          <a:p>
            <a:r>
              <a:rPr lang="vi-VN" sz="1800" b="0" i="0" kern="1200" dirty="0" err="1">
                <a:solidFill>
                  <a:schemeClr val="tx1"/>
                </a:solidFill>
                <a:effectLst/>
                <a:latin typeface="+mj-lt"/>
                <a:ea typeface="+mn-ea"/>
                <a:cs typeface="+mn-cs"/>
              </a:rPr>
              <a:t>Scenario</a:t>
            </a:r>
            <a:r>
              <a:rPr lang="vi-VN" sz="1800" b="0" i="0" kern="1200" dirty="0">
                <a:solidFill>
                  <a:schemeClr val="tx1"/>
                </a:solidFill>
                <a:effectLst/>
                <a:latin typeface="+mj-lt"/>
                <a:ea typeface="+mn-ea"/>
                <a:cs typeface="+mn-cs"/>
              </a:rPr>
              <a:t> 3 (K=2): RSMA đạt 0.059 </a:t>
            </a:r>
            <a:r>
              <a:rPr lang="vi-VN" sz="1800" b="0" i="0" kern="1200" dirty="0" err="1">
                <a:solidFill>
                  <a:schemeClr val="tx1"/>
                </a:solidFill>
                <a:effectLst/>
                <a:latin typeface="+mj-lt"/>
                <a:ea typeface="+mn-ea"/>
                <a:cs typeface="+mn-cs"/>
              </a:rPr>
              <a:t>bps</a:t>
            </a:r>
            <a:r>
              <a:rPr lang="vi-VN" sz="1800" b="0" i="0" kern="1200" dirty="0">
                <a:solidFill>
                  <a:schemeClr val="tx1"/>
                </a:solidFill>
                <a:effectLst/>
                <a:latin typeface="+mj-lt"/>
                <a:ea typeface="+mn-ea"/>
                <a:cs typeface="+mn-cs"/>
              </a:rPr>
              <a:t>/</a:t>
            </a:r>
            <a:r>
              <a:rPr lang="vi-VN" sz="1800" b="0" i="0" kern="1200" dirty="0" err="1">
                <a:solidFill>
                  <a:schemeClr val="tx1"/>
                </a:solidFill>
                <a:effectLst/>
                <a:latin typeface="+mj-lt"/>
                <a:ea typeface="+mn-ea"/>
                <a:cs typeface="+mn-cs"/>
              </a:rPr>
              <a:t>Hz</a:t>
            </a:r>
            <a:r>
              <a:rPr lang="vi-VN" sz="1800" b="0" i="0" kern="1200" dirty="0">
                <a:solidFill>
                  <a:schemeClr val="tx1"/>
                </a:solidFill>
                <a:effectLst/>
                <a:latin typeface="+mj-lt"/>
                <a:ea typeface="+mn-ea"/>
                <a:cs typeface="+mn-cs"/>
              </a:rPr>
              <a:t> → 1-2 </a:t>
            </a:r>
            <a:r>
              <a:rPr lang="vi-VN" sz="1800" b="0" i="0" kern="1200" dirty="0" err="1">
                <a:solidFill>
                  <a:schemeClr val="tx1"/>
                </a:solidFill>
                <a:effectLst/>
                <a:latin typeface="+mj-lt"/>
                <a:ea typeface="+mn-ea"/>
                <a:cs typeface="+mn-cs"/>
              </a:rPr>
              <a:t>layers</a:t>
            </a:r>
            <a:r>
              <a:rPr lang="vi-VN" sz="1800" b="0" i="0" kern="1200" dirty="0">
                <a:solidFill>
                  <a:schemeClr val="tx1"/>
                </a:solidFill>
                <a:effectLst/>
                <a:latin typeface="+mj-lt"/>
                <a:ea typeface="+mn-ea"/>
                <a:cs typeface="+mn-cs"/>
              </a:rPr>
              <a:t> → </a:t>
            </a:r>
            <a:r>
              <a:rPr lang="vi-VN" sz="1800" b="0" i="0" kern="1200" dirty="0" err="1">
                <a:solidFill>
                  <a:schemeClr val="tx1"/>
                </a:solidFill>
                <a:effectLst/>
                <a:latin typeface="+mj-lt"/>
                <a:ea typeface="+mn-ea"/>
                <a:cs typeface="+mn-cs"/>
              </a:rPr>
              <a:t>QoE</a:t>
            </a:r>
            <a:r>
              <a:rPr lang="vi-VN" sz="1800" b="0" i="0" kern="1200" dirty="0">
                <a:solidFill>
                  <a:schemeClr val="tx1"/>
                </a:solidFill>
                <a:effectLst/>
                <a:latin typeface="+mj-lt"/>
                <a:ea typeface="+mn-ea"/>
                <a:cs typeface="+mn-cs"/>
              </a:rPr>
              <a:t> xấu hơn (cần SU ít hơn)</a:t>
            </a:r>
          </a:p>
        </p:txBody>
      </p:sp>
    </p:spTree>
    <p:extLst>
      <p:ext uri="{BB962C8B-B14F-4D97-AF65-F5344CB8AC3E}">
        <p14:creationId xmlns:p14="http://schemas.microsoft.com/office/powerpoint/2010/main" val="123677016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6509F-4915-2371-3934-921995087C5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CD67B6-7F3C-D87B-61AB-8B133CCB0FCF}"/>
              </a:ext>
            </a:extLst>
          </p:cNvPr>
          <p:cNvSpPr>
            <a:spLocks noGrp="1"/>
          </p:cNvSpPr>
          <p:nvPr>
            <p:ph type="title"/>
          </p:nvPr>
        </p:nvSpPr>
        <p:spPr>
          <a:xfrm>
            <a:off x="364538" y="306468"/>
            <a:ext cx="7205487" cy="688955"/>
          </a:xfrm>
        </p:spPr>
        <p:txBody>
          <a:bodyPr vert="horz" lIns="91440" tIns="45720" rIns="91440" bIns="45720" rtlCol="0" anchor="ctr">
            <a:noAutofit/>
          </a:bodyPr>
          <a:lstStyle/>
          <a:p>
            <a:r>
              <a:rPr lang="vi-VN" sz="3000" b="1" kern="1200" dirty="0">
                <a:latin typeface="Aptos" panose="020B0004020202020204" pitchFamily="34" charset="0"/>
              </a:rPr>
              <a:t>KẾT LUẬN VÀ ĐỊNH HƯỚNG PHÁT TRIỂN</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DDB68B0C-0ADA-ED40-7B5D-8A575FA994B0}"/>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17</a:t>
            </a:fld>
            <a:endParaRPr lang="vi-VN" sz="1900"/>
          </a:p>
        </p:txBody>
      </p:sp>
      <p:sp>
        <p:nvSpPr>
          <p:cNvPr id="5" name="TextBox 4">
            <a:extLst>
              <a:ext uri="{FF2B5EF4-FFF2-40B4-BE49-F238E27FC236}">
                <a16:creationId xmlns:a16="http://schemas.microsoft.com/office/drawing/2014/main" id="{652CF7C7-8CA3-B970-0A77-3996989005C8}"/>
              </a:ext>
            </a:extLst>
          </p:cNvPr>
          <p:cNvSpPr txBox="1"/>
          <p:nvPr/>
        </p:nvSpPr>
        <p:spPr>
          <a:xfrm>
            <a:off x="364540" y="857489"/>
            <a:ext cx="1209436"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a:solidFill>
                  <a:schemeClr val="tx2">
                    <a:lumMod val="90000"/>
                    <a:lumOff val="10000"/>
                  </a:schemeClr>
                </a:solidFill>
                <a:latin typeface="Aptos" panose="020B0004020202020204" pitchFamily="34" charset="0"/>
                <a:ea typeface="+mj-ea"/>
                <a:cs typeface="+mj-cs"/>
              </a:rPr>
              <a:t>Kết luận</a:t>
            </a:r>
            <a:endParaRPr lang="en-US" sz="2000" b="1" dirty="0">
              <a:solidFill>
                <a:schemeClr val="tx2">
                  <a:lumMod val="90000"/>
                  <a:lumOff val="10000"/>
                </a:schemeClr>
              </a:solidFill>
              <a:latin typeface="Aptos" panose="020B0004020202020204" pitchFamily="34" charset="0"/>
              <a:ea typeface="+mj-ea"/>
              <a:cs typeface="+mj-cs"/>
            </a:endParaRPr>
          </a:p>
        </p:txBody>
      </p:sp>
      <p:sp>
        <p:nvSpPr>
          <p:cNvPr id="7" name="TextBox 6">
            <a:extLst>
              <a:ext uri="{FF2B5EF4-FFF2-40B4-BE49-F238E27FC236}">
                <a16:creationId xmlns:a16="http://schemas.microsoft.com/office/drawing/2014/main" id="{A92CF656-5E0E-11EA-4C1F-88487482C096}"/>
              </a:ext>
            </a:extLst>
          </p:cNvPr>
          <p:cNvSpPr txBox="1"/>
          <p:nvPr/>
        </p:nvSpPr>
        <p:spPr>
          <a:xfrm>
            <a:off x="364537" y="1420758"/>
            <a:ext cx="6487675" cy="369332"/>
          </a:xfrm>
          <a:prstGeom prst="rect">
            <a:avLst/>
          </a:prstGeom>
          <a:noFill/>
        </p:spPr>
        <p:txBody>
          <a:bodyPr wrap="square">
            <a:spAutoFit/>
          </a:bodyPr>
          <a:lstStyle/>
          <a:p>
            <a:pPr>
              <a:buNone/>
            </a:pPr>
            <a:r>
              <a:rPr lang="vi-VN" dirty="0">
                <a:latin typeface="Times New Roman" panose="02020603050405020304" pitchFamily="18" charset="0"/>
                <a:cs typeface="Times New Roman" panose="02020603050405020304" pitchFamily="18" charset="0"/>
              </a:rPr>
              <a:t>Qua quá trình nghiên cứu, khóa luận đã đạt được ba đóng góp chính.</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A14F688-066F-7A1E-0E57-A7F26F04789B}"/>
                  </a:ext>
                </a:extLst>
              </p:cNvPr>
              <p:cNvSpPr txBox="1"/>
              <p:nvPr/>
            </p:nvSpPr>
            <p:spPr>
              <a:xfrm>
                <a:off x="360728" y="1936065"/>
                <a:ext cx="8422544" cy="3693319"/>
              </a:xfrm>
              <a:prstGeom prst="rect">
                <a:avLst/>
              </a:prstGeom>
              <a:noFill/>
            </p:spPr>
            <p:txBody>
              <a:bodyPr wrap="square">
                <a:spAutoFit/>
              </a:bodyPr>
              <a:lstStyle/>
              <a:p>
                <a:pPr marL="285750" indent="-285750">
                  <a:buFont typeface="Arial" panose="020B0604020202020204" pitchFamily="34" charset="0"/>
                  <a:buChar char="•"/>
                </a:pPr>
                <a:r>
                  <a:rPr lang="vi-VN" dirty="0">
                    <a:latin typeface="+mj-lt"/>
                  </a:rPr>
                  <a:t>Đề xuất mô hình CR-RSMA-SVC theo hướng </a:t>
                </a:r>
                <a:r>
                  <a:rPr lang="vi-VN" dirty="0" err="1">
                    <a:latin typeface="+mj-lt"/>
                  </a:rPr>
                  <a:t>Cross-Layer</a:t>
                </a:r>
                <a:r>
                  <a:rPr lang="vi-VN" dirty="0">
                    <a:latin typeface="+mj-lt"/>
                  </a:rPr>
                  <a:t>, tích hợp </a:t>
                </a:r>
                <a:r>
                  <a:rPr lang="vi-VN" dirty="0" err="1">
                    <a:latin typeface="+mj-lt"/>
                  </a:rPr>
                  <a:t>Cognitive</a:t>
                </a:r>
                <a:r>
                  <a:rPr lang="vi-VN" dirty="0">
                    <a:latin typeface="+mj-lt"/>
                  </a:rPr>
                  <a:t> </a:t>
                </a:r>
                <a:r>
                  <a:rPr lang="vi-VN" dirty="0" err="1">
                    <a:latin typeface="+mj-lt"/>
                  </a:rPr>
                  <a:t>Radio</a:t>
                </a:r>
                <a:r>
                  <a:rPr lang="vi-VN" dirty="0">
                    <a:latin typeface="+mj-lt"/>
                  </a:rPr>
                  <a:t> </a:t>
                </a:r>
                <a:r>
                  <a:rPr lang="vi-VN" dirty="0" err="1">
                    <a:latin typeface="+mj-lt"/>
                  </a:rPr>
                  <a:t>Underlay</a:t>
                </a:r>
                <a:r>
                  <a:rPr lang="vi-VN" dirty="0">
                    <a:latin typeface="+mj-lt"/>
                  </a:rPr>
                  <a:t>, RSMA </a:t>
                </a:r>
                <a:r>
                  <a:rPr lang="vi-VN" dirty="0" err="1">
                    <a:latin typeface="+mj-lt"/>
                  </a:rPr>
                  <a:t>Uplink</a:t>
                </a:r>
                <a:r>
                  <a:rPr lang="vi-VN" dirty="0">
                    <a:latin typeface="+mj-lt"/>
                  </a:rPr>
                  <a:t> và SVC trong một kiến trúc thống nhất. </a:t>
                </a:r>
              </a:p>
              <a:p>
                <a:pPr marL="285750" indent="-285750">
                  <a:buFont typeface="Arial" panose="020B0604020202020204" pitchFamily="34" charset="0"/>
                  <a:buChar char="•"/>
                </a:pPr>
                <a:endParaRPr lang="vi-VN" dirty="0">
                  <a:latin typeface="+mj-lt"/>
                </a:endParaRPr>
              </a:p>
              <a:p>
                <a:pPr marL="285750" indent="-285750">
                  <a:buFont typeface="Arial" panose="020B0604020202020204" pitchFamily="34" charset="0"/>
                  <a:buChar char="•"/>
                </a:pPr>
                <a:r>
                  <a:rPr lang="vi-VN" dirty="0">
                    <a:latin typeface="+mj-lt"/>
                  </a:rPr>
                  <a:t>Xây dựng bài toán tối ưu </a:t>
                </a:r>
                <a:r>
                  <a:rPr lang="vi-VN" dirty="0" err="1">
                    <a:latin typeface="+mj-lt"/>
                  </a:rPr>
                  <a:t>Max</a:t>
                </a:r>
                <a:r>
                  <a:rPr lang="vi-VN" dirty="0">
                    <a:latin typeface="+mj-lt"/>
                  </a:rPr>
                  <a:t>-Min </a:t>
                </a:r>
                <a:r>
                  <a:rPr lang="vi-VN" dirty="0" err="1">
                    <a:latin typeface="+mj-lt"/>
                  </a:rPr>
                  <a:t>Fairness</a:t>
                </a:r>
                <a:r>
                  <a:rPr lang="vi-VN" dirty="0">
                    <a:latin typeface="+mj-lt"/>
                  </a:rPr>
                  <a:t> và giải bằng thuật toán </a:t>
                </a:r>
                <a:r>
                  <a:rPr lang="vi-VN" dirty="0" err="1">
                    <a:latin typeface="+mj-lt"/>
                  </a:rPr>
                  <a:t>Successive</a:t>
                </a:r>
                <a:r>
                  <a:rPr lang="vi-VN" dirty="0">
                    <a:latin typeface="+mj-lt"/>
                  </a:rPr>
                  <a:t> </a:t>
                </a:r>
                <a:r>
                  <a:rPr lang="vi-VN" dirty="0" err="1">
                    <a:latin typeface="+mj-lt"/>
                  </a:rPr>
                  <a:t>Convex</a:t>
                </a:r>
                <a:r>
                  <a:rPr lang="vi-VN" dirty="0">
                    <a:latin typeface="+mj-lt"/>
                  </a:rPr>
                  <a:t> </a:t>
                </a:r>
                <a:r>
                  <a:rPr lang="vi-VN" dirty="0" err="1">
                    <a:latin typeface="+mj-lt"/>
                  </a:rPr>
                  <a:t>Approximation</a:t>
                </a:r>
                <a:r>
                  <a:rPr lang="vi-VN" dirty="0">
                    <a:latin typeface="+mj-lt"/>
                  </a:rPr>
                  <a:t> (SCA) nhằm tối ưu phân bổ công suất dưới ràng buộc nhiễu </a:t>
                </a:r>
                <a:r>
                  <a:rPr lang="vi-VN" dirty="0" err="1">
                    <a:latin typeface="+mj-lt"/>
                  </a:rPr>
                  <a:t>Cognitive</a:t>
                </a:r>
                <a:r>
                  <a:rPr lang="vi-VN" dirty="0">
                    <a:latin typeface="+mj-lt"/>
                  </a:rPr>
                  <a:t> </a:t>
                </a:r>
                <a:r>
                  <a:rPr lang="vi-VN" dirty="0" err="1">
                    <a:latin typeface="+mj-lt"/>
                  </a:rPr>
                  <a:t>Radio</a:t>
                </a:r>
                <a:r>
                  <a:rPr lang="vi-VN" dirty="0">
                    <a:latin typeface="+mj-lt"/>
                  </a:rPr>
                  <a:t>. </a:t>
                </a:r>
              </a:p>
              <a:p>
                <a:pPr marL="285750" indent="-285750">
                  <a:buFont typeface="Arial" panose="020B0604020202020204" pitchFamily="34" charset="0"/>
                  <a:buChar char="•"/>
                </a:pPr>
                <a:endParaRPr lang="vi-VN" dirty="0">
                  <a:latin typeface="+mj-lt"/>
                </a:endParaRPr>
              </a:p>
              <a:p>
                <a:pPr marL="285750" indent="-285750">
                  <a:buFont typeface="Arial" panose="020B0604020202020204" pitchFamily="34" charset="0"/>
                  <a:buChar char="•"/>
                </a:pPr>
                <a:r>
                  <a:rPr lang="vi-VN" dirty="0">
                    <a:latin typeface="+mj-lt"/>
                  </a:rPr>
                  <a:t>Đánh giá hiệu năng qua ba kịch bản mô phỏng: </a:t>
                </a:r>
              </a:p>
              <a:p>
                <a:pPr marL="742950" lvl="1" indent="-285750">
                  <a:buFont typeface="Arial" panose="020B0604020202020204" pitchFamily="34" charset="0"/>
                  <a:buChar char="•"/>
                </a:pPr>
                <a:r>
                  <a:rPr lang="vi-VN" dirty="0">
                    <a:latin typeface="+mj-lt"/>
                  </a:rPr>
                  <a:t>MMF theo SNR </a:t>
                </a:r>
              </a:p>
              <a:p>
                <a:pPr marL="742950" lvl="1" indent="-285750">
                  <a:buFont typeface="Arial" panose="020B0604020202020204" pitchFamily="34" charset="0"/>
                  <a:buChar char="•"/>
                </a:pPr>
                <a:r>
                  <a:rPr lang="vi-VN" dirty="0">
                    <a:latin typeface="+mj-lt"/>
                  </a:rPr>
                  <a:t>MMF theo ngưỡng nhiễu </a:t>
                </a:r>
                <a14:m>
                  <m:oMath xmlns:m="http://schemas.openxmlformats.org/officeDocument/2006/math">
                    <m:sSub>
                      <m:sSubPr>
                        <m:ctrlPr>
                          <a:rPr lang="ar-AE">
                            <a:latin typeface="+mj-lt"/>
                          </a:rPr>
                        </m:ctrlPr>
                      </m:sSubPr>
                      <m:e>
                        <m:r>
                          <a:rPr lang="ar-AE" b="0" i="1" smtClean="0">
                            <a:latin typeface="Cambria Math" panose="02040503050406030204" pitchFamily="18" charset="0"/>
                          </a:rPr>
                          <m:t>𝐼</m:t>
                        </m:r>
                      </m:e>
                      <m:sub>
                        <m:r>
                          <a:rPr lang="ar-AE" b="0" i="1" smtClean="0">
                            <a:latin typeface="Cambria Math" panose="02040503050406030204" pitchFamily="18" charset="0"/>
                          </a:rPr>
                          <m:t>𝑡</m:t>
                        </m:r>
                        <m:r>
                          <a:rPr lang="ar-AE" b="0" i="1" smtClean="0">
                            <a:latin typeface="Cambria Math" panose="02040503050406030204" pitchFamily="18" charset="0"/>
                          </a:rPr>
                          <m:t>h</m:t>
                        </m:r>
                      </m:sub>
                    </m:sSub>
                  </m:oMath>
                </a14:m>
                <a:endParaRPr lang="ar-AE" dirty="0">
                  <a:latin typeface="+mj-lt"/>
                </a:endParaRPr>
              </a:p>
              <a:p>
                <a:pPr marL="742950" lvl="1" indent="-285750">
                  <a:buFont typeface="Arial" panose="020B0604020202020204" pitchFamily="34" charset="0"/>
                  <a:buChar char="•"/>
                </a:pPr>
                <a:r>
                  <a:rPr lang="vi-VN" dirty="0">
                    <a:latin typeface="+mj-lt"/>
                  </a:rPr>
                  <a:t>MMF theo số lượng người dùng </a:t>
                </a:r>
              </a:p>
              <a:p>
                <a:pPr marL="285750" indent="-285750">
                  <a:buFont typeface="Arial" panose="020B0604020202020204" pitchFamily="34" charset="0"/>
                  <a:buChar char="•"/>
                </a:pPr>
                <a:r>
                  <a:rPr lang="vi-VN" dirty="0">
                    <a:latin typeface="+mj-lt"/>
                  </a:rPr>
                  <a:t>Chứng minh CR-RSMA vượt trội CR-NOMA về công bằng người dùng và khả năng duy trì chất lượng </a:t>
                </a:r>
                <a:r>
                  <a:rPr lang="vi-VN" dirty="0" err="1">
                    <a:latin typeface="+mj-lt"/>
                  </a:rPr>
                  <a:t>video</a:t>
                </a:r>
                <a:r>
                  <a:rPr lang="vi-VN" dirty="0">
                    <a:latin typeface="+mj-lt"/>
                  </a:rPr>
                  <a:t> SVC trong các điều kiện mạng khác nhau.</a:t>
                </a:r>
                <a:endParaRPr lang="vi-VN" dirty="0">
                  <a:latin typeface="+mj-lt"/>
                  <a:cs typeface="Times New Roman" panose="02020603050405020304" pitchFamily="18" charset="0"/>
                </a:endParaRPr>
              </a:p>
            </p:txBody>
          </p:sp>
        </mc:Choice>
        <mc:Fallback>
          <p:sp>
            <p:nvSpPr>
              <p:cNvPr id="9" name="TextBox 8">
                <a:extLst>
                  <a:ext uri="{FF2B5EF4-FFF2-40B4-BE49-F238E27FC236}">
                    <a16:creationId xmlns:a16="http://schemas.microsoft.com/office/drawing/2014/main" id="{DA14F688-066F-7A1E-0E57-A7F26F04789B}"/>
                  </a:ext>
                </a:extLst>
              </p:cNvPr>
              <p:cNvSpPr txBox="1">
                <a:spLocks noRot="1" noChangeAspect="1" noMove="1" noResize="1" noEditPoints="1" noAdjustHandles="1" noChangeArrowheads="1" noChangeShapeType="1" noTextEdit="1"/>
              </p:cNvSpPr>
              <p:nvPr/>
            </p:nvSpPr>
            <p:spPr>
              <a:xfrm>
                <a:off x="360728" y="1936065"/>
                <a:ext cx="8422544" cy="3693319"/>
              </a:xfrm>
              <a:prstGeom prst="rect">
                <a:avLst/>
              </a:prstGeom>
              <a:blipFill>
                <a:blip r:embed="rId3"/>
                <a:stretch>
                  <a:fillRect l="-434" t="-992" b="-1818"/>
                </a:stretch>
              </a:blipFill>
            </p:spPr>
            <p:txBody>
              <a:bodyPr/>
              <a:lstStyle/>
              <a:p>
                <a:r>
                  <a:rPr lang="vi-VN">
                    <a:noFill/>
                  </a:rPr>
                  <a:t> </a:t>
                </a:r>
              </a:p>
            </p:txBody>
          </p:sp>
        </mc:Fallback>
      </mc:AlternateContent>
    </p:spTree>
    <p:extLst>
      <p:ext uri="{BB962C8B-B14F-4D97-AF65-F5344CB8AC3E}">
        <p14:creationId xmlns:p14="http://schemas.microsoft.com/office/powerpoint/2010/main" val="67202134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67286-8328-557E-50E6-3F90754E8EC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B5FDF53-A620-ACD6-EB42-43FF452BBA8F}"/>
              </a:ext>
            </a:extLst>
          </p:cNvPr>
          <p:cNvSpPr>
            <a:spLocks noGrp="1"/>
          </p:cNvSpPr>
          <p:nvPr>
            <p:ph type="title"/>
          </p:nvPr>
        </p:nvSpPr>
        <p:spPr>
          <a:xfrm>
            <a:off x="364538" y="306468"/>
            <a:ext cx="7205487" cy="688955"/>
          </a:xfrm>
        </p:spPr>
        <p:txBody>
          <a:bodyPr vert="horz" lIns="91440" tIns="45720" rIns="91440" bIns="45720" rtlCol="0" anchor="ctr">
            <a:noAutofit/>
          </a:bodyPr>
          <a:lstStyle/>
          <a:p>
            <a:r>
              <a:rPr lang="vi-VN" sz="3000" b="1" kern="1200" dirty="0">
                <a:latin typeface="Aptos" panose="020B0004020202020204" pitchFamily="34" charset="0"/>
              </a:rPr>
              <a:t>KẾT LUẬN VÀ ĐỊNH HƯỚNG PHÁT TRIỂN</a:t>
            </a:r>
            <a:endParaRPr lang="en-US" sz="3000" b="1" kern="1200" dirty="0">
              <a:latin typeface="Aptos" panose="020B0004020202020204" pitchFamily="34" charset="0"/>
            </a:endParaRPr>
          </a:p>
        </p:txBody>
      </p:sp>
      <p:sp>
        <p:nvSpPr>
          <p:cNvPr id="4" name="Slide Number Placeholder 3">
            <a:extLst>
              <a:ext uri="{FF2B5EF4-FFF2-40B4-BE49-F238E27FC236}">
                <a16:creationId xmlns:a16="http://schemas.microsoft.com/office/drawing/2014/main" id="{8684D0A8-0ECB-359D-EBD5-AC90785DAB5C}"/>
              </a:ext>
            </a:extLst>
          </p:cNvPr>
          <p:cNvSpPr>
            <a:spLocks noGrp="1"/>
          </p:cNvSpPr>
          <p:nvPr>
            <p:ph type="sldNum" sz="quarter" idx="12"/>
          </p:nvPr>
        </p:nvSpPr>
        <p:spPr>
          <a:xfrm>
            <a:off x="8439849" y="6510757"/>
            <a:ext cx="562062" cy="365125"/>
          </a:xfrm>
        </p:spPr>
        <p:txBody>
          <a:bodyPr vert="horz" lIns="91440" tIns="45720" rIns="91440" bIns="45720" rtlCol="0" anchor="ctr">
            <a:normAutofit/>
          </a:bodyPr>
          <a:lstStyle/>
          <a:p>
            <a:pPr>
              <a:lnSpc>
                <a:spcPct val="90000"/>
              </a:lnSpc>
              <a:spcAft>
                <a:spcPts val="600"/>
              </a:spcAft>
            </a:pPr>
            <a:fld id="{AE3E3AF4-E56C-405D-90D1-F29A6618B350}" type="slidenum">
              <a:rPr lang="vi-VN" sz="1900" smtClean="0"/>
              <a:pPr>
                <a:lnSpc>
                  <a:spcPct val="90000"/>
                </a:lnSpc>
                <a:spcAft>
                  <a:spcPts val="600"/>
                </a:spcAft>
              </a:pPr>
              <a:t>18</a:t>
            </a:fld>
            <a:endParaRPr lang="vi-VN" sz="1900" dirty="0"/>
          </a:p>
        </p:txBody>
      </p:sp>
      <p:sp>
        <p:nvSpPr>
          <p:cNvPr id="5" name="TextBox 4">
            <a:extLst>
              <a:ext uri="{FF2B5EF4-FFF2-40B4-BE49-F238E27FC236}">
                <a16:creationId xmlns:a16="http://schemas.microsoft.com/office/drawing/2014/main" id="{EF83A3F0-DE94-C398-7ED6-ED51051AFC8F}"/>
              </a:ext>
            </a:extLst>
          </p:cNvPr>
          <p:cNvSpPr txBox="1"/>
          <p:nvPr/>
        </p:nvSpPr>
        <p:spPr>
          <a:xfrm>
            <a:off x="364540" y="857489"/>
            <a:ext cx="4070300" cy="4172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defTabSz="914400">
              <a:lnSpc>
                <a:spcPct val="110000"/>
              </a:lnSpc>
              <a:spcBef>
                <a:spcPct val="0"/>
              </a:spcBef>
            </a:pPr>
            <a:r>
              <a:rPr lang="vi-VN" sz="2000" b="1" dirty="0">
                <a:solidFill>
                  <a:schemeClr val="tx2">
                    <a:lumMod val="90000"/>
                    <a:lumOff val="10000"/>
                  </a:schemeClr>
                </a:solidFill>
                <a:latin typeface="Aptos" panose="020B0004020202020204" pitchFamily="34" charset="0"/>
                <a:ea typeface="+mj-ea"/>
                <a:cs typeface="+mj-cs"/>
              </a:rPr>
              <a:t>Hạn chế &amp; Định hướng phát triển</a:t>
            </a:r>
            <a:endParaRPr lang="en-US" sz="2000" b="1" dirty="0">
              <a:solidFill>
                <a:schemeClr val="tx2">
                  <a:lumMod val="90000"/>
                  <a:lumOff val="10000"/>
                </a:schemeClr>
              </a:solidFill>
              <a:latin typeface="Aptos" panose="020B0004020202020204" pitchFamily="34" charset="0"/>
              <a:ea typeface="+mj-ea"/>
              <a:cs typeface="+mj-cs"/>
            </a:endParaRPr>
          </a:p>
        </p:txBody>
      </p:sp>
      <p:sp>
        <p:nvSpPr>
          <p:cNvPr id="3" name="TextBox 2">
            <a:extLst>
              <a:ext uri="{FF2B5EF4-FFF2-40B4-BE49-F238E27FC236}">
                <a16:creationId xmlns:a16="http://schemas.microsoft.com/office/drawing/2014/main" id="{FBF38C0E-058C-508A-9510-BD1D5E5A109E}"/>
              </a:ext>
            </a:extLst>
          </p:cNvPr>
          <p:cNvSpPr txBox="1"/>
          <p:nvPr/>
        </p:nvSpPr>
        <p:spPr>
          <a:xfrm>
            <a:off x="182269" y="1430697"/>
            <a:ext cx="8779462" cy="4247317"/>
          </a:xfrm>
          <a:prstGeom prst="rect">
            <a:avLst/>
          </a:prstGeom>
          <a:noFill/>
        </p:spPr>
        <p:txBody>
          <a:bodyPr wrap="square">
            <a:spAutoFit/>
          </a:bodyPr>
          <a:lstStyle/>
          <a:p>
            <a:pPr>
              <a:buNone/>
            </a:pPr>
            <a:r>
              <a:rPr lang="vi-VN" dirty="0">
                <a:latin typeface="+mj-lt"/>
                <a:cs typeface="Times New Roman" panose="02020603050405020304" pitchFamily="18" charset="0"/>
              </a:rPr>
              <a:t>Bên cạnh những kết quả đạt được, khóa luận vẫn còn một số hạn chế cần thừa nhận.</a:t>
            </a:r>
          </a:p>
          <a:p>
            <a:pPr>
              <a:buNone/>
            </a:pPr>
            <a:endParaRPr lang="vi-VN" dirty="0">
              <a:latin typeface="+mj-lt"/>
              <a:cs typeface="Times New Roman" panose="02020603050405020304" pitchFamily="18" charset="0"/>
            </a:endParaRPr>
          </a:p>
          <a:p>
            <a:r>
              <a:rPr lang="vi-VN" dirty="0">
                <a:latin typeface="+mj-lt"/>
              </a:rPr>
              <a:t>Hạn chế</a:t>
            </a:r>
          </a:p>
          <a:p>
            <a:pPr marL="285750" indent="-285750">
              <a:buFont typeface="Arial" panose="020B0604020202020204" pitchFamily="34" charset="0"/>
              <a:buChar char="•"/>
            </a:pPr>
            <a:r>
              <a:rPr lang="vi-VN" dirty="0">
                <a:latin typeface="+mj-lt"/>
              </a:rPr>
              <a:t>Giả định </a:t>
            </a:r>
            <a:r>
              <a:rPr lang="vi-VN" dirty="0" err="1">
                <a:latin typeface="+mj-lt"/>
              </a:rPr>
              <a:t>Perfect</a:t>
            </a:r>
            <a:r>
              <a:rPr lang="vi-VN" dirty="0">
                <a:latin typeface="+mj-lt"/>
              </a:rPr>
              <a:t> CSI tại trạm gốc, chưa xét đến sai số ước lượng kênh trong môi trường thực tế. </a:t>
            </a:r>
          </a:p>
          <a:p>
            <a:pPr marL="285750" indent="-285750">
              <a:buFont typeface="Arial" panose="020B0604020202020204" pitchFamily="34" charset="0"/>
              <a:buChar char="•"/>
            </a:pPr>
            <a:r>
              <a:rPr lang="vi-VN" dirty="0">
                <a:latin typeface="+mj-lt"/>
              </a:rPr>
              <a:t>Chưa đánh giá ảnh hưởng của tính di động và sự thay đổi nhanh của kênh vô tuyến. </a:t>
            </a:r>
          </a:p>
          <a:p>
            <a:pPr marL="285750" indent="-285750">
              <a:buFont typeface="Arial" panose="020B0604020202020204" pitchFamily="34" charset="0"/>
              <a:buChar char="•"/>
            </a:pPr>
            <a:r>
              <a:rPr lang="vi-VN" dirty="0">
                <a:latin typeface="+mj-lt"/>
              </a:rPr>
              <a:t>Hệ thống được xây dựng trên mô hình SISO, chưa khai thác độ lợi không gian của nhiều </a:t>
            </a:r>
            <a:r>
              <a:rPr lang="vi-VN" dirty="0" err="1">
                <a:latin typeface="+mj-lt"/>
              </a:rPr>
              <a:t>anten</a:t>
            </a:r>
            <a:r>
              <a:rPr lang="vi-VN" dirty="0">
                <a:latin typeface="+mj-lt"/>
              </a:rPr>
              <a:t>. </a:t>
            </a:r>
            <a:br>
              <a:rPr lang="vi-VN" dirty="0">
                <a:latin typeface="+mj-lt"/>
              </a:rPr>
            </a:br>
            <a:endParaRPr lang="vi-VN" dirty="0">
              <a:latin typeface="+mj-lt"/>
            </a:endParaRPr>
          </a:p>
          <a:p>
            <a:r>
              <a:rPr lang="vi-VN" dirty="0">
                <a:latin typeface="+mj-lt"/>
              </a:rPr>
              <a:t>Mở rộng</a:t>
            </a:r>
          </a:p>
          <a:p>
            <a:pPr marL="285750" indent="-285750">
              <a:buFont typeface="Arial" panose="020B0604020202020204" pitchFamily="34" charset="0"/>
              <a:buChar char="•"/>
            </a:pPr>
            <a:r>
              <a:rPr lang="vi-VN" dirty="0">
                <a:latin typeface="+mj-lt"/>
              </a:rPr>
              <a:t>Mở rộng sang </a:t>
            </a:r>
            <a:r>
              <a:rPr lang="vi-VN" dirty="0" err="1">
                <a:latin typeface="+mj-lt"/>
              </a:rPr>
              <a:t>Imperfect</a:t>
            </a:r>
            <a:r>
              <a:rPr lang="vi-VN" dirty="0">
                <a:latin typeface="+mj-lt"/>
              </a:rPr>
              <a:t> CSI để đánh giá độ bền vững của hệ thống trong điều kiện thực tế. </a:t>
            </a:r>
          </a:p>
          <a:p>
            <a:pPr marL="285750" indent="-285750">
              <a:buFont typeface="Arial" panose="020B0604020202020204" pitchFamily="34" charset="0"/>
              <a:buChar char="•"/>
            </a:pPr>
            <a:r>
              <a:rPr lang="vi-VN" dirty="0">
                <a:latin typeface="+mj-lt"/>
              </a:rPr>
              <a:t>Tích hợp MIMO-RSMA nhằm nâng cao hiệu suất phổ và dung lượng hệ thống. </a:t>
            </a:r>
          </a:p>
          <a:p>
            <a:pPr marL="285750" indent="-285750">
              <a:buFont typeface="Arial" panose="020B0604020202020204" pitchFamily="34" charset="0"/>
              <a:buChar char="•"/>
            </a:pPr>
            <a:r>
              <a:rPr lang="vi-VN" dirty="0">
                <a:latin typeface="+mj-lt"/>
              </a:rPr>
              <a:t>Ứng dụng </a:t>
            </a:r>
            <a:r>
              <a:rPr lang="vi-VN" dirty="0" err="1">
                <a:latin typeface="+mj-lt"/>
              </a:rPr>
              <a:t>Deep</a:t>
            </a:r>
            <a:r>
              <a:rPr lang="vi-VN" dirty="0">
                <a:latin typeface="+mj-lt"/>
              </a:rPr>
              <a:t> </a:t>
            </a:r>
            <a:r>
              <a:rPr lang="vi-VN" dirty="0" err="1">
                <a:latin typeface="+mj-lt"/>
              </a:rPr>
              <a:t>Reinforcement</a:t>
            </a:r>
            <a:r>
              <a:rPr lang="vi-VN" dirty="0">
                <a:latin typeface="+mj-lt"/>
              </a:rPr>
              <a:t> </a:t>
            </a:r>
            <a:r>
              <a:rPr lang="vi-VN" dirty="0" err="1">
                <a:latin typeface="+mj-lt"/>
              </a:rPr>
              <a:t>Learning</a:t>
            </a:r>
            <a:r>
              <a:rPr lang="vi-VN" dirty="0">
                <a:latin typeface="+mj-lt"/>
              </a:rPr>
              <a:t> cho bài toán phân bổ công suất thời gian thực. </a:t>
            </a:r>
          </a:p>
          <a:p>
            <a:pPr marL="285750" indent="-285750">
              <a:buFont typeface="Arial" panose="020B0604020202020204" pitchFamily="34" charset="0"/>
              <a:buChar char="•"/>
            </a:pPr>
            <a:r>
              <a:rPr lang="vi-VN" dirty="0">
                <a:latin typeface="+mj-lt"/>
              </a:rPr>
              <a:t>Mở rộng nghiên cứu cho các kịch bản 6G </a:t>
            </a:r>
            <a:r>
              <a:rPr lang="vi-VN" dirty="0" err="1">
                <a:latin typeface="+mj-lt"/>
              </a:rPr>
              <a:t>Video</a:t>
            </a:r>
            <a:r>
              <a:rPr lang="vi-VN" dirty="0">
                <a:latin typeface="+mj-lt"/>
              </a:rPr>
              <a:t> </a:t>
            </a:r>
            <a:r>
              <a:rPr lang="vi-VN" dirty="0" err="1">
                <a:latin typeface="+mj-lt"/>
              </a:rPr>
              <a:t>Streaming</a:t>
            </a:r>
            <a:r>
              <a:rPr lang="vi-VN" dirty="0">
                <a:latin typeface="+mj-lt"/>
              </a:rPr>
              <a:t> và </a:t>
            </a:r>
            <a:r>
              <a:rPr lang="vi-VN" dirty="0" err="1">
                <a:latin typeface="+mj-lt"/>
              </a:rPr>
              <a:t>Semantic</a:t>
            </a:r>
            <a:r>
              <a:rPr lang="vi-VN" dirty="0">
                <a:latin typeface="+mj-lt"/>
              </a:rPr>
              <a:t> </a:t>
            </a:r>
            <a:r>
              <a:rPr lang="vi-VN" dirty="0" err="1">
                <a:latin typeface="+mj-lt"/>
              </a:rPr>
              <a:t>Communications</a:t>
            </a:r>
            <a:r>
              <a:rPr lang="vi-VN" dirty="0">
                <a:latin typeface="+mj-lt"/>
              </a:rPr>
              <a:t>. </a:t>
            </a:r>
          </a:p>
        </p:txBody>
      </p:sp>
    </p:spTree>
    <p:extLst>
      <p:ext uri="{BB962C8B-B14F-4D97-AF65-F5344CB8AC3E}">
        <p14:creationId xmlns:p14="http://schemas.microsoft.com/office/powerpoint/2010/main" val="399823405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D34D-19EA-C259-327C-F81FC4F9DA15}"/>
              </a:ext>
            </a:extLst>
          </p:cNvPr>
          <p:cNvSpPr>
            <a:spLocks noGrp="1"/>
          </p:cNvSpPr>
          <p:nvPr>
            <p:ph type="ctrTitle"/>
          </p:nvPr>
        </p:nvSpPr>
        <p:spPr>
          <a:xfrm>
            <a:off x="685800" y="2582703"/>
            <a:ext cx="7772400" cy="1692593"/>
          </a:xfrm>
        </p:spPr>
        <p:txBody>
          <a:bodyPr vert="horz" lIns="68580" tIns="34290" rIns="68580" bIns="34290" rtlCol="0" anchor="b">
            <a:normAutofit/>
          </a:bodyPr>
          <a:lstStyle/>
          <a:p>
            <a:r>
              <a:rPr lang="en-US" sz="5000" b="1" dirty="0">
                <a:latin typeface="Aptos" panose="020B0004020202020204" pitchFamily="34" charset="0"/>
              </a:rPr>
              <a:t>CẢM ƠN THẦY CÔ</a:t>
            </a:r>
            <a:br>
              <a:rPr lang="en-US" sz="5000" b="1" dirty="0">
                <a:latin typeface="Aptos" panose="020B0004020202020204" pitchFamily="34" charset="0"/>
              </a:rPr>
            </a:br>
            <a:r>
              <a:rPr lang="en-US" sz="5000" b="1" dirty="0">
                <a:latin typeface="Aptos" panose="020B0004020202020204" pitchFamily="34" charset="0"/>
              </a:rPr>
              <a:t>ĐÃ LẮNG NGHE!</a:t>
            </a:r>
          </a:p>
        </p:txBody>
      </p:sp>
      <p:sp>
        <p:nvSpPr>
          <p:cNvPr id="3" name="Slide Number Placeholder 2" hidden="1">
            <a:extLst>
              <a:ext uri="{FF2B5EF4-FFF2-40B4-BE49-F238E27FC236}">
                <a16:creationId xmlns:a16="http://schemas.microsoft.com/office/drawing/2014/main" id="{002B4970-2F37-42D3-CBAF-8CA2E016C9A7}"/>
              </a:ext>
            </a:extLst>
          </p:cNvPr>
          <p:cNvSpPr>
            <a:spLocks noGrp="1"/>
          </p:cNvSpPr>
          <p:nvPr>
            <p:ph type="sldNum" sz="quarter" idx="12"/>
          </p:nvPr>
        </p:nvSpPr>
        <p:spPr/>
        <p:txBody>
          <a:bodyPr/>
          <a:lstStyle/>
          <a:p>
            <a:pPr>
              <a:spcAft>
                <a:spcPts val="600"/>
              </a:spcAft>
            </a:pPr>
            <a:fld id="{AE3E3AF4-E56C-405D-90D1-F29A6618B350}" type="slidenum">
              <a:rPr lang="vi-VN" smtClean="0"/>
              <a:pPr>
                <a:spcAft>
                  <a:spcPts val="600"/>
                </a:spcAft>
              </a:pPr>
              <a:t>19</a:t>
            </a:fld>
            <a:endParaRPr lang="vi-VN"/>
          </a:p>
        </p:txBody>
      </p:sp>
      <p:sp>
        <p:nvSpPr>
          <p:cNvPr id="4" name="TextBox 3">
            <a:extLst>
              <a:ext uri="{FF2B5EF4-FFF2-40B4-BE49-F238E27FC236}">
                <a16:creationId xmlns:a16="http://schemas.microsoft.com/office/drawing/2014/main" id="{73DAED1A-4701-02B4-2FA6-E83BDD00D9DC}"/>
              </a:ext>
            </a:extLst>
          </p:cNvPr>
          <p:cNvSpPr txBox="1"/>
          <p:nvPr/>
        </p:nvSpPr>
        <p:spPr>
          <a:xfrm>
            <a:off x="1448566" y="134035"/>
            <a:ext cx="6525361" cy="646331"/>
          </a:xfrm>
          <a:prstGeom prst="rect">
            <a:avLst/>
          </a:prstGeom>
          <a:noFill/>
        </p:spPr>
        <p:txBody>
          <a:bodyPr wrap="square" rtlCol="0">
            <a:spAutoFit/>
          </a:bodyPr>
          <a:lstStyle/>
          <a:p>
            <a:pPr algn="ctr"/>
            <a:r>
              <a:rPr lang="en-US" b="1" dirty="0">
                <a:solidFill>
                  <a:schemeClr val="tx2">
                    <a:lumMod val="90000"/>
                    <a:lumOff val="10000"/>
                  </a:schemeClr>
                </a:solidFill>
                <a:cs typeface="Arial" panose="020B0604020202020204" pitchFamily="34" charset="0"/>
              </a:rPr>
              <a:t>KHOA ĐIỆN TỬ VIỄN THÔNG</a:t>
            </a:r>
          </a:p>
          <a:p>
            <a:pPr algn="ctr"/>
            <a:r>
              <a:rPr lang="en-US" b="1" dirty="0">
                <a:solidFill>
                  <a:schemeClr val="tx2">
                    <a:lumMod val="90000"/>
                    <a:lumOff val="10000"/>
                  </a:schemeClr>
                </a:solidFill>
                <a:cs typeface="Arial" panose="020B0604020202020204" pitchFamily="34" charset="0"/>
              </a:rPr>
              <a:t>TRƯỜNG ĐẠI HỌC CÔNG NGHỆ - ĐẠI HỌC QUỐC GIA HÀ NỘI</a:t>
            </a:r>
            <a:endParaRPr lang="vi-VN" b="1" dirty="0">
              <a:solidFill>
                <a:schemeClr val="tx2">
                  <a:lumMod val="90000"/>
                  <a:lumOff val="10000"/>
                </a:schemeClr>
              </a:solidFill>
              <a:cs typeface="Arial" panose="020B0604020202020204" pitchFamily="34" charset="0"/>
            </a:endParaRPr>
          </a:p>
        </p:txBody>
      </p:sp>
      <p:pic>
        <p:nvPicPr>
          <p:cNvPr id="5" name="Picture 2" descr="Trường Đại học Công nghệ, ĐHQGHN - VNU- University of Engineering and  Technology">
            <a:extLst>
              <a:ext uri="{FF2B5EF4-FFF2-40B4-BE49-F238E27FC236}">
                <a16:creationId xmlns:a16="http://schemas.microsoft.com/office/drawing/2014/main" id="{DD99D6C3-B85E-2DA3-4058-77E2DB6B2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93" y="136691"/>
            <a:ext cx="643675" cy="6436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1B68725-0C3F-FFDB-0FCD-396DE37642BE}"/>
              </a:ext>
            </a:extLst>
          </p:cNvPr>
          <p:cNvSpPr txBox="1"/>
          <p:nvPr/>
        </p:nvSpPr>
        <p:spPr>
          <a:xfrm>
            <a:off x="8576841" y="6516368"/>
            <a:ext cx="4583574" cy="355482"/>
          </a:xfrm>
          <a:prstGeom prst="rect">
            <a:avLst/>
          </a:prstGeom>
          <a:noFill/>
        </p:spPr>
        <p:txBody>
          <a:bodyPr wrap="square">
            <a:spAutoFit/>
          </a:bodyPr>
          <a:lstStyle/>
          <a:p>
            <a:pPr>
              <a:lnSpc>
                <a:spcPct val="90000"/>
              </a:lnSpc>
              <a:spcAft>
                <a:spcPts val="600"/>
              </a:spcAft>
            </a:pPr>
            <a:fld id="{AE3E3AF4-E56C-405D-90D1-F29A6618B350}" type="slidenum">
              <a:rPr lang="vi-VN" sz="1900" b="1">
                <a:solidFill>
                  <a:schemeClr val="bg1"/>
                </a:solidFill>
              </a:rPr>
              <a:pPr>
                <a:lnSpc>
                  <a:spcPct val="90000"/>
                </a:lnSpc>
                <a:spcAft>
                  <a:spcPts val="600"/>
                </a:spcAft>
              </a:pPr>
              <a:t>19</a:t>
            </a:fld>
            <a:endParaRPr lang="vi-VN" sz="1900" b="1" dirty="0">
              <a:solidFill>
                <a:schemeClr val="bg1"/>
              </a:solidFill>
            </a:endParaRPr>
          </a:p>
        </p:txBody>
      </p:sp>
    </p:spTree>
    <p:extLst>
      <p:ext uri="{BB962C8B-B14F-4D97-AF65-F5344CB8AC3E}">
        <p14:creationId xmlns:p14="http://schemas.microsoft.com/office/powerpoint/2010/main" val="1734611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6661</TotalTime>
  <Words>4022</Words>
  <Application>Microsoft Office PowerPoint</Application>
  <PresentationFormat>On-screen Show (4:3)</PresentationFormat>
  <Paragraphs>246</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Cambria Math</vt:lpstr>
      <vt:lpstr>Times New Roman</vt:lpstr>
      <vt:lpstr>Office Theme</vt:lpstr>
      <vt:lpstr>CÂN BẰNG CHẤT LƯỢNG ĐA NGƯỜI DÙNG CHO DỊCH VỤ TRUYỀN VIDEO SVC QUA KÊNH CR-RSMA ĐƯỜNG LÊN</vt:lpstr>
      <vt:lpstr>MỤC LỤC</vt:lpstr>
      <vt:lpstr>BỐI CẢNH</vt:lpstr>
      <vt:lpstr>BỐI CẢNH</vt:lpstr>
      <vt:lpstr>CƠ SỞ LÝ THUYẾT</vt:lpstr>
      <vt:lpstr>CƠ SỞ LÝ THUYẾT</vt:lpstr>
      <vt:lpstr>CƠ SỞ LÝ THUYẾT</vt:lpstr>
      <vt:lpstr>CƠ SỞ LÝ THUYẾT</vt:lpstr>
      <vt:lpstr>BÀI TOÁN TỐI ƯU VÀ PHƯƠNG PHÁP</vt:lpstr>
      <vt:lpstr>BÀI TOÁN TỐI ƯU VÀ PHƯƠNG PHÁP</vt:lpstr>
      <vt:lpstr>BÀI TOÁN TỐI ƯU VÀ PHƯƠNG PHÁP</vt:lpstr>
      <vt:lpstr>PowerPoint Presentation</vt:lpstr>
      <vt:lpstr>KẾT QUẢ VÀ ĐÁNH GIÁ</vt:lpstr>
      <vt:lpstr>KẾT QUẢ VÀ ĐÁNH GIÁ</vt:lpstr>
      <vt:lpstr>KẾT QUẢ VÀ ĐÁNH GIÁ</vt:lpstr>
      <vt:lpstr>KẾT QUẢ VÀ ĐÁNH GIÁ</vt:lpstr>
      <vt:lpstr>KẾT LUẬN VÀ ĐỊNH HƯỚNG PHÁT TRIỂN</vt:lpstr>
      <vt:lpstr>KẾT LUẬN VÀ ĐỊNH HƯỚNG PHÁT TRIỂN</vt:lpstr>
      <vt:lpstr>CẢM ƠN THẦY CÔ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Hoang Tran</dc:creator>
  <cp:lastModifiedBy>thành vinh nguyễn</cp:lastModifiedBy>
  <cp:revision>15</cp:revision>
  <dcterms:created xsi:type="dcterms:W3CDTF">2025-05-14T13:14:41Z</dcterms:created>
  <dcterms:modified xsi:type="dcterms:W3CDTF">2026-06-01T19:42:44Z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2025-05-14T13:19:51Z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5d5e7d55-ef41-4be6-ac1e-56437df71f54</vt:lpwstr>
  </property>
  <property fmtid="{D5CDD505-2E9C-101B-9397-08002B2CF9AE}" pid="7" name="MSIP_Label_defa4170-0d19-0005-0004-bc88714345d2_ActionId">
    <vt:lpwstr>54ee5624-19c9-4c00-bd61-9bd22b5ef8e5</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