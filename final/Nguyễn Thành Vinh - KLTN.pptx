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20"/>
  </p:notesMasterIdLst>
  <p:sldIdLst>
    <p:sldId id="256" r:id="rId2"/>
    <p:sldId id="278" r:id="rId3"/>
    <p:sldId id="258" r:id="rId4"/>
    <p:sldId id="294" r:id="rId5"/>
    <p:sldId id="295" r:id="rId6"/>
    <p:sldId id="296" r:id="rId7"/>
    <p:sldId id="297" r:id="rId8"/>
    <p:sldId id="298" r:id="rId9"/>
    <p:sldId id="286" r:id="rId10"/>
    <p:sldId id="299" r:id="rId11"/>
    <p:sldId id="300" r:id="rId12"/>
    <p:sldId id="301" r:id="rId13"/>
    <p:sldId id="302" r:id="rId14"/>
    <p:sldId id="303" r:id="rId15"/>
    <p:sldId id="304" r:id="rId16"/>
    <p:sldId id="305" r:id="rId17"/>
    <p:sldId id="306" r:id="rId18"/>
    <p:sldId id="27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B085EB-53CA-411A-87A0-E9AA2DE55482}" v="2161" dt="2025-05-20T01:49:43.4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99" autoAdjust="0"/>
    <p:restoredTop sz="75604" autoAdjust="0"/>
  </p:normalViewPr>
  <p:slideViewPr>
    <p:cSldViewPr snapToGrid="0">
      <p:cViewPr varScale="1">
        <p:scale>
          <a:sx n="67" d="100"/>
          <a:sy n="67" d="100"/>
        </p:scale>
        <p:origin x="1930"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EF36536-30F8-4552-8415-0DB12F24D174}"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71C45BC7-619E-4D28-9580-022DF4FCF4A2}">
      <dgm:prSet custT="1"/>
      <dgm:spPr>
        <a:solidFill>
          <a:schemeClr val="tx2">
            <a:lumMod val="90000"/>
            <a:lumOff val="10000"/>
          </a:schemeClr>
        </a:solidFill>
      </dgm:spPr>
      <dgm:t>
        <a:bodyPr/>
        <a:lstStyle/>
        <a:p>
          <a:r>
            <a:rPr lang="vi-VN" sz="2000" b="1" dirty="0">
              <a:latin typeface="Aptos" panose="020B0004020202020204" pitchFamily="34" charset="0"/>
            </a:rPr>
            <a:t>ĐỘNG LỰC NGHIÊN CỨU</a:t>
          </a:r>
          <a:endParaRPr lang="en-US" sz="2000" b="1" dirty="0">
            <a:latin typeface="Aptos" panose="020B0004020202020204" pitchFamily="34" charset="0"/>
          </a:endParaRPr>
        </a:p>
      </dgm:t>
    </dgm:pt>
    <dgm:pt modelId="{8281A381-B501-4544-816D-5800AC16078F}" type="parTrans" cxnId="{5C368EC6-B1D6-403F-A388-3F089585D58C}">
      <dgm:prSet/>
      <dgm:spPr/>
      <dgm:t>
        <a:bodyPr/>
        <a:lstStyle/>
        <a:p>
          <a:endParaRPr lang="en-US" sz="2000">
            <a:latin typeface="Aptos" panose="020B0004020202020204" pitchFamily="34" charset="0"/>
          </a:endParaRPr>
        </a:p>
      </dgm:t>
    </dgm:pt>
    <dgm:pt modelId="{C2E3F477-D6F6-448A-B5B6-E336F448F1B2}" type="sibTrans" cxnId="{5C368EC6-B1D6-403F-A388-3F089585D58C}">
      <dgm:prSet/>
      <dgm:spPr/>
      <dgm:t>
        <a:bodyPr/>
        <a:lstStyle/>
        <a:p>
          <a:endParaRPr lang="en-US" sz="2000">
            <a:latin typeface="Aptos" panose="020B0004020202020204" pitchFamily="34" charset="0"/>
          </a:endParaRPr>
        </a:p>
      </dgm:t>
    </dgm:pt>
    <dgm:pt modelId="{99BB6E33-2688-46B1-9113-8B1B151B86CA}">
      <dgm:prSet custT="1"/>
      <dgm:spPr>
        <a:solidFill>
          <a:schemeClr val="tx2">
            <a:lumMod val="90000"/>
            <a:lumOff val="10000"/>
          </a:schemeClr>
        </a:solidFill>
      </dgm:spPr>
      <dgm:t>
        <a:bodyPr/>
        <a:lstStyle/>
        <a:p>
          <a:r>
            <a:rPr lang="vi-VN" sz="2000" b="1" dirty="0">
              <a:latin typeface="Aptos" panose="020B0004020202020204" pitchFamily="34" charset="0"/>
            </a:rPr>
            <a:t>CƠ SỞ LÝ THUYẾT</a:t>
          </a:r>
          <a:endParaRPr lang="en-US" sz="2000" b="1" dirty="0">
            <a:latin typeface="Aptos" panose="020B0004020202020204" pitchFamily="34" charset="0"/>
          </a:endParaRPr>
        </a:p>
      </dgm:t>
    </dgm:pt>
    <dgm:pt modelId="{A2745B45-27A4-4588-A694-3410BAA022ED}" type="parTrans" cxnId="{56762930-4196-4D50-AC54-5F1216CD5721}">
      <dgm:prSet/>
      <dgm:spPr/>
      <dgm:t>
        <a:bodyPr/>
        <a:lstStyle/>
        <a:p>
          <a:endParaRPr lang="en-US" sz="2000">
            <a:latin typeface="Aptos" panose="020B0004020202020204" pitchFamily="34" charset="0"/>
          </a:endParaRPr>
        </a:p>
      </dgm:t>
    </dgm:pt>
    <dgm:pt modelId="{D4CFD74C-4DE3-48F4-BEB4-9BF40FEBE87D}" type="sibTrans" cxnId="{56762930-4196-4D50-AC54-5F1216CD5721}">
      <dgm:prSet/>
      <dgm:spPr/>
      <dgm:t>
        <a:bodyPr/>
        <a:lstStyle/>
        <a:p>
          <a:endParaRPr lang="en-US" sz="2000">
            <a:latin typeface="Aptos" panose="020B0004020202020204" pitchFamily="34" charset="0"/>
          </a:endParaRPr>
        </a:p>
      </dgm:t>
    </dgm:pt>
    <dgm:pt modelId="{08F68ECF-3AE0-4BF1-9984-5E32173B8750}">
      <dgm:prSet custT="1"/>
      <dgm:spPr>
        <a:solidFill>
          <a:schemeClr val="tx2">
            <a:lumMod val="90000"/>
            <a:lumOff val="10000"/>
          </a:schemeClr>
        </a:solidFill>
      </dgm:spPr>
      <dgm:t>
        <a:bodyPr/>
        <a:lstStyle/>
        <a:p>
          <a:r>
            <a:rPr lang="vi-VN" sz="2000" b="1" dirty="0">
              <a:latin typeface="Aptos" panose="020B0004020202020204" pitchFamily="34" charset="0"/>
            </a:rPr>
            <a:t>MÔ HÌNH VÀ GIẢI THUẬT</a:t>
          </a:r>
          <a:endParaRPr lang="en-US" sz="2000" b="1" dirty="0">
            <a:latin typeface="Aptos" panose="020B0004020202020204" pitchFamily="34" charset="0"/>
          </a:endParaRPr>
        </a:p>
      </dgm:t>
    </dgm:pt>
    <dgm:pt modelId="{660CBE0E-63AB-47BA-801A-48A926A9A452}" type="parTrans" cxnId="{B0F8C93A-98A8-48C4-B759-1CD133267D5D}">
      <dgm:prSet/>
      <dgm:spPr/>
      <dgm:t>
        <a:bodyPr/>
        <a:lstStyle/>
        <a:p>
          <a:endParaRPr lang="en-US" sz="2000">
            <a:latin typeface="Aptos" panose="020B0004020202020204" pitchFamily="34" charset="0"/>
          </a:endParaRPr>
        </a:p>
      </dgm:t>
    </dgm:pt>
    <dgm:pt modelId="{DB150644-F371-4EB1-BD49-237A80CAA334}" type="sibTrans" cxnId="{B0F8C93A-98A8-48C4-B759-1CD133267D5D}">
      <dgm:prSet/>
      <dgm:spPr/>
      <dgm:t>
        <a:bodyPr/>
        <a:lstStyle/>
        <a:p>
          <a:endParaRPr lang="en-US" sz="2000">
            <a:latin typeface="Aptos" panose="020B0004020202020204" pitchFamily="34" charset="0"/>
          </a:endParaRPr>
        </a:p>
      </dgm:t>
    </dgm:pt>
    <dgm:pt modelId="{3AA5D3DC-40A0-4D07-8607-CC9A8E65A81B}">
      <dgm:prSet custT="1"/>
      <dgm:spPr>
        <a:solidFill>
          <a:schemeClr val="tx2">
            <a:lumMod val="90000"/>
            <a:lumOff val="10000"/>
          </a:schemeClr>
        </a:solidFill>
      </dgm:spPr>
      <dgm:t>
        <a:bodyPr/>
        <a:lstStyle/>
        <a:p>
          <a:r>
            <a:rPr lang="en-US" sz="2000" b="1" dirty="0">
              <a:latin typeface="Aptos" panose="020B0004020202020204" pitchFamily="34" charset="0"/>
            </a:rPr>
            <a:t>KẾT QUẢ VÀ </a:t>
          </a:r>
          <a:r>
            <a:rPr lang="vi-VN" sz="2000" b="1" dirty="0">
              <a:latin typeface="Aptos" panose="020B0004020202020204" pitchFamily="34" charset="0"/>
            </a:rPr>
            <a:t>ĐÁNH GIÁ</a:t>
          </a:r>
          <a:endParaRPr lang="en-US" sz="2000" b="1" dirty="0">
            <a:latin typeface="Aptos" panose="020B0004020202020204" pitchFamily="34" charset="0"/>
          </a:endParaRPr>
        </a:p>
      </dgm:t>
    </dgm:pt>
    <dgm:pt modelId="{0A1E31B3-689A-46D3-A2DC-CF5D63FCA6AF}" type="parTrans" cxnId="{B9C028F0-3E78-4F9C-9E98-2BE81C67EED3}">
      <dgm:prSet/>
      <dgm:spPr/>
      <dgm:t>
        <a:bodyPr/>
        <a:lstStyle/>
        <a:p>
          <a:endParaRPr lang="en-US" sz="2000">
            <a:latin typeface="Aptos" panose="020B0004020202020204" pitchFamily="34" charset="0"/>
          </a:endParaRPr>
        </a:p>
      </dgm:t>
    </dgm:pt>
    <dgm:pt modelId="{9E5600E3-3321-4135-B32A-39BA88FF4F90}" type="sibTrans" cxnId="{B9C028F0-3E78-4F9C-9E98-2BE81C67EED3}">
      <dgm:prSet/>
      <dgm:spPr/>
      <dgm:t>
        <a:bodyPr/>
        <a:lstStyle/>
        <a:p>
          <a:endParaRPr lang="en-US" sz="2000">
            <a:latin typeface="Aptos" panose="020B0004020202020204" pitchFamily="34" charset="0"/>
          </a:endParaRPr>
        </a:p>
      </dgm:t>
    </dgm:pt>
    <dgm:pt modelId="{15EF9DDE-DFBC-4AC2-9363-686FF6EA0742}">
      <dgm:prSet custT="1"/>
      <dgm:spPr>
        <a:solidFill>
          <a:schemeClr val="tx2">
            <a:lumMod val="90000"/>
            <a:lumOff val="10000"/>
          </a:schemeClr>
        </a:solidFill>
      </dgm:spPr>
      <dgm:t>
        <a:bodyPr/>
        <a:lstStyle/>
        <a:p>
          <a:r>
            <a:rPr lang="en-US" sz="2000" b="1" dirty="0">
              <a:latin typeface="Aptos" panose="020B0004020202020204" pitchFamily="34" charset="0"/>
            </a:rPr>
            <a:t>KẾT LUẬN VÀ PHƯƠNG HƯỚNG PHÁT TRIỂN</a:t>
          </a:r>
        </a:p>
      </dgm:t>
    </dgm:pt>
    <dgm:pt modelId="{33C0BD66-3546-48EE-85FE-CD60828E7A30}" type="parTrans" cxnId="{99BB216A-C1AA-428F-8CFA-BF3201DCB06A}">
      <dgm:prSet/>
      <dgm:spPr/>
      <dgm:t>
        <a:bodyPr/>
        <a:lstStyle/>
        <a:p>
          <a:endParaRPr lang="en-US" sz="2000">
            <a:latin typeface="Aptos" panose="020B0004020202020204" pitchFamily="34" charset="0"/>
          </a:endParaRPr>
        </a:p>
      </dgm:t>
    </dgm:pt>
    <dgm:pt modelId="{6DBB24FF-62AD-46D4-90EA-FE3E4B90E0B1}" type="sibTrans" cxnId="{99BB216A-C1AA-428F-8CFA-BF3201DCB06A}">
      <dgm:prSet/>
      <dgm:spPr/>
      <dgm:t>
        <a:bodyPr/>
        <a:lstStyle/>
        <a:p>
          <a:endParaRPr lang="en-US" sz="2000">
            <a:latin typeface="Aptos" panose="020B0004020202020204" pitchFamily="34" charset="0"/>
          </a:endParaRPr>
        </a:p>
      </dgm:t>
    </dgm:pt>
    <dgm:pt modelId="{7398E365-FEBE-450C-9295-82FE4766747C}" type="pres">
      <dgm:prSet presAssocID="{8EF36536-30F8-4552-8415-0DB12F24D174}" presName="linear" presStyleCnt="0">
        <dgm:presLayoutVars>
          <dgm:animLvl val="lvl"/>
          <dgm:resizeHandles val="exact"/>
        </dgm:presLayoutVars>
      </dgm:prSet>
      <dgm:spPr/>
    </dgm:pt>
    <dgm:pt modelId="{7B48F84D-302F-44CE-B06F-42D2C48C0869}" type="pres">
      <dgm:prSet presAssocID="{71C45BC7-619E-4D28-9580-022DF4FCF4A2}" presName="parentText" presStyleLbl="node1" presStyleIdx="0" presStyleCnt="5">
        <dgm:presLayoutVars>
          <dgm:chMax val="0"/>
          <dgm:bulletEnabled val="1"/>
        </dgm:presLayoutVars>
      </dgm:prSet>
      <dgm:spPr/>
    </dgm:pt>
    <dgm:pt modelId="{942165C8-F336-477A-B8F7-C4C18273CA26}" type="pres">
      <dgm:prSet presAssocID="{C2E3F477-D6F6-448A-B5B6-E336F448F1B2}" presName="spacer" presStyleCnt="0"/>
      <dgm:spPr/>
    </dgm:pt>
    <dgm:pt modelId="{0686F92F-4C31-4885-9AF2-53D71CB22608}" type="pres">
      <dgm:prSet presAssocID="{99BB6E33-2688-46B1-9113-8B1B151B86CA}" presName="parentText" presStyleLbl="node1" presStyleIdx="1" presStyleCnt="5">
        <dgm:presLayoutVars>
          <dgm:chMax val="0"/>
          <dgm:bulletEnabled val="1"/>
        </dgm:presLayoutVars>
      </dgm:prSet>
      <dgm:spPr/>
    </dgm:pt>
    <dgm:pt modelId="{F38C8A95-D542-4952-B7DF-F75CC1A750C4}" type="pres">
      <dgm:prSet presAssocID="{D4CFD74C-4DE3-48F4-BEB4-9BF40FEBE87D}" presName="spacer" presStyleCnt="0"/>
      <dgm:spPr/>
    </dgm:pt>
    <dgm:pt modelId="{DA6DA402-B5D0-4E09-9AEE-FC286C15B27F}" type="pres">
      <dgm:prSet presAssocID="{08F68ECF-3AE0-4BF1-9984-5E32173B8750}" presName="parentText" presStyleLbl="node1" presStyleIdx="2" presStyleCnt="5">
        <dgm:presLayoutVars>
          <dgm:chMax val="0"/>
          <dgm:bulletEnabled val="1"/>
        </dgm:presLayoutVars>
      </dgm:prSet>
      <dgm:spPr/>
    </dgm:pt>
    <dgm:pt modelId="{AB627912-A5BB-4FCD-8C8A-7799FDFA1286}" type="pres">
      <dgm:prSet presAssocID="{DB150644-F371-4EB1-BD49-237A80CAA334}" presName="spacer" presStyleCnt="0"/>
      <dgm:spPr/>
    </dgm:pt>
    <dgm:pt modelId="{04E2EBA8-DC78-456F-A001-FB818E2DBA56}" type="pres">
      <dgm:prSet presAssocID="{3AA5D3DC-40A0-4D07-8607-CC9A8E65A81B}" presName="parentText" presStyleLbl="node1" presStyleIdx="3" presStyleCnt="5">
        <dgm:presLayoutVars>
          <dgm:chMax val="0"/>
          <dgm:bulletEnabled val="1"/>
        </dgm:presLayoutVars>
      </dgm:prSet>
      <dgm:spPr/>
    </dgm:pt>
    <dgm:pt modelId="{07EE0852-E868-4ED6-A7D2-7C498340ED2F}" type="pres">
      <dgm:prSet presAssocID="{9E5600E3-3321-4135-B32A-39BA88FF4F90}" presName="spacer" presStyleCnt="0"/>
      <dgm:spPr/>
    </dgm:pt>
    <dgm:pt modelId="{E902512B-22AF-4587-A5FB-1CE55522E13C}" type="pres">
      <dgm:prSet presAssocID="{15EF9DDE-DFBC-4AC2-9363-686FF6EA0742}" presName="parentText" presStyleLbl="node1" presStyleIdx="4" presStyleCnt="5">
        <dgm:presLayoutVars>
          <dgm:chMax val="0"/>
          <dgm:bulletEnabled val="1"/>
        </dgm:presLayoutVars>
      </dgm:prSet>
      <dgm:spPr/>
    </dgm:pt>
  </dgm:ptLst>
  <dgm:cxnLst>
    <dgm:cxn modelId="{8BBB590A-C925-4E03-AD4F-E094BA778399}" type="presOf" srcId="{08F68ECF-3AE0-4BF1-9984-5E32173B8750}" destId="{DA6DA402-B5D0-4E09-9AEE-FC286C15B27F}" srcOrd="0" destOrd="0" presId="urn:microsoft.com/office/officeart/2005/8/layout/vList2"/>
    <dgm:cxn modelId="{56762930-4196-4D50-AC54-5F1216CD5721}" srcId="{8EF36536-30F8-4552-8415-0DB12F24D174}" destId="{99BB6E33-2688-46B1-9113-8B1B151B86CA}" srcOrd="1" destOrd="0" parTransId="{A2745B45-27A4-4588-A694-3410BAA022ED}" sibTransId="{D4CFD74C-4DE3-48F4-BEB4-9BF40FEBE87D}"/>
    <dgm:cxn modelId="{19AC4133-F552-4E1A-9BF1-194E98472619}" type="presOf" srcId="{3AA5D3DC-40A0-4D07-8607-CC9A8E65A81B}" destId="{04E2EBA8-DC78-456F-A001-FB818E2DBA56}" srcOrd="0" destOrd="0" presId="urn:microsoft.com/office/officeart/2005/8/layout/vList2"/>
    <dgm:cxn modelId="{B0F8C93A-98A8-48C4-B759-1CD133267D5D}" srcId="{8EF36536-30F8-4552-8415-0DB12F24D174}" destId="{08F68ECF-3AE0-4BF1-9984-5E32173B8750}" srcOrd="2" destOrd="0" parTransId="{660CBE0E-63AB-47BA-801A-48A926A9A452}" sibTransId="{DB150644-F371-4EB1-BD49-237A80CAA334}"/>
    <dgm:cxn modelId="{99BB216A-C1AA-428F-8CFA-BF3201DCB06A}" srcId="{8EF36536-30F8-4552-8415-0DB12F24D174}" destId="{15EF9DDE-DFBC-4AC2-9363-686FF6EA0742}" srcOrd="4" destOrd="0" parTransId="{33C0BD66-3546-48EE-85FE-CD60828E7A30}" sibTransId="{6DBB24FF-62AD-46D4-90EA-FE3E4B90E0B1}"/>
    <dgm:cxn modelId="{FD755BBF-B1C0-4A9A-8C4C-4BC361011212}" type="presOf" srcId="{71C45BC7-619E-4D28-9580-022DF4FCF4A2}" destId="{7B48F84D-302F-44CE-B06F-42D2C48C0869}" srcOrd="0" destOrd="0" presId="urn:microsoft.com/office/officeart/2005/8/layout/vList2"/>
    <dgm:cxn modelId="{5C368EC6-B1D6-403F-A388-3F089585D58C}" srcId="{8EF36536-30F8-4552-8415-0DB12F24D174}" destId="{71C45BC7-619E-4D28-9580-022DF4FCF4A2}" srcOrd="0" destOrd="0" parTransId="{8281A381-B501-4544-816D-5800AC16078F}" sibTransId="{C2E3F477-D6F6-448A-B5B6-E336F448F1B2}"/>
    <dgm:cxn modelId="{787917D3-0C90-4D05-86E8-A64CF10A9454}" type="presOf" srcId="{15EF9DDE-DFBC-4AC2-9363-686FF6EA0742}" destId="{E902512B-22AF-4587-A5FB-1CE55522E13C}" srcOrd="0" destOrd="0" presId="urn:microsoft.com/office/officeart/2005/8/layout/vList2"/>
    <dgm:cxn modelId="{B659A4D7-D0C5-4672-9775-7B466BD4B313}" type="presOf" srcId="{99BB6E33-2688-46B1-9113-8B1B151B86CA}" destId="{0686F92F-4C31-4885-9AF2-53D71CB22608}" srcOrd="0" destOrd="0" presId="urn:microsoft.com/office/officeart/2005/8/layout/vList2"/>
    <dgm:cxn modelId="{B9C028F0-3E78-4F9C-9E98-2BE81C67EED3}" srcId="{8EF36536-30F8-4552-8415-0DB12F24D174}" destId="{3AA5D3DC-40A0-4D07-8607-CC9A8E65A81B}" srcOrd="3" destOrd="0" parTransId="{0A1E31B3-689A-46D3-A2DC-CF5D63FCA6AF}" sibTransId="{9E5600E3-3321-4135-B32A-39BA88FF4F90}"/>
    <dgm:cxn modelId="{32445EF1-80FD-455E-87D8-381DA2A0E69C}" type="presOf" srcId="{8EF36536-30F8-4552-8415-0DB12F24D174}" destId="{7398E365-FEBE-450C-9295-82FE4766747C}" srcOrd="0" destOrd="0" presId="urn:microsoft.com/office/officeart/2005/8/layout/vList2"/>
    <dgm:cxn modelId="{93BA4842-F412-4C47-A33C-A349642344F8}" type="presParOf" srcId="{7398E365-FEBE-450C-9295-82FE4766747C}" destId="{7B48F84D-302F-44CE-B06F-42D2C48C0869}" srcOrd="0" destOrd="0" presId="urn:microsoft.com/office/officeart/2005/8/layout/vList2"/>
    <dgm:cxn modelId="{4EAFED1E-F5C1-42A6-B7BB-749176CF20ED}" type="presParOf" srcId="{7398E365-FEBE-450C-9295-82FE4766747C}" destId="{942165C8-F336-477A-B8F7-C4C18273CA26}" srcOrd="1" destOrd="0" presId="urn:microsoft.com/office/officeart/2005/8/layout/vList2"/>
    <dgm:cxn modelId="{0AC89C63-E1BF-45EE-B3DB-C67DF2DF91D4}" type="presParOf" srcId="{7398E365-FEBE-450C-9295-82FE4766747C}" destId="{0686F92F-4C31-4885-9AF2-53D71CB22608}" srcOrd="2" destOrd="0" presId="urn:microsoft.com/office/officeart/2005/8/layout/vList2"/>
    <dgm:cxn modelId="{F0D19143-85E8-4C39-99E1-17D2396213CC}" type="presParOf" srcId="{7398E365-FEBE-450C-9295-82FE4766747C}" destId="{F38C8A95-D542-4952-B7DF-F75CC1A750C4}" srcOrd="3" destOrd="0" presId="urn:microsoft.com/office/officeart/2005/8/layout/vList2"/>
    <dgm:cxn modelId="{880AD204-BED7-4A90-A530-23D76A2AA4D0}" type="presParOf" srcId="{7398E365-FEBE-450C-9295-82FE4766747C}" destId="{DA6DA402-B5D0-4E09-9AEE-FC286C15B27F}" srcOrd="4" destOrd="0" presId="urn:microsoft.com/office/officeart/2005/8/layout/vList2"/>
    <dgm:cxn modelId="{69E27A4C-091E-4D2B-AF3E-FE719053DD7A}" type="presParOf" srcId="{7398E365-FEBE-450C-9295-82FE4766747C}" destId="{AB627912-A5BB-4FCD-8C8A-7799FDFA1286}" srcOrd="5" destOrd="0" presId="urn:microsoft.com/office/officeart/2005/8/layout/vList2"/>
    <dgm:cxn modelId="{2FFA7F3D-D49B-42A0-81B7-107C997752CA}" type="presParOf" srcId="{7398E365-FEBE-450C-9295-82FE4766747C}" destId="{04E2EBA8-DC78-456F-A001-FB818E2DBA56}" srcOrd="6" destOrd="0" presId="urn:microsoft.com/office/officeart/2005/8/layout/vList2"/>
    <dgm:cxn modelId="{4AAAD8C2-046D-47B4-BB11-DC9405996159}" type="presParOf" srcId="{7398E365-FEBE-450C-9295-82FE4766747C}" destId="{07EE0852-E868-4ED6-A7D2-7C498340ED2F}" srcOrd="7" destOrd="0" presId="urn:microsoft.com/office/officeart/2005/8/layout/vList2"/>
    <dgm:cxn modelId="{0A83D8EC-9F82-4DD1-B550-257AE5701A10}" type="presParOf" srcId="{7398E365-FEBE-450C-9295-82FE4766747C}" destId="{E902512B-22AF-4587-A5FB-1CE55522E13C}"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48F84D-302F-44CE-B06F-42D2C48C0869}">
      <dsp:nvSpPr>
        <dsp:cNvPr id="0" name=""/>
        <dsp:cNvSpPr/>
      </dsp:nvSpPr>
      <dsp:spPr>
        <a:xfrm>
          <a:off x="0" y="28080"/>
          <a:ext cx="7132320" cy="673920"/>
        </a:xfrm>
        <a:prstGeom prst="roundRect">
          <a:avLst/>
        </a:prstGeom>
        <a:solidFill>
          <a:schemeClr val="tx2">
            <a:lumMod val="90000"/>
            <a:lumOff val="1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vi-VN" sz="2000" b="1" kern="1200" dirty="0">
              <a:latin typeface="Aptos" panose="020B0004020202020204" pitchFamily="34" charset="0"/>
            </a:rPr>
            <a:t>ĐỘNG LỰC NGHIÊN CỨU</a:t>
          </a:r>
          <a:endParaRPr lang="en-US" sz="2000" b="1" kern="1200" dirty="0">
            <a:latin typeface="Aptos" panose="020B0004020202020204" pitchFamily="34" charset="0"/>
          </a:endParaRPr>
        </a:p>
      </dsp:txBody>
      <dsp:txXfrm>
        <a:off x="32898" y="60978"/>
        <a:ext cx="7066524" cy="608124"/>
      </dsp:txXfrm>
    </dsp:sp>
    <dsp:sp modelId="{0686F92F-4C31-4885-9AF2-53D71CB22608}">
      <dsp:nvSpPr>
        <dsp:cNvPr id="0" name=""/>
        <dsp:cNvSpPr/>
      </dsp:nvSpPr>
      <dsp:spPr>
        <a:xfrm>
          <a:off x="0" y="805680"/>
          <a:ext cx="7132320" cy="673920"/>
        </a:xfrm>
        <a:prstGeom prst="roundRect">
          <a:avLst/>
        </a:prstGeom>
        <a:solidFill>
          <a:schemeClr val="tx2">
            <a:lumMod val="90000"/>
            <a:lumOff val="1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vi-VN" sz="2000" b="1" kern="1200" dirty="0">
              <a:latin typeface="Aptos" panose="020B0004020202020204" pitchFamily="34" charset="0"/>
            </a:rPr>
            <a:t>CƠ SỞ LÝ THUYẾT</a:t>
          </a:r>
          <a:endParaRPr lang="en-US" sz="2000" b="1" kern="1200" dirty="0">
            <a:latin typeface="Aptos" panose="020B0004020202020204" pitchFamily="34" charset="0"/>
          </a:endParaRPr>
        </a:p>
      </dsp:txBody>
      <dsp:txXfrm>
        <a:off x="32898" y="838578"/>
        <a:ext cx="7066524" cy="608124"/>
      </dsp:txXfrm>
    </dsp:sp>
    <dsp:sp modelId="{DA6DA402-B5D0-4E09-9AEE-FC286C15B27F}">
      <dsp:nvSpPr>
        <dsp:cNvPr id="0" name=""/>
        <dsp:cNvSpPr/>
      </dsp:nvSpPr>
      <dsp:spPr>
        <a:xfrm>
          <a:off x="0" y="1583280"/>
          <a:ext cx="7132320" cy="673920"/>
        </a:xfrm>
        <a:prstGeom prst="roundRect">
          <a:avLst/>
        </a:prstGeom>
        <a:solidFill>
          <a:schemeClr val="tx2">
            <a:lumMod val="90000"/>
            <a:lumOff val="1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vi-VN" sz="2000" b="1" kern="1200" dirty="0">
              <a:latin typeface="Aptos" panose="020B0004020202020204" pitchFamily="34" charset="0"/>
            </a:rPr>
            <a:t>MÔ HÌNH VÀ GIẢI THUẬT</a:t>
          </a:r>
          <a:endParaRPr lang="en-US" sz="2000" b="1" kern="1200" dirty="0">
            <a:latin typeface="Aptos" panose="020B0004020202020204" pitchFamily="34" charset="0"/>
          </a:endParaRPr>
        </a:p>
      </dsp:txBody>
      <dsp:txXfrm>
        <a:off x="32898" y="1616178"/>
        <a:ext cx="7066524" cy="608124"/>
      </dsp:txXfrm>
    </dsp:sp>
    <dsp:sp modelId="{04E2EBA8-DC78-456F-A001-FB818E2DBA56}">
      <dsp:nvSpPr>
        <dsp:cNvPr id="0" name=""/>
        <dsp:cNvSpPr/>
      </dsp:nvSpPr>
      <dsp:spPr>
        <a:xfrm>
          <a:off x="0" y="2360880"/>
          <a:ext cx="7132320" cy="673920"/>
        </a:xfrm>
        <a:prstGeom prst="roundRect">
          <a:avLst/>
        </a:prstGeom>
        <a:solidFill>
          <a:schemeClr val="tx2">
            <a:lumMod val="90000"/>
            <a:lumOff val="1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b="1" kern="1200" dirty="0">
              <a:latin typeface="Aptos" panose="020B0004020202020204" pitchFamily="34" charset="0"/>
            </a:rPr>
            <a:t>KẾT QUẢ VÀ </a:t>
          </a:r>
          <a:r>
            <a:rPr lang="vi-VN" sz="2000" b="1" kern="1200" dirty="0">
              <a:latin typeface="Aptos" panose="020B0004020202020204" pitchFamily="34" charset="0"/>
            </a:rPr>
            <a:t>ĐÁNH GIÁ</a:t>
          </a:r>
          <a:endParaRPr lang="en-US" sz="2000" b="1" kern="1200" dirty="0">
            <a:latin typeface="Aptos" panose="020B0004020202020204" pitchFamily="34" charset="0"/>
          </a:endParaRPr>
        </a:p>
      </dsp:txBody>
      <dsp:txXfrm>
        <a:off x="32898" y="2393778"/>
        <a:ext cx="7066524" cy="608124"/>
      </dsp:txXfrm>
    </dsp:sp>
    <dsp:sp modelId="{E902512B-22AF-4587-A5FB-1CE55522E13C}">
      <dsp:nvSpPr>
        <dsp:cNvPr id="0" name=""/>
        <dsp:cNvSpPr/>
      </dsp:nvSpPr>
      <dsp:spPr>
        <a:xfrm>
          <a:off x="0" y="3138480"/>
          <a:ext cx="7132320" cy="673920"/>
        </a:xfrm>
        <a:prstGeom prst="roundRect">
          <a:avLst/>
        </a:prstGeom>
        <a:solidFill>
          <a:schemeClr val="tx2">
            <a:lumMod val="90000"/>
            <a:lumOff val="1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b="1" kern="1200" dirty="0">
              <a:latin typeface="Aptos" panose="020B0004020202020204" pitchFamily="34" charset="0"/>
            </a:rPr>
            <a:t>KẾT LUẬN VÀ PHƯƠNG HƯỚNG PHÁT TRIỂN</a:t>
          </a:r>
        </a:p>
      </dsp:txBody>
      <dsp:txXfrm>
        <a:off x="32898" y="3171378"/>
        <a:ext cx="7066524" cy="608124"/>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1EFD5A9-6E59-419F-BD97-686D5FBBFA0F}" type="datetimeFigureOut">
              <a:rPr lang="vi-VN" smtClean="0"/>
              <a:t>31/05/2026</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DCBCB6-B631-4457-A1AB-039C4426AD00}" type="slidenum">
              <a:rPr lang="vi-VN" smtClean="0"/>
              <a:t>‹#›</a:t>
            </a:fld>
            <a:endParaRPr lang="vi-VN"/>
          </a:p>
        </p:txBody>
      </p:sp>
    </p:spTree>
    <p:extLst>
      <p:ext uri="{BB962C8B-B14F-4D97-AF65-F5344CB8AC3E}">
        <p14:creationId xmlns:p14="http://schemas.microsoft.com/office/powerpoint/2010/main" val="2743386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Chào</a:t>
            </a:r>
            <a:r>
              <a:rPr lang="en-US" dirty="0"/>
              <a:t> </a:t>
            </a:r>
            <a:r>
              <a:rPr lang="en-US" dirty="0" err="1"/>
              <a:t>hỏi</a:t>
            </a:r>
            <a:r>
              <a:rPr lang="en-US" dirty="0"/>
              <a:t>, </a:t>
            </a:r>
            <a:r>
              <a:rPr lang="en-US" dirty="0" err="1"/>
              <a:t>sau</a:t>
            </a:r>
            <a:r>
              <a:rPr lang="en-US" dirty="0"/>
              <a:t> </a:t>
            </a:r>
            <a:r>
              <a:rPr lang="en-US" dirty="0" err="1"/>
              <a:t>đây</a:t>
            </a:r>
            <a:r>
              <a:rPr lang="en-US" dirty="0"/>
              <a:t> </a:t>
            </a:r>
            <a:r>
              <a:rPr lang="en-US" dirty="0" err="1"/>
              <a:t>xin</a:t>
            </a:r>
            <a:r>
              <a:rPr lang="en-US" dirty="0"/>
              <a:t> </a:t>
            </a:r>
            <a:r>
              <a:rPr lang="en-US" dirty="0" err="1"/>
              <a:t>phép</a:t>
            </a:r>
            <a:r>
              <a:rPr lang="en-US" dirty="0"/>
              <a:t> </a:t>
            </a:r>
            <a:r>
              <a:rPr lang="en-US" dirty="0" err="1"/>
              <a:t>trình</a:t>
            </a:r>
            <a:r>
              <a:rPr lang="en-US" dirty="0"/>
              <a:t> </a:t>
            </a:r>
            <a:r>
              <a:rPr lang="en-US" dirty="0" err="1"/>
              <a:t>bày</a:t>
            </a:r>
            <a:r>
              <a:rPr lang="en-US" dirty="0"/>
              <a:t> </a:t>
            </a:r>
            <a:r>
              <a:rPr lang="en-US" dirty="0" err="1"/>
              <a:t>về</a:t>
            </a:r>
            <a:r>
              <a:rPr lang="en-US" dirty="0"/>
              <a:t> </a:t>
            </a:r>
            <a:r>
              <a:rPr lang="en-US" dirty="0" err="1"/>
              <a:t>đề</a:t>
            </a:r>
            <a:r>
              <a:rPr lang="en-US" dirty="0"/>
              <a:t> </a:t>
            </a:r>
            <a:r>
              <a:rPr lang="en-US" dirty="0" err="1"/>
              <a:t>tài</a:t>
            </a:r>
            <a:r>
              <a:rPr lang="en-US" dirty="0"/>
              <a:t> kl </a:t>
            </a:r>
            <a:r>
              <a:rPr lang="en-US" dirty="0" err="1"/>
              <a:t>của</a:t>
            </a:r>
            <a:r>
              <a:rPr lang="en-US" dirty="0"/>
              <a:t> e + </a:t>
            </a:r>
            <a:r>
              <a:rPr lang="en-US" dirty="0" err="1"/>
              <a:t>gvhd</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PP ko </a:t>
            </a:r>
            <a:r>
              <a:rPr lang="vi-VN" dirty="0"/>
              <a:t>chỉ huấn luyện trên dữ liệu sạch, phương pháp này bổ sung các dữ liệu đầu vào đã bị “nhiễu” có chủ đích – tức là được sinh ra để cố tình đánh lừa mô hình.</a:t>
            </a:r>
          </a:p>
          <a:p>
            <a:endParaRPr lang="vi-VN" dirty="0"/>
          </a:p>
        </p:txBody>
      </p:sp>
      <p:sp>
        <p:nvSpPr>
          <p:cNvPr id="4" name="Slide Number Placeholder 3"/>
          <p:cNvSpPr>
            <a:spLocks noGrp="1"/>
          </p:cNvSpPr>
          <p:nvPr>
            <p:ph type="sldNum" sz="quarter" idx="5"/>
          </p:nvPr>
        </p:nvSpPr>
        <p:spPr/>
        <p:txBody>
          <a:bodyPr/>
          <a:lstStyle/>
          <a:p>
            <a:fld id="{8FDCBCB6-B631-4457-A1AB-039C4426AD00}" type="slidenum">
              <a:rPr lang="vi-VN" smtClean="0"/>
              <a:t>1</a:t>
            </a:fld>
            <a:endParaRPr lang="vi-VN"/>
          </a:p>
        </p:txBody>
      </p:sp>
    </p:spTree>
    <p:extLst>
      <p:ext uri="{BB962C8B-B14F-4D97-AF65-F5344CB8AC3E}">
        <p14:creationId xmlns:p14="http://schemas.microsoft.com/office/powerpoint/2010/main" val="24909979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Bài</a:t>
            </a:r>
            <a:r>
              <a:rPr lang="en-US" dirty="0"/>
              <a:t> </a:t>
            </a:r>
            <a:r>
              <a:rPr lang="en-US" dirty="0" err="1"/>
              <a:t>tt</a:t>
            </a:r>
            <a:r>
              <a:rPr lang="en-US" dirty="0"/>
              <a:t> </a:t>
            </a:r>
            <a:r>
              <a:rPr lang="en-US" dirty="0" err="1"/>
              <a:t>của</a:t>
            </a:r>
            <a:r>
              <a:rPr lang="en-US" dirty="0"/>
              <a:t> e chia </a:t>
            </a:r>
            <a:r>
              <a:rPr lang="en-US" dirty="0" err="1"/>
              <a:t>làm</a:t>
            </a:r>
            <a:r>
              <a:rPr lang="en-US" dirty="0"/>
              <a:t> 5 </a:t>
            </a:r>
            <a:r>
              <a:rPr lang="en-US" dirty="0" err="1"/>
              <a:t>phần</a:t>
            </a:r>
            <a:endParaRPr lang="vi-VN" dirty="0"/>
          </a:p>
        </p:txBody>
      </p:sp>
      <p:sp>
        <p:nvSpPr>
          <p:cNvPr id="4" name="Slide Number Placeholder 3"/>
          <p:cNvSpPr>
            <a:spLocks noGrp="1"/>
          </p:cNvSpPr>
          <p:nvPr>
            <p:ph type="sldNum" sz="quarter" idx="5"/>
          </p:nvPr>
        </p:nvSpPr>
        <p:spPr/>
        <p:txBody>
          <a:bodyPr/>
          <a:lstStyle/>
          <a:p>
            <a:fld id="{8FDCBCB6-B631-4457-A1AB-039C4426AD00}" type="slidenum">
              <a:rPr lang="vi-VN" smtClean="0"/>
              <a:t>2</a:t>
            </a:fld>
            <a:endParaRPr lang="vi-VN"/>
          </a:p>
        </p:txBody>
      </p:sp>
    </p:spTree>
    <p:extLst>
      <p:ext uri="{BB962C8B-B14F-4D97-AF65-F5344CB8AC3E}">
        <p14:creationId xmlns:p14="http://schemas.microsoft.com/office/powerpoint/2010/main" val="13808581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r>
              <a:rPr lang="vi-VN" dirty="0"/>
              <a:t>Biểu đồ (nguồn từ </a:t>
            </a:r>
            <a:r>
              <a:rPr lang="vi-VN" dirty="0" err="1"/>
              <a:t>Cisco</a:t>
            </a:r>
            <a:r>
              <a:rPr lang="vi-VN" dirty="0"/>
              <a:t>, do </a:t>
            </a:r>
            <a:r>
              <a:rPr lang="vi-VN" dirty="0" err="1"/>
              <a:t>Recode</a:t>
            </a:r>
            <a:r>
              <a:rPr lang="vi-VN" dirty="0"/>
              <a:t> đăng tải) cho thấy sự tăng trưởng vượt bậc của lưu lượng </a:t>
            </a:r>
            <a:r>
              <a:rPr lang="vi-VN" dirty="0" err="1"/>
              <a:t>video</a:t>
            </a:r>
            <a:r>
              <a:rPr lang="vi-VN" dirty="0"/>
              <a:t> trên </a:t>
            </a:r>
            <a:r>
              <a:rPr lang="vi-VN" dirty="0" err="1"/>
              <a:t>Internet</a:t>
            </a:r>
            <a:r>
              <a:rPr lang="vi-VN" dirty="0"/>
              <a:t> (</a:t>
            </a:r>
            <a:r>
              <a:rPr lang="vi-VN" dirty="0" err="1"/>
              <a:t>Internet</a:t>
            </a:r>
            <a:r>
              <a:rPr lang="vi-VN" dirty="0"/>
              <a:t> </a:t>
            </a:r>
            <a:r>
              <a:rPr lang="vi-VN" dirty="0" err="1"/>
              <a:t>video</a:t>
            </a:r>
            <a:r>
              <a:rPr lang="vi-VN" dirty="0"/>
              <a:t>) từ </a:t>
            </a:r>
            <a:r>
              <a:rPr lang="vi-VN" b="1" dirty="0"/>
              <a:t>51% (năm 2016)</a:t>
            </a:r>
            <a:r>
              <a:rPr lang="vi-VN" dirty="0"/>
              <a:t> lên đến </a:t>
            </a:r>
            <a:r>
              <a:rPr lang="vi-VN" b="1" dirty="0"/>
              <a:t>67% (năm 2021)</a:t>
            </a:r>
            <a:r>
              <a:rPr lang="vi-VN" dirty="0"/>
              <a:t> trên tổng lưu lượng IP toàn cầu.</a:t>
            </a:r>
            <a:br>
              <a:rPr lang="vi-VN" dirty="0"/>
            </a:br>
            <a:br>
              <a:rPr lang="vi-VN" dirty="0"/>
            </a:br>
            <a:r>
              <a:rPr lang="vi-VN" dirty="0"/>
              <a:t>Tổng lưu lượng IP toàn cầu (</a:t>
            </a:r>
            <a:r>
              <a:rPr lang="vi-VN" dirty="0" err="1"/>
              <a:t>Global</a:t>
            </a:r>
            <a:r>
              <a:rPr lang="vi-VN" dirty="0"/>
              <a:t> IP </a:t>
            </a:r>
            <a:r>
              <a:rPr lang="vi-VN" dirty="0" err="1"/>
              <a:t>Traffic</a:t>
            </a:r>
            <a:r>
              <a:rPr lang="vi-VN" dirty="0"/>
              <a:t>) bao gồm tất cả các luồng dữ liệu chạy qua mạng lõi </a:t>
            </a:r>
            <a:r>
              <a:rPr lang="vi-VN" dirty="0" err="1"/>
              <a:t>Internet</a:t>
            </a:r>
            <a:r>
              <a:rPr lang="vi-VN" dirty="0"/>
              <a:t>, trong đó có lưu lượng từ mạng di động (3G/4G/5G) và mạng </a:t>
            </a:r>
            <a:r>
              <a:rPr lang="vi-VN" dirty="0" err="1"/>
              <a:t>Wi-Fi</a:t>
            </a:r>
            <a:r>
              <a:rPr lang="vi-VN" dirty="0"/>
              <a:t> (vốn là các mạng không dây) truyền phát (</a:t>
            </a:r>
            <a:r>
              <a:rPr lang="vi-VN" dirty="0" err="1"/>
              <a:t>stream</a:t>
            </a:r>
            <a:r>
              <a:rPr lang="vi-VN" dirty="0"/>
              <a:t>) </a:t>
            </a:r>
            <a:r>
              <a:rPr lang="vi-VN" dirty="0" err="1"/>
              <a:t>video</a:t>
            </a:r>
            <a:r>
              <a:rPr lang="vi-VN" dirty="0"/>
              <a:t>. Do đó, sự tăng trưởng của </a:t>
            </a:r>
            <a:r>
              <a:rPr lang="vi-VN" dirty="0" err="1"/>
              <a:t>video</a:t>
            </a:r>
            <a:r>
              <a:rPr lang="vi-VN" dirty="0"/>
              <a:t> trong biểu đồ phản ánh rất rõ xu hướng người dùng xem </a:t>
            </a:r>
            <a:r>
              <a:rPr lang="vi-VN" dirty="0" err="1"/>
              <a:t>video</a:t>
            </a:r>
            <a:r>
              <a:rPr lang="vi-VN" dirty="0"/>
              <a:t> ngày càng nhiều trên các thiết bị di động và thiết bị kết nối không dây.</a:t>
            </a:r>
          </a:p>
          <a:p>
            <a:r>
              <a:rPr lang="vi-VN" dirty="0"/>
              <a:t>`</a:t>
            </a:r>
          </a:p>
          <a:p>
            <a:endParaRPr lang="vi-VN" dirty="0"/>
          </a:p>
        </p:txBody>
      </p:sp>
      <p:sp>
        <p:nvSpPr>
          <p:cNvPr id="4" name="Slide Number Placeholder 3"/>
          <p:cNvSpPr>
            <a:spLocks noGrp="1"/>
          </p:cNvSpPr>
          <p:nvPr>
            <p:ph type="sldNum" sz="quarter" idx="5"/>
          </p:nvPr>
        </p:nvSpPr>
        <p:spPr/>
        <p:txBody>
          <a:bodyPr/>
          <a:lstStyle/>
          <a:p>
            <a:fld id="{8FDCBCB6-B631-4457-A1AB-039C4426AD00}" type="slidenum">
              <a:rPr lang="vi-VN" smtClean="0"/>
              <a:t>3</a:t>
            </a:fld>
            <a:endParaRPr lang="vi-VN"/>
          </a:p>
        </p:txBody>
      </p:sp>
    </p:spTree>
    <p:extLst>
      <p:ext uri="{BB962C8B-B14F-4D97-AF65-F5344CB8AC3E}">
        <p14:creationId xmlns:p14="http://schemas.microsoft.com/office/powerpoint/2010/main" val="28088760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37536-D2BF-AA2A-4A4C-4164F411EE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1AD461-1A44-32C9-0868-F8060420FB6C}"/>
              </a:ext>
            </a:extLst>
          </p:cNvPr>
          <p:cNvSpPr>
            <a:spLocks noGrp="1" noRot="1" noChangeAspect="1"/>
          </p:cNvSpPr>
          <p:nvPr>
            <p:ph type="sldImg"/>
          </p:nvPr>
        </p:nvSpPr>
        <p:spPr>
          <a:xfrm>
            <a:off x="1371600" y="1143000"/>
            <a:ext cx="4114800" cy="3086100"/>
          </a:xfrm>
        </p:spPr>
      </p:sp>
      <p:sp>
        <p:nvSpPr>
          <p:cNvPr id="3" name="Notes Placeholder 2">
            <a:extLst>
              <a:ext uri="{FF2B5EF4-FFF2-40B4-BE49-F238E27FC236}">
                <a16:creationId xmlns:a16="http://schemas.microsoft.com/office/drawing/2014/main" id="{3F020FDD-3603-73E1-29C0-176700411BE5}"/>
              </a:ext>
            </a:extLst>
          </p:cNvPr>
          <p:cNvSpPr>
            <a:spLocks noGrp="1"/>
          </p:cNvSpPr>
          <p:nvPr>
            <p:ph type="body" idx="1"/>
          </p:nvPr>
        </p:nvSpPr>
        <p:spPr/>
        <p:txBody>
          <a:bodyPr/>
          <a:lstStyle/>
          <a:p>
            <a:r>
              <a:rPr lang="vi-VN" dirty="0"/>
              <a:t>Biểu đồ (nguồn từ </a:t>
            </a:r>
            <a:r>
              <a:rPr lang="vi-VN" dirty="0" err="1"/>
              <a:t>Cisco</a:t>
            </a:r>
            <a:r>
              <a:rPr lang="vi-VN" dirty="0"/>
              <a:t>, do </a:t>
            </a:r>
            <a:r>
              <a:rPr lang="vi-VN" dirty="0" err="1"/>
              <a:t>Recode</a:t>
            </a:r>
            <a:r>
              <a:rPr lang="vi-VN" dirty="0"/>
              <a:t> đăng tải) cho thấy sự tăng trưởng vượt bậc của lưu lượng </a:t>
            </a:r>
            <a:r>
              <a:rPr lang="vi-VN" dirty="0" err="1"/>
              <a:t>video</a:t>
            </a:r>
            <a:r>
              <a:rPr lang="vi-VN" dirty="0"/>
              <a:t> trên </a:t>
            </a:r>
            <a:r>
              <a:rPr lang="vi-VN" dirty="0" err="1"/>
              <a:t>Internet</a:t>
            </a:r>
            <a:r>
              <a:rPr lang="vi-VN" dirty="0"/>
              <a:t> (</a:t>
            </a:r>
            <a:r>
              <a:rPr lang="vi-VN" dirty="0" err="1"/>
              <a:t>Internet</a:t>
            </a:r>
            <a:r>
              <a:rPr lang="vi-VN" dirty="0"/>
              <a:t> </a:t>
            </a:r>
            <a:r>
              <a:rPr lang="vi-VN" dirty="0" err="1"/>
              <a:t>video</a:t>
            </a:r>
            <a:r>
              <a:rPr lang="vi-VN" dirty="0"/>
              <a:t>) từ </a:t>
            </a:r>
            <a:r>
              <a:rPr lang="vi-VN" b="1" dirty="0"/>
              <a:t>51% (năm 2016)</a:t>
            </a:r>
            <a:r>
              <a:rPr lang="vi-VN" dirty="0"/>
              <a:t> lên đến </a:t>
            </a:r>
            <a:r>
              <a:rPr lang="vi-VN" b="1" dirty="0"/>
              <a:t>67% (năm 2021)</a:t>
            </a:r>
            <a:r>
              <a:rPr lang="vi-VN" dirty="0"/>
              <a:t> trên tổng lưu lượng IP toàn cầu.</a:t>
            </a:r>
            <a:br>
              <a:rPr lang="vi-VN" dirty="0"/>
            </a:br>
            <a:br>
              <a:rPr lang="vi-VN" dirty="0"/>
            </a:br>
            <a:r>
              <a:rPr lang="vi-VN" dirty="0"/>
              <a:t>Tổng lưu lượng IP toàn cầu (</a:t>
            </a:r>
            <a:r>
              <a:rPr lang="vi-VN" dirty="0" err="1"/>
              <a:t>Global</a:t>
            </a:r>
            <a:r>
              <a:rPr lang="vi-VN" dirty="0"/>
              <a:t> IP </a:t>
            </a:r>
            <a:r>
              <a:rPr lang="vi-VN" dirty="0" err="1"/>
              <a:t>Traffic</a:t>
            </a:r>
            <a:r>
              <a:rPr lang="vi-VN" dirty="0"/>
              <a:t>) bao gồm tất cả các luồng dữ liệu chạy qua mạng lõi </a:t>
            </a:r>
            <a:r>
              <a:rPr lang="vi-VN" dirty="0" err="1"/>
              <a:t>Internet</a:t>
            </a:r>
            <a:r>
              <a:rPr lang="vi-VN" dirty="0"/>
              <a:t>, trong đó có lưu lượng từ mạng di động (3G/4G/5G) và mạng </a:t>
            </a:r>
            <a:r>
              <a:rPr lang="vi-VN" dirty="0" err="1"/>
              <a:t>Wi-Fi</a:t>
            </a:r>
            <a:r>
              <a:rPr lang="vi-VN" dirty="0"/>
              <a:t> (vốn là các mạng không dây) truyền phát (</a:t>
            </a:r>
            <a:r>
              <a:rPr lang="vi-VN" dirty="0" err="1"/>
              <a:t>stream</a:t>
            </a:r>
            <a:r>
              <a:rPr lang="vi-VN" dirty="0"/>
              <a:t>) </a:t>
            </a:r>
            <a:r>
              <a:rPr lang="vi-VN" dirty="0" err="1"/>
              <a:t>video</a:t>
            </a:r>
            <a:r>
              <a:rPr lang="vi-VN" dirty="0"/>
              <a:t>. Do đó, sự tăng trưởng của </a:t>
            </a:r>
            <a:r>
              <a:rPr lang="vi-VN" dirty="0" err="1"/>
              <a:t>video</a:t>
            </a:r>
            <a:r>
              <a:rPr lang="vi-VN" dirty="0"/>
              <a:t> trong biểu đồ phản ánh rất rõ xu hướng người dùng xem </a:t>
            </a:r>
            <a:r>
              <a:rPr lang="vi-VN" dirty="0" err="1"/>
              <a:t>video</a:t>
            </a:r>
            <a:r>
              <a:rPr lang="vi-VN" dirty="0"/>
              <a:t> ngày càng nhiều trên các thiết bị di động và thiết bị kết nối không dây.</a:t>
            </a:r>
          </a:p>
          <a:p>
            <a:r>
              <a:rPr lang="vi-VN" dirty="0"/>
              <a:t>`</a:t>
            </a:r>
          </a:p>
          <a:p>
            <a:endParaRPr lang="vi-VN" dirty="0"/>
          </a:p>
        </p:txBody>
      </p:sp>
      <p:sp>
        <p:nvSpPr>
          <p:cNvPr id="4" name="Slide Number Placeholder 3">
            <a:extLst>
              <a:ext uri="{FF2B5EF4-FFF2-40B4-BE49-F238E27FC236}">
                <a16:creationId xmlns:a16="http://schemas.microsoft.com/office/drawing/2014/main" id="{D69E1F62-BE81-13DA-23CE-4AFEDCC3845A}"/>
              </a:ext>
            </a:extLst>
          </p:cNvPr>
          <p:cNvSpPr>
            <a:spLocks noGrp="1"/>
          </p:cNvSpPr>
          <p:nvPr>
            <p:ph type="sldNum" sz="quarter" idx="5"/>
          </p:nvPr>
        </p:nvSpPr>
        <p:spPr/>
        <p:txBody>
          <a:bodyPr/>
          <a:lstStyle/>
          <a:p>
            <a:fld id="{8FDCBCB6-B631-4457-A1AB-039C4426AD00}" type="slidenum">
              <a:rPr lang="vi-VN" smtClean="0"/>
              <a:t>4</a:t>
            </a:fld>
            <a:endParaRPr lang="vi-VN"/>
          </a:p>
        </p:txBody>
      </p:sp>
    </p:spTree>
    <p:extLst>
      <p:ext uri="{BB962C8B-B14F-4D97-AF65-F5344CB8AC3E}">
        <p14:creationId xmlns:p14="http://schemas.microsoft.com/office/powerpoint/2010/main" val="37244814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38029-A0B5-A756-B5D5-3817619340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E09C4-B359-AF41-F736-DD29A14C77A1}"/>
              </a:ext>
            </a:extLst>
          </p:cNvPr>
          <p:cNvSpPr>
            <a:spLocks noGrp="1" noRot="1" noChangeAspect="1"/>
          </p:cNvSpPr>
          <p:nvPr>
            <p:ph type="sldImg"/>
          </p:nvPr>
        </p:nvSpPr>
        <p:spPr>
          <a:xfrm>
            <a:off x="1371600" y="1143000"/>
            <a:ext cx="4114800" cy="3086100"/>
          </a:xfrm>
        </p:spPr>
      </p:sp>
      <p:sp>
        <p:nvSpPr>
          <p:cNvPr id="3" name="Notes Placeholder 2">
            <a:extLst>
              <a:ext uri="{FF2B5EF4-FFF2-40B4-BE49-F238E27FC236}">
                <a16:creationId xmlns:a16="http://schemas.microsoft.com/office/drawing/2014/main" id="{F15674E4-33EE-B79B-28CA-860C199D8F14}"/>
              </a:ext>
            </a:extLst>
          </p:cNvPr>
          <p:cNvSpPr>
            <a:spLocks noGrp="1"/>
          </p:cNvSpPr>
          <p:nvPr>
            <p:ph type="body" idx="1"/>
          </p:nvPr>
        </p:nvSpPr>
        <p:spPr/>
        <p:txBody>
          <a:bodyPr/>
          <a:lstStyle/>
          <a:p>
            <a:r>
              <a:rPr lang="vi-VN" dirty="0"/>
              <a:t>RSMA được xem là một khung quản lý giao thoa linh hoạt nằm giữa SDMA và NOMA. Thay vì xem toàn bộ giao thoa là nhiễu hoặc giải mã toàn bộ giao thoa, RSMA chỉ giải mã một phần giao thoa thông qua </a:t>
            </a:r>
            <a:r>
              <a:rPr lang="vi-VN" dirty="0" err="1"/>
              <a:t>common</a:t>
            </a:r>
            <a:r>
              <a:rPr lang="vi-VN" dirty="0"/>
              <a:t> </a:t>
            </a:r>
            <a:r>
              <a:rPr lang="vi-VN" dirty="0" err="1"/>
              <a:t>stream</a:t>
            </a:r>
            <a:r>
              <a:rPr lang="vi-VN" dirty="0"/>
              <a:t> và xem phần còn lại là nhiễu. Nhờ đó hệ thống đạt được hiệu suất phổ và </a:t>
            </a:r>
            <a:r>
              <a:rPr lang="vi-VN" dirty="0" err="1"/>
              <a:t>fairness</a:t>
            </a:r>
            <a:r>
              <a:rPr lang="vi-VN" dirty="0"/>
              <a:t> tốt hơn trong nhiều điều kiện kênh khác nhau.</a:t>
            </a:r>
          </a:p>
          <a:p>
            <a:endParaRPr lang="vi-VN" dirty="0"/>
          </a:p>
          <a:p>
            <a:r>
              <a:rPr lang="vi-VN" sz="1200" dirty="0"/>
              <a:t>Sự kết hợp linh hoạt giữa hai chiến lược này cho phép RSMA thích nghi với mọi mức độ giao thoa, từ đó vượt trội hơn so với OMA và NOMA — vốn chỉ áp dụng cứng nhắc một trong hai chiến lược — đồng thời đảm bảo công bằng tốt hơn trong môi trường đa người dùng với điều kiện kênh không đồng nhất.</a:t>
            </a:r>
            <a:endParaRPr lang="vi-VN" dirty="0"/>
          </a:p>
          <a:p>
            <a:endParaRPr lang="vi-VN" dirty="0"/>
          </a:p>
        </p:txBody>
      </p:sp>
      <p:sp>
        <p:nvSpPr>
          <p:cNvPr id="4" name="Slide Number Placeholder 3">
            <a:extLst>
              <a:ext uri="{FF2B5EF4-FFF2-40B4-BE49-F238E27FC236}">
                <a16:creationId xmlns:a16="http://schemas.microsoft.com/office/drawing/2014/main" id="{BDD7FF7A-9115-C9C8-02CC-98E26F2D3EAB}"/>
              </a:ext>
            </a:extLst>
          </p:cNvPr>
          <p:cNvSpPr>
            <a:spLocks noGrp="1"/>
          </p:cNvSpPr>
          <p:nvPr>
            <p:ph type="sldNum" sz="quarter" idx="5"/>
          </p:nvPr>
        </p:nvSpPr>
        <p:spPr/>
        <p:txBody>
          <a:bodyPr/>
          <a:lstStyle/>
          <a:p>
            <a:fld id="{8FDCBCB6-B631-4457-A1AB-039C4426AD00}" type="slidenum">
              <a:rPr lang="vi-VN" smtClean="0"/>
              <a:t>5</a:t>
            </a:fld>
            <a:endParaRPr lang="vi-VN"/>
          </a:p>
        </p:txBody>
      </p:sp>
    </p:spTree>
    <p:extLst>
      <p:ext uri="{BB962C8B-B14F-4D97-AF65-F5344CB8AC3E}">
        <p14:creationId xmlns:p14="http://schemas.microsoft.com/office/powerpoint/2010/main" val="30683626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ACD0E8-6480-D9D8-9F4B-2A31566E0F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8202F7-A38D-9F95-CA23-AE370468268C}"/>
              </a:ext>
            </a:extLst>
          </p:cNvPr>
          <p:cNvSpPr>
            <a:spLocks noGrp="1" noRot="1" noChangeAspect="1"/>
          </p:cNvSpPr>
          <p:nvPr>
            <p:ph type="sldImg"/>
          </p:nvPr>
        </p:nvSpPr>
        <p:spPr>
          <a:xfrm>
            <a:off x="1371600" y="1143000"/>
            <a:ext cx="4114800" cy="3086100"/>
          </a:xfrm>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61601244-4FE7-5432-F86E-48A6846F42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b="1" dirty="0"/>
                  <a:t>Mô hình được chọn trong khóa luận là </a:t>
                </a:r>
                <a:r>
                  <a:rPr lang="vi-VN" b="1" dirty="0" err="1"/>
                  <a:t>Underlay</a:t>
                </a:r>
                <a:r>
                  <a:rPr lang="vi-VN" b="1" dirty="0"/>
                  <a:t> vì:</a:t>
                </a:r>
                <a:br>
                  <a:rPr lang="vi-VN" b="1" dirty="0"/>
                </a:br>
                <a:br>
                  <a:rPr lang="vi-VN" b="1" dirty="0"/>
                </a:br>
                <a:r>
                  <a:rPr lang="vi-VN" dirty="0"/>
                  <a:t>Trong mô hình </a:t>
                </a:r>
                <a:r>
                  <a:rPr lang="vi-VN" dirty="0" err="1"/>
                  <a:t>Underlay</a:t>
                </a:r>
                <a:r>
                  <a:rPr lang="vi-VN" dirty="0"/>
                  <a:t>, PU và SU có thể hoạt động đồng thời trên cùng băng tần. Điều này giúp khai thác phổ liên tục và đạt hiệu suất phổ cao hơn so với </a:t>
                </a:r>
                <a:r>
                  <a:rPr lang="vi-VN" dirty="0" err="1"/>
                  <a:t>Interweave</a:t>
                </a:r>
                <a:r>
                  <a:rPr lang="vi-VN" dirty="0"/>
                  <a:t>. Đồng thời, </a:t>
                </a:r>
                <a:r>
                  <a:rPr lang="vi-VN" dirty="0" err="1"/>
                  <a:t>Underlay</a:t>
                </a:r>
                <a:r>
                  <a:rPr lang="vi-VN" dirty="0"/>
                  <a:t> có cấu trúc phù hợp để kết hợp với các kỹ thuật đa truy cập tiên tiến như RSMA và NOMA.</a:t>
                </a:r>
                <a:br>
                  <a:rPr lang="vi-VN" dirty="0"/>
                </a:br>
                <a:endParaRPr lang="vi-VN" dirty="0"/>
              </a:p>
              <a:p>
                <a:pPr marL="0" marR="0" lvl="0" indent="0" algn="l" defTabSz="914400" rtl="0" eaLnBrk="1" fontAlgn="auto" latinLnBrk="0" hangingPunct="1">
                  <a:lnSpc>
                    <a:spcPct val="100000"/>
                  </a:lnSpc>
                  <a:spcBef>
                    <a:spcPts val="0"/>
                  </a:spcBef>
                  <a:spcAft>
                    <a:spcPts val="0"/>
                  </a:spcAft>
                  <a:buClrTx/>
                  <a:buSzTx/>
                  <a:buFontTx/>
                  <a:buNone/>
                  <a:tabLst/>
                  <a:defRPr/>
                </a:pPr>
                <a:r>
                  <a:rPr lang="vi-VN" b="1" dirty="0"/>
                  <a:t>Tại sao </a:t>
                </a:r>
                <a:r>
                  <a:rPr lang="vi-VN" b="1" dirty="0" err="1"/>
                  <a:t>Underlay</a:t>
                </a:r>
                <a:r>
                  <a:rPr lang="vi-VN" b="1" dirty="0"/>
                  <a:t> lại phù hợp với RSMA?</a:t>
                </a:r>
              </a:p>
              <a:p>
                <a:pPr marL="0" marR="0" lvl="0" indent="0" algn="l" defTabSz="914400" rtl="0" eaLnBrk="1" fontAlgn="auto" latinLnBrk="0" hangingPunct="1">
                  <a:lnSpc>
                    <a:spcPct val="100000"/>
                  </a:lnSpc>
                  <a:spcBef>
                    <a:spcPts val="0"/>
                  </a:spcBef>
                  <a:spcAft>
                    <a:spcPts val="0"/>
                  </a:spcAft>
                  <a:buClrTx/>
                  <a:buSzTx/>
                  <a:buFontTx/>
                  <a:buNone/>
                  <a:tabLst/>
                  <a:defRPr/>
                </a:pPr>
                <a:r>
                  <a:rPr lang="vi-VN" dirty="0"/>
                  <a:t>Vì đây là mô hình cho phép các </a:t>
                </a:r>
                <a:r>
                  <a:rPr lang="vi-VN" dirty="0" err="1"/>
                  <a:t>Secondary</a:t>
                </a:r>
                <a:r>
                  <a:rPr lang="vi-VN" dirty="0"/>
                  <a:t> </a:t>
                </a:r>
                <a:r>
                  <a:rPr lang="vi-VN" dirty="0" err="1"/>
                  <a:t>User</a:t>
                </a:r>
                <a:r>
                  <a:rPr lang="vi-VN" dirty="0"/>
                  <a:t> truyền đồng thời trên cùng băng tần với </a:t>
                </a:r>
                <a:r>
                  <a:rPr lang="vi-VN" dirty="0" err="1"/>
                  <a:t>Primary</a:t>
                </a:r>
                <a:r>
                  <a:rPr lang="vi-VN" dirty="0"/>
                  <a:t> </a:t>
                </a:r>
                <a:r>
                  <a:rPr lang="vi-VN" dirty="0" err="1"/>
                  <a:t>User</a:t>
                </a:r>
                <a:r>
                  <a:rPr lang="vi-VN" dirty="0"/>
                  <a:t>. Khi đó hệ thống xuất hiện nhiều nguồn giao thoa và phải tuân thủ thêm ràng buộc nhiễu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𝐼</m:t>
                        </m:r>
                      </m:e>
                      <m:sub>
                        <m:r>
                          <a:rPr lang="ar-AE" sz="1200" i="1" kern="1200">
                            <a:solidFill>
                              <a:schemeClr val="tx1"/>
                            </a:solidFill>
                            <a:latin typeface="Cambria Math" panose="02040503050406030204" pitchFamily="18" charset="0"/>
                            <a:ea typeface="+mn-ea"/>
                            <a:cs typeface="+mn-cs"/>
                          </a:rPr>
                          <m:t>𝑡</m:t>
                        </m:r>
                        <m:r>
                          <a:rPr lang="ar-AE" sz="1200" i="1" kern="1200">
                            <a:solidFill>
                              <a:schemeClr val="tx1"/>
                            </a:solidFill>
                            <a:latin typeface="Cambria Math" panose="02040503050406030204" pitchFamily="18" charset="0"/>
                            <a:ea typeface="+mn-ea"/>
                            <a:cs typeface="+mn-cs"/>
                          </a:rPr>
                          <m:t>h</m:t>
                        </m:r>
                      </m:sub>
                    </m:sSub>
                  </m:oMath>
                </a14:m>
                <a:r>
                  <a:rPr lang="ar-AE" dirty="0"/>
                  <a:t>. </a:t>
                </a:r>
                <a:r>
                  <a:rPr lang="vi-VN" dirty="0"/>
                  <a:t>RSMA được thiết kế để xử lý giao thoa hiệu quả bằng cách giải mã một phần giao thoa và xem phần còn lại là nhiễu, nên rất phù hợp với môi trường </a:t>
                </a:r>
                <a:r>
                  <a:rPr lang="vi-VN" dirty="0" err="1"/>
                  <a:t>Underlay</a:t>
                </a:r>
                <a:r>
                  <a:rPr lang="vi-VN" dirty="0"/>
                  <a:t>. Nhờ đó hệ thống có thể đạt MMF </a:t>
                </a:r>
                <a:r>
                  <a:rPr lang="vi-VN" dirty="0" err="1"/>
                  <a:t>Rate</a:t>
                </a:r>
                <a:r>
                  <a:rPr lang="vi-VN" dirty="0"/>
                  <a:t> và </a:t>
                </a:r>
                <a:r>
                  <a:rPr lang="vi-VN" dirty="0" err="1"/>
                  <a:t>fairness</a:t>
                </a:r>
                <a:r>
                  <a:rPr lang="vi-VN" dirty="0"/>
                  <a:t> tốt hơn so với NOMA.</a:t>
                </a:r>
                <a:br>
                  <a:rPr lang="vi-VN" dirty="0"/>
                </a:br>
                <a:br>
                  <a:rPr lang="vi-VN" dirty="0"/>
                </a:br>
                <a:endParaRPr lang="vi-VN" dirty="0"/>
              </a:p>
              <a:p>
                <a:endParaRPr lang="vi-VN" dirty="0"/>
              </a:p>
            </p:txBody>
          </p:sp>
        </mc:Choice>
        <mc:Fallback>
          <p:sp>
            <p:nvSpPr>
              <p:cNvPr id="3" name="Notes Placeholder 2">
                <a:extLst>
                  <a:ext uri="{FF2B5EF4-FFF2-40B4-BE49-F238E27FC236}">
                    <a16:creationId xmlns:a16="http://schemas.microsoft.com/office/drawing/2014/main" id="{61601244-4FE7-5432-F86E-48A6846F42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vi-VN" b="1" dirty="0"/>
                  <a:t>Mô hình được chọn trong khóa luận là </a:t>
                </a:r>
                <a:r>
                  <a:rPr lang="vi-VN" b="1" dirty="0" err="1"/>
                  <a:t>Underlay</a:t>
                </a:r>
                <a:r>
                  <a:rPr lang="vi-VN" b="1" dirty="0"/>
                  <a:t> vì:</a:t>
                </a:r>
                <a:br>
                  <a:rPr lang="vi-VN" b="1" dirty="0"/>
                </a:br>
                <a:br>
                  <a:rPr lang="vi-VN" b="1" dirty="0"/>
                </a:br>
                <a:r>
                  <a:rPr lang="vi-VN" dirty="0"/>
                  <a:t>Trong mô hình </a:t>
                </a:r>
                <a:r>
                  <a:rPr lang="vi-VN" dirty="0" err="1"/>
                  <a:t>Underlay</a:t>
                </a:r>
                <a:r>
                  <a:rPr lang="vi-VN" dirty="0"/>
                  <a:t>, PU và SU có thể hoạt động đồng thời trên cùng băng tần. Điều này giúp khai thác phổ liên tục và đạt hiệu suất phổ cao hơn so với </a:t>
                </a:r>
                <a:r>
                  <a:rPr lang="vi-VN" dirty="0" err="1"/>
                  <a:t>Interweave</a:t>
                </a:r>
                <a:r>
                  <a:rPr lang="vi-VN" dirty="0"/>
                  <a:t>. Đồng thời, </a:t>
                </a:r>
                <a:r>
                  <a:rPr lang="vi-VN" dirty="0" err="1"/>
                  <a:t>Underlay</a:t>
                </a:r>
                <a:r>
                  <a:rPr lang="vi-VN" dirty="0"/>
                  <a:t> có cấu trúc phù hợp để kết hợp với các kỹ thuật đa truy cập tiên tiến như RSMA và NOMA.</a:t>
                </a:r>
                <a:br>
                  <a:rPr lang="vi-VN" dirty="0"/>
                </a:br>
                <a:endParaRPr lang="vi-VN" dirty="0"/>
              </a:p>
              <a:p>
                <a:pPr marL="0" marR="0" lvl="0" indent="0" algn="l" defTabSz="914400" rtl="0" eaLnBrk="1" fontAlgn="auto" latinLnBrk="0" hangingPunct="1">
                  <a:lnSpc>
                    <a:spcPct val="100000"/>
                  </a:lnSpc>
                  <a:spcBef>
                    <a:spcPts val="0"/>
                  </a:spcBef>
                  <a:spcAft>
                    <a:spcPts val="0"/>
                  </a:spcAft>
                  <a:buClrTx/>
                  <a:buSzTx/>
                  <a:buFontTx/>
                  <a:buNone/>
                  <a:tabLst/>
                  <a:defRPr/>
                </a:pPr>
                <a:r>
                  <a:rPr lang="vi-VN" b="1" dirty="0"/>
                  <a:t>Tại sao </a:t>
                </a:r>
                <a:r>
                  <a:rPr lang="vi-VN" b="1" dirty="0" err="1"/>
                  <a:t>Underlay</a:t>
                </a:r>
                <a:r>
                  <a:rPr lang="vi-VN" b="1" dirty="0"/>
                  <a:t> lại phù hợp với RSMA?</a:t>
                </a:r>
              </a:p>
              <a:p>
                <a:pPr marL="0" marR="0" lvl="0" indent="0" algn="l" defTabSz="914400" rtl="0" eaLnBrk="1" fontAlgn="auto" latinLnBrk="0" hangingPunct="1">
                  <a:lnSpc>
                    <a:spcPct val="100000"/>
                  </a:lnSpc>
                  <a:spcBef>
                    <a:spcPts val="0"/>
                  </a:spcBef>
                  <a:spcAft>
                    <a:spcPts val="0"/>
                  </a:spcAft>
                  <a:buClrTx/>
                  <a:buSzTx/>
                  <a:buFontTx/>
                  <a:buNone/>
                  <a:tabLst/>
                  <a:defRPr/>
                </a:pPr>
                <a:r>
                  <a:rPr lang="vi-VN" dirty="0"/>
                  <a:t>Vì đây là mô hình cho phép các </a:t>
                </a:r>
                <a:r>
                  <a:rPr lang="vi-VN" dirty="0" err="1"/>
                  <a:t>Secondary</a:t>
                </a:r>
                <a:r>
                  <a:rPr lang="vi-VN" dirty="0"/>
                  <a:t> </a:t>
                </a:r>
                <a:r>
                  <a:rPr lang="vi-VN" dirty="0" err="1"/>
                  <a:t>User</a:t>
                </a:r>
                <a:r>
                  <a:rPr lang="vi-VN" dirty="0"/>
                  <a:t> truyền đồng thời trên cùng băng tần với </a:t>
                </a:r>
                <a:r>
                  <a:rPr lang="vi-VN" dirty="0" err="1"/>
                  <a:t>Primary</a:t>
                </a:r>
                <a:r>
                  <a:rPr lang="vi-VN" dirty="0"/>
                  <a:t> </a:t>
                </a:r>
                <a:r>
                  <a:rPr lang="vi-VN" dirty="0" err="1"/>
                  <a:t>User</a:t>
                </a:r>
                <a:r>
                  <a:rPr lang="vi-VN" dirty="0"/>
                  <a:t>. Khi đó hệ thống xuất hiện nhiều nguồn giao thoa và phải tuân thủ thêm ràng buộc nhiễu </a:t>
                </a:r>
                <a:r>
                  <a:rPr lang="ar-AE" sz="1200" i="0" kern="1200">
                    <a:solidFill>
                      <a:schemeClr val="tx1"/>
                    </a:solidFill>
                    <a:latin typeface="Cambria Math" panose="02040503050406030204" pitchFamily="18" charset="0"/>
                    <a:ea typeface="+mn-ea"/>
                    <a:cs typeface="+mn-cs"/>
                  </a:rPr>
                  <a:t>𝐼_𝑡ℎ</a:t>
                </a:r>
                <a:r>
                  <a:rPr lang="ar-AE" dirty="0"/>
                  <a:t>. </a:t>
                </a:r>
                <a:r>
                  <a:rPr lang="vi-VN" dirty="0"/>
                  <a:t>RSMA được thiết kế để xử lý giao thoa hiệu quả bằng cách giải mã một phần giao thoa và xem phần còn lại là nhiễu, nên rất phù hợp với môi trường </a:t>
                </a:r>
                <a:r>
                  <a:rPr lang="vi-VN" dirty="0" err="1"/>
                  <a:t>Underlay</a:t>
                </a:r>
                <a:r>
                  <a:rPr lang="vi-VN" dirty="0"/>
                  <a:t>. Nhờ đó hệ thống có thể đạt MMF </a:t>
                </a:r>
                <a:r>
                  <a:rPr lang="vi-VN" dirty="0" err="1"/>
                  <a:t>Rate</a:t>
                </a:r>
                <a:r>
                  <a:rPr lang="vi-VN" dirty="0"/>
                  <a:t> và </a:t>
                </a:r>
                <a:r>
                  <a:rPr lang="vi-VN" dirty="0" err="1"/>
                  <a:t>fairness</a:t>
                </a:r>
                <a:r>
                  <a:rPr lang="vi-VN" dirty="0"/>
                  <a:t> tốt hơn so với NOMA.</a:t>
                </a:r>
                <a:br>
                  <a:rPr lang="vi-VN" dirty="0"/>
                </a:br>
                <a:br>
                  <a:rPr lang="vi-VN" dirty="0"/>
                </a:br>
                <a:endParaRPr lang="vi-VN" dirty="0"/>
              </a:p>
              <a:p>
                <a:endParaRPr lang="vi-VN" dirty="0"/>
              </a:p>
            </p:txBody>
          </p:sp>
        </mc:Fallback>
      </mc:AlternateContent>
      <p:sp>
        <p:nvSpPr>
          <p:cNvPr id="4" name="Slide Number Placeholder 3">
            <a:extLst>
              <a:ext uri="{FF2B5EF4-FFF2-40B4-BE49-F238E27FC236}">
                <a16:creationId xmlns:a16="http://schemas.microsoft.com/office/drawing/2014/main" id="{99ACACED-C3DB-8D54-BE9C-3E307CC11D3E}"/>
              </a:ext>
            </a:extLst>
          </p:cNvPr>
          <p:cNvSpPr>
            <a:spLocks noGrp="1"/>
          </p:cNvSpPr>
          <p:nvPr>
            <p:ph type="sldNum" sz="quarter" idx="5"/>
          </p:nvPr>
        </p:nvSpPr>
        <p:spPr/>
        <p:txBody>
          <a:bodyPr/>
          <a:lstStyle/>
          <a:p>
            <a:fld id="{8FDCBCB6-B631-4457-A1AB-039C4426AD00}" type="slidenum">
              <a:rPr lang="vi-VN" smtClean="0"/>
              <a:t>6</a:t>
            </a:fld>
            <a:endParaRPr lang="vi-VN"/>
          </a:p>
        </p:txBody>
      </p:sp>
    </p:spTree>
    <p:extLst>
      <p:ext uri="{BB962C8B-B14F-4D97-AF65-F5344CB8AC3E}">
        <p14:creationId xmlns:p14="http://schemas.microsoft.com/office/powerpoint/2010/main" val="17901131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2A32C-D6E3-315A-0F5C-2B3642796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23AD8D-AA89-6140-83DD-1C7068B3FC24}"/>
              </a:ext>
            </a:extLst>
          </p:cNvPr>
          <p:cNvSpPr>
            <a:spLocks noGrp="1" noRot="1" noChangeAspect="1"/>
          </p:cNvSpPr>
          <p:nvPr>
            <p:ph type="sldImg"/>
          </p:nvPr>
        </p:nvSpPr>
        <p:spPr>
          <a:xfrm>
            <a:off x="1371600" y="1143000"/>
            <a:ext cx="4114800" cy="3086100"/>
          </a:xfrm>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B99F4BA2-904A-BC74-497C-3351D25DEC76}"/>
                  </a:ext>
                </a:extLst>
              </p:cNvPr>
              <p:cNvSpPr>
                <a:spLocks noGrp="1"/>
              </p:cNvSpPr>
              <p:nvPr>
                <p:ph type="body" idx="1"/>
              </p:nvPr>
            </p:nvSpPr>
            <p:spPr/>
            <p:txBody>
              <a:bodyPr/>
              <a:lstStyle/>
              <a:p>
                <a:r>
                  <a:rPr lang="vi-VN" dirty="0"/>
                  <a:t>Hình này mô tả toàn bộ hệ thống CR-RSMA được sử dụng trong khóa luận. Nhiều </a:t>
                </a:r>
                <a:r>
                  <a:rPr lang="vi-VN" dirty="0" err="1"/>
                  <a:t>Secondary</a:t>
                </a:r>
                <a:r>
                  <a:rPr lang="vi-VN" dirty="0"/>
                  <a:t> </a:t>
                </a:r>
                <a:r>
                  <a:rPr lang="vi-VN" dirty="0" err="1"/>
                  <a:t>User</a:t>
                </a:r>
                <a:r>
                  <a:rPr lang="vi-VN" dirty="0"/>
                  <a:t> truyền dữ liệu lên </a:t>
                </a:r>
                <a:r>
                  <a:rPr lang="vi-VN" dirty="0" err="1"/>
                  <a:t>Base</a:t>
                </a:r>
                <a:r>
                  <a:rPr lang="vi-VN" dirty="0"/>
                  <a:t> </a:t>
                </a:r>
                <a:r>
                  <a:rPr lang="vi-VN" dirty="0" err="1"/>
                  <a:t>Station</a:t>
                </a:r>
                <a:r>
                  <a:rPr lang="vi-VN" dirty="0"/>
                  <a:t> trên cùng băng tần với </a:t>
                </a:r>
                <a:r>
                  <a:rPr lang="vi-VN" dirty="0" err="1"/>
                  <a:t>Primary</a:t>
                </a:r>
                <a:r>
                  <a:rPr lang="vi-VN" dirty="0"/>
                  <a:t> </a:t>
                </a:r>
                <a:r>
                  <a:rPr lang="vi-VN" dirty="0" err="1"/>
                  <a:t>User</a:t>
                </a:r>
                <a:r>
                  <a:rPr lang="vi-VN" dirty="0"/>
                  <a:t> theo mô hình </a:t>
                </a:r>
                <a:r>
                  <a:rPr lang="vi-VN" dirty="0" err="1"/>
                  <a:t>Underlay</a:t>
                </a:r>
                <a:r>
                  <a:rPr lang="vi-VN" dirty="0"/>
                  <a:t>. Để xử lý giao thoa hiệu quả, mỗi </a:t>
                </a:r>
                <a:r>
                  <a:rPr lang="vi-VN" dirty="0" err="1"/>
                  <a:t>user</a:t>
                </a:r>
                <a:r>
                  <a:rPr lang="vi-VN" dirty="0"/>
                  <a:t> thực hiện </a:t>
                </a:r>
                <a:r>
                  <a:rPr lang="vi-VN" dirty="0" err="1"/>
                  <a:t>Rate</a:t>
                </a:r>
                <a:r>
                  <a:rPr lang="vi-VN" dirty="0"/>
                  <a:t> </a:t>
                </a:r>
                <a:r>
                  <a:rPr lang="vi-VN" dirty="0" err="1"/>
                  <a:t>Splitting</a:t>
                </a:r>
                <a:r>
                  <a:rPr lang="vi-VN" dirty="0"/>
                  <a:t> và truyền đồng thời các luồng </a:t>
                </a:r>
                <a:r>
                  <a:rPr lang="vi-VN" dirty="0" err="1"/>
                  <a:t>common</a:t>
                </a:r>
                <a:r>
                  <a:rPr lang="vi-VN" dirty="0"/>
                  <a:t> và </a:t>
                </a:r>
                <a:r>
                  <a:rPr lang="vi-VN" dirty="0" err="1"/>
                  <a:t>private</a:t>
                </a:r>
                <a:r>
                  <a:rPr lang="vi-VN" dirty="0"/>
                  <a:t>. Tại trạm gốc, các tín hiệu được giải mã bằng SIC. Đồng thời, tổng nhiễu gây ra cho </a:t>
                </a:r>
                <a:r>
                  <a:rPr lang="vi-VN" dirty="0" err="1"/>
                  <a:t>Primary</a:t>
                </a:r>
                <a:r>
                  <a:rPr lang="vi-VN" dirty="0"/>
                  <a:t> </a:t>
                </a:r>
                <a:r>
                  <a:rPr lang="vi-VN" dirty="0" err="1"/>
                  <a:t>User</a:t>
                </a:r>
                <a:r>
                  <a:rPr lang="vi-VN" dirty="0"/>
                  <a:t> phải luôn nhỏ hơn ngưỡng </a:t>
                </a:r>
                <a14:m>
                  <m:oMath xmlns:m="http://schemas.openxmlformats.org/officeDocument/2006/math">
                    <m:sSub>
                      <m:sSubPr>
                        <m:ctrlPr>
                          <a:rPr lang="ar-AE" sz="1200" kern="1200">
                            <a:solidFill>
                              <a:schemeClr val="tx1"/>
                            </a:solidFill>
                            <a:latin typeface="+mn-lt"/>
                            <a:ea typeface="+mn-ea"/>
                            <a:cs typeface="+mn-cs"/>
                          </a:rPr>
                        </m:ctrlPr>
                      </m:sSubPr>
                      <m:e>
                        <m:r>
                          <a:rPr lang="ar-AE" sz="1200" i="1" kern="1200">
                            <a:solidFill>
                              <a:schemeClr val="tx1"/>
                            </a:solidFill>
                            <a:latin typeface="+mn-lt"/>
                            <a:ea typeface="+mn-ea"/>
                            <a:cs typeface="+mn-cs"/>
                          </a:rPr>
                          <m:t>𝐼</m:t>
                        </m:r>
                      </m:e>
                      <m:sub>
                        <m:r>
                          <a:rPr lang="ar-AE" sz="1200" i="1" kern="1200">
                            <a:solidFill>
                              <a:schemeClr val="tx1"/>
                            </a:solidFill>
                            <a:latin typeface="+mn-lt"/>
                            <a:ea typeface="+mn-ea"/>
                            <a:cs typeface="+mn-cs"/>
                          </a:rPr>
                          <m:t>𝑡</m:t>
                        </m:r>
                        <m:r>
                          <a:rPr lang="ar-AE" sz="1200" i="1" kern="1200">
                            <a:solidFill>
                              <a:schemeClr val="tx1"/>
                            </a:solidFill>
                            <a:latin typeface="+mn-lt"/>
                            <a:ea typeface="+mn-ea"/>
                            <a:cs typeface="+mn-cs"/>
                          </a:rPr>
                          <m:t>h</m:t>
                        </m:r>
                      </m:sub>
                    </m:sSub>
                  </m:oMath>
                </a14:m>
                <a:r>
                  <a:rPr lang="ar-AE" dirty="0"/>
                  <a:t>, </a:t>
                </a:r>
                <a:r>
                  <a:rPr lang="vi-VN" dirty="0"/>
                  <a:t>đây cũng là ràng buộc quan trọng nhất của bài toán tối ưu trong đề tài</a:t>
                </a:r>
              </a:p>
            </p:txBody>
          </p:sp>
        </mc:Choice>
        <mc:Fallback>
          <p:sp>
            <p:nvSpPr>
              <p:cNvPr id="3" name="Notes Placeholder 2">
                <a:extLst>
                  <a:ext uri="{FF2B5EF4-FFF2-40B4-BE49-F238E27FC236}">
                    <a16:creationId xmlns:a16="http://schemas.microsoft.com/office/drawing/2014/main" id="{B99F4BA2-904A-BC74-497C-3351D25DEC76}"/>
                  </a:ext>
                </a:extLst>
              </p:cNvPr>
              <p:cNvSpPr>
                <a:spLocks noGrp="1"/>
              </p:cNvSpPr>
              <p:nvPr>
                <p:ph type="body" idx="1"/>
              </p:nvPr>
            </p:nvSpPr>
            <p:spPr/>
            <p:txBody>
              <a:bodyPr/>
              <a:lstStyle/>
              <a:p>
                <a:r>
                  <a:rPr lang="vi-VN" dirty="0"/>
                  <a:t>Hình này mô tả toàn bộ hệ thống CR-RSMA được sử dụng trong khóa luận. Nhiều </a:t>
                </a:r>
                <a:r>
                  <a:rPr lang="vi-VN" dirty="0" err="1"/>
                  <a:t>Secondary</a:t>
                </a:r>
                <a:r>
                  <a:rPr lang="vi-VN" dirty="0"/>
                  <a:t> </a:t>
                </a:r>
                <a:r>
                  <a:rPr lang="vi-VN" dirty="0" err="1"/>
                  <a:t>User</a:t>
                </a:r>
                <a:r>
                  <a:rPr lang="vi-VN" dirty="0"/>
                  <a:t> truyền dữ liệu lên </a:t>
                </a:r>
                <a:r>
                  <a:rPr lang="vi-VN" dirty="0" err="1"/>
                  <a:t>Base</a:t>
                </a:r>
                <a:r>
                  <a:rPr lang="vi-VN" dirty="0"/>
                  <a:t> </a:t>
                </a:r>
                <a:r>
                  <a:rPr lang="vi-VN" dirty="0" err="1"/>
                  <a:t>Station</a:t>
                </a:r>
                <a:r>
                  <a:rPr lang="vi-VN" dirty="0"/>
                  <a:t> trên cùng băng tần với </a:t>
                </a:r>
                <a:r>
                  <a:rPr lang="vi-VN" dirty="0" err="1"/>
                  <a:t>Primary</a:t>
                </a:r>
                <a:r>
                  <a:rPr lang="vi-VN" dirty="0"/>
                  <a:t> </a:t>
                </a:r>
                <a:r>
                  <a:rPr lang="vi-VN" dirty="0" err="1"/>
                  <a:t>User</a:t>
                </a:r>
                <a:r>
                  <a:rPr lang="vi-VN" dirty="0"/>
                  <a:t> theo mô hình </a:t>
                </a:r>
                <a:r>
                  <a:rPr lang="vi-VN" dirty="0" err="1"/>
                  <a:t>Underlay</a:t>
                </a:r>
                <a:r>
                  <a:rPr lang="vi-VN" dirty="0"/>
                  <a:t>. Để xử lý giao thoa hiệu quả, mỗi </a:t>
                </a:r>
                <a:r>
                  <a:rPr lang="vi-VN" dirty="0" err="1"/>
                  <a:t>user</a:t>
                </a:r>
                <a:r>
                  <a:rPr lang="vi-VN" dirty="0"/>
                  <a:t> thực hiện </a:t>
                </a:r>
                <a:r>
                  <a:rPr lang="vi-VN" dirty="0" err="1"/>
                  <a:t>Rate</a:t>
                </a:r>
                <a:r>
                  <a:rPr lang="vi-VN" dirty="0"/>
                  <a:t> </a:t>
                </a:r>
                <a:r>
                  <a:rPr lang="vi-VN" dirty="0" err="1"/>
                  <a:t>Splitting</a:t>
                </a:r>
                <a:r>
                  <a:rPr lang="vi-VN" dirty="0"/>
                  <a:t> và truyền đồng thời các luồng </a:t>
                </a:r>
                <a:r>
                  <a:rPr lang="vi-VN" dirty="0" err="1"/>
                  <a:t>common</a:t>
                </a:r>
                <a:r>
                  <a:rPr lang="vi-VN" dirty="0"/>
                  <a:t> và </a:t>
                </a:r>
                <a:r>
                  <a:rPr lang="vi-VN" dirty="0" err="1"/>
                  <a:t>private</a:t>
                </a:r>
                <a:r>
                  <a:rPr lang="vi-VN" dirty="0"/>
                  <a:t>. Tại trạm gốc, các tín hiệu được giải mã bằng SIC. Đồng thời, tổng nhiễu gây ra cho </a:t>
                </a:r>
                <a:r>
                  <a:rPr lang="vi-VN" dirty="0" err="1"/>
                  <a:t>Primary</a:t>
                </a:r>
                <a:r>
                  <a:rPr lang="vi-VN" dirty="0"/>
                  <a:t> </a:t>
                </a:r>
                <a:r>
                  <a:rPr lang="vi-VN" dirty="0" err="1"/>
                  <a:t>User</a:t>
                </a:r>
                <a:r>
                  <a:rPr lang="vi-VN" dirty="0"/>
                  <a:t> phải luôn nhỏ hơn ngưỡng </a:t>
                </a:r>
                <a:r>
                  <a:rPr lang="ar-AE" sz="1200" i="0" kern="1200">
                    <a:solidFill>
                      <a:schemeClr val="tx1"/>
                    </a:solidFill>
                    <a:latin typeface="+mn-lt"/>
                    <a:ea typeface="+mn-ea"/>
                    <a:cs typeface="+mn-cs"/>
                  </a:rPr>
                  <a:t>𝐼_𝑡ℎ</a:t>
                </a:r>
                <a:r>
                  <a:rPr lang="ar-AE" dirty="0"/>
                  <a:t>, </a:t>
                </a:r>
                <a:r>
                  <a:rPr lang="vi-VN" dirty="0"/>
                  <a:t>đây cũng là ràng buộc quan trọng nhất của bài toán tối ưu trong đề tài</a:t>
                </a:r>
              </a:p>
            </p:txBody>
          </p:sp>
        </mc:Fallback>
      </mc:AlternateContent>
      <p:sp>
        <p:nvSpPr>
          <p:cNvPr id="4" name="Slide Number Placeholder 3">
            <a:extLst>
              <a:ext uri="{FF2B5EF4-FFF2-40B4-BE49-F238E27FC236}">
                <a16:creationId xmlns:a16="http://schemas.microsoft.com/office/drawing/2014/main" id="{4DB43B39-3C24-1563-57AB-247E8AE73286}"/>
              </a:ext>
            </a:extLst>
          </p:cNvPr>
          <p:cNvSpPr>
            <a:spLocks noGrp="1"/>
          </p:cNvSpPr>
          <p:nvPr>
            <p:ph type="sldNum" sz="quarter" idx="5"/>
          </p:nvPr>
        </p:nvSpPr>
        <p:spPr/>
        <p:txBody>
          <a:bodyPr/>
          <a:lstStyle/>
          <a:p>
            <a:fld id="{8FDCBCB6-B631-4457-A1AB-039C4426AD00}" type="slidenum">
              <a:rPr lang="vi-VN" smtClean="0"/>
              <a:t>7</a:t>
            </a:fld>
            <a:endParaRPr lang="vi-VN"/>
          </a:p>
        </p:txBody>
      </p:sp>
    </p:spTree>
    <p:extLst>
      <p:ext uri="{BB962C8B-B14F-4D97-AF65-F5344CB8AC3E}">
        <p14:creationId xmlns:p14="http://schemas.microsoft.com/office/powerpoint/2010/main" val="22778840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A4DC4-42DB-AD62-3F56-FB5BCC0E4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30804A-9129-2163-3B63-A45936FABA45}"/>
              </a:ext>
            </a:extLst>
          </p:cNvPr>
          <p:cNvSpPr>
            <a:spLocks noGrp="1" noRot="1" noChangeAspect="1"/>
          </p:cNvSpPr>
          <p:nvPr>
            <p:ph type="sldImg"/>
          </p:nvPr>
        </p:nvSpPr>
        <p:spPr>
          <a:xfrm>
            <a:off x="1371600" y="1143000"/>
            <a:ext cx="4114800" cy="3086100"/>
          </a:xfrm>
        </p:spPr>
      </p:sp>
      <p:sp>
        <p:nvSpPr>
          <p:cNvPr id="3" name="Notes Placeholder 2">
            <a:extLst>
              <a:ext uri="{FF2B5EF4-FFF2-40B4-BE49-F238E27FC236}">
                <a16:creationId xmlns:a16="http://schemas.microsoft.com/office/drawing/2014/main" id="{24A1F745-55E2-F9C5-7B27-B953424CA6C5}"/>
              </a:ext>
            </a:extLst>
          </p:cNvPr>
          <p:cNvSpPr>
            <a:spLocks noGrp="1"/>
          </p:cNvSpPr>
          <p:nvPr>
            <p:ph type="body" idx="1"/>
          </p:nvPr>
        </p:nvSpPr>
        <p:spPr/>
        <p:txBody>
          <a:bodyPr/>
          <a:lstStyle/>
          <a:p>
            <a:r>
              <a:rPr lang="vi-VN" dirty="0"/>
              <a:t>SVC mã hóa </a:t>
            </a:r>
            <a:r>
              <a:rPr lang="vi-VN" dirty="0" err="1"/>
              <a:t>video</a:t>
            </a:r>
            <a:r>
              <a:rPr lang="vi-VN" dirty="0"/>
              <a:t> thành nhiều lớp gồm </a:t>
            </a:r>
            <a:r>
              <a:rPr lang="vi-VN" dirty="0" err="1"/>
              <a:t>Base</a:t>
            </a:r>
            <a:r>
              <a:rPr lang="vi-VN" dirty="0"/>
              <a:t> </a:t>
            </a:r>
            <a:r>
              <a:rPr lang="vi-VN" dirty="0" err="1"/>
              <a:t>Layer</a:t>
            </a:r>
            <a:r>
              <a:rPr lang="vi-VN" dirty="0"/>
              <a:t> và </a:t>
            </a:r>
            <a:r>
              <a:rPr lang="vi-VN" dirty="0" err="1"/>
              <a:t>Enhancement</a:t>
            </a:r>
            <a:r>
              <a:rPr lang="vi-VN" dirty="0"/>
              <a:t> </a:t>
            </a:r>
            <a:r>
              <a:rPr lang="vi-VN" dirty="0" err="1"/>
              <a:t>Layer</a:t>
            </a:r>
            <a:r>
              <a:rPr lang="vi-VN" dirty="0"/>
              <a:t>. Tùy theo tốc độ truyền dữ liệu đạt được, người dùng có thể giải mã số lượng lớp khác nhau để thu được chất lượng </a:t>
            </a:r>
            <a:r>
              <a:rPr lang="vi-VN" dirty="0" err="1"/>
              <a:t>video</a:t>
            </a:r>
            <a:r>
              <a:rPr lang="vi-VN" dirty="0"/>
              <a:t> tương ứng mà không cần mã hóa lại nội dung.</a:t>
            </a:r>
            <a:br>
              <a:rPr lang="vi-VN" dirty="0"/>
            </a:br>
            <a:br>
              <a:rPr lang="vi-VN" dirty="0"/>
            </a:br>
            <a:r>
              <a:rPr lang="vi-VN" b="1" dirty="0"/>
              <a:t>1. Bên trái: Quy trình mã hóa </a:t>
            </a:r>
            <a:r>
              <a:rPr lang="vi-VN" b="1" dirty="0" err="1"/>
              <a:t>video</a:t>
            </a:r>
            <a:r>
              <a:rPr lang="vi-VN" b="1" dirty="0"/>
              <a:t> SVC</a:t>
            </a:r>
          </a:p>
          <a:p>
            <a:r>
              <a:rPr lang="vi-VN" dirty="0" err="1"/>
              <a:t>Video</a:t>
            </a:r>
            <a:r>
              <a:rPr lang="vi-VN" dirty="0"/>
              <a:t> gốc được đưa vào </a:t>
            </a:r>
            <a:r>
              <a:rPr lang="vi-VN" b="1" dirty="0"/>
              <a:t>SVC </a:t>
            </a:r>
            <a:r>
              <a:rPr lang="vi-VN" b="1" dirty="0" err="1"/>
              <a:t>Encoder</a:t>
            </a:r>
            <a:r>
              <a:rPr lang="vi-VN" dirty="0"/>
              <a:t>.</a:t>
            </a:r>
          </a:p>
          <a:p>
            <a:r>
              <a:rPr lang="vi-VN" dirty="0" err="1"/>
              <a:t>Video</a:t>
            </a:r>
            <a:r>
              <a:rPr lang="vi-VN" dirty="0"/>
              <a:t> được phân thành nhiều lớp (</a:t>
            </a:r>
            <a:r>
              <a:rPr lang="vi-VN" dirty="0" err="1"/>
              <a:t>layers</a:t>
            </a:r>
            <a:r>
              <a:rPr lang="vi-VN" dirty="0"/>
              <a:t>):</a:t>
            </a:r>
          </a:p>
          <a:p>
            <a:pPr lvl="1"/>
            <a:r>
              <a:rPr lang="vi-VN" b="1" dirty="0" err="1"/>
              <a:t>Base</a:t>
            </a:r>
            <a:r>
              <a:rPr lang="vi-VN" b="1" dirty="0"/>
              <a:t> </a:t>
            </a:r>
            <a:r>
              <a:rPr lang="vi-VN" b="1" dirty="0" err="1"/>
              <a:t>Layer</a:t>
            </a:r>
            <a:r>
              <a:rPr lang="vi-VN" b="1" dirty="0"/>
              <a:t> (BL)</a:t>
            </a:r>
            <a:r>
              <a:rPr lang="vi-VN" dirty="0"/>
              <a:t>: Lớp cơ bản, chất lượng thấp nhất, bắt buộc phải nhận.</a:t>
            </a:r>
          </a:p>
          <a:p>
            <a:pPr lvl="1"/>
            <a:r>
              <a:rPr lang="vi-VN" b="1" dirty="0" err="1"/>
              <a:t>Enhancement</a:t>
            </a:r>
            <a:r>
              <a:rPr lang="vi-VN" b="1" dirty="0"/>
              <a:t> </a:t>
            </a:r>
            <a:r>
              <a:rPr lang="vi-VN" b="1" dirty="0" err="1"/>
              <a:t>Layers</a:t>
            </a:r>
            <a:r>
              <a:rPr lang="vi-VN" b="1" dirty="0"/>
              <a:t> (EL1, EL2, … </a:t>
            </a:r>
            <a:r>
              <a:rPr lang="vi-VN" b="1" dirty="0" err="1"/>
              <a:t>ELn</a:t>
            </a:r>
            <a:r>
              <a:rPr lang="vi-VN" b="1" dirty="0"/>
              <a:t>)</a:t>
            </a:r>
            <a:r>
              <a:rPr lang="vi-VN" dirty="0"/>
              <a:t>: Các lớp nâng cao, giúp tăng chất lượng </a:t>
            </a:r>
            <a:r>
              <a:rPr lang="vi-VN" dirty="0" err="1"/>
              <a:t>video</a:t>
            </a:r>
            <a:r>
              <a:rPr lang="vi-VN" dirty="0"/>
              <a:t> (độ phân giải, </a:t>
            </a:r>
            <a:r>
              <a:rPr lang="vi-VN" dirty="0" err="1"/>
              <a:t>bitrate</a:t>
            </a:r>
            <a:r>
              <a:rPr lang="vi-VN" dirty="0"/>
              <a:t> cao hơn).</a:t>
            </a:r>
          </a:p>
          <a:p>
            <a:pPr lvl="1"/>
            <a:endParaRPr lang="vi-VN" dirty="0"/>
          </a:p>
          <a:p>
            <a:r>
              <a:rPr lang="vi-VN" dirty="0">
                <a:effectLst/>
              </a:rPr>
              <a:t>Mỗi lớp đều có thể được truyền </a:t>
            </a:r>
            <a:r>
              <a:rPr lang="vi-VN" b="1" dirty="0">
                <a:effectLst/>
              </a:rPr>
              <a:t>riêng biệt</a:t>
            </a:r>
            <a:r>
              <a:rPr lang="vi-VN" dirty="0">
                <a:effectLst/>
              </a:rPr>
              <a:t>, cho phép người dùng chỉ nhận những lớp phù hợp với điều kiện mạng của mình.</a:t>
            </a:r>
          </a:p>
          <a:p>
            <a:r>
              <a:rPr lang="vi-VN" b="1" dirty="0"/>
              <a:t>2. Bên phải: Cắt tầng </a:t>
            </a:r>
            <a:r>
              <a:rPr lang="vi-VN" b="1" dirty="0" err="1"/>
              <a:t>bit</a:t>
            </a:r>
            <a:r>
              <a:rPr lang="vi-VN" b="1" dirty="0"/>
              <a:t> (</a:t>
            </a:r>
            <a:r>
              <a:rPr lang="vi-VN" b="1" dirty="0" err="1"/>
              <a:t>Truncation</a:t>
            </a:r>
            <a:r>
              <a:rPr lang="vi-VN" b="1" dirty="0"/>
              <a:t>) &amp; Truyền cho nhiều người dùng</a:t>
            </a:r>
          </a:p>
          <a:p>
            <a:r>
              <a:rPr lang="vi-VN" b="1" dirty="0"/>
              <a:t>Cắt tầng </a:t>
            </a:r>
            <a:r>
              <a:rPr lang="vi-VN" b="1" dirty="0" err="1"/>
              <a:t>bit</a:t>
            </a:r>
            <a:r>
              <a:rPr lang="vi-VN" dirty="0"/>
              <a:t> nghĩa là ta có thể cắt bớt các lớp cao (ví dụ chỉ truyền BL + EL1) để giảm </a:t>
            </a:r>
            <a:r>
              <a:rPr lang="vi-VN" dirty="0" err="1"/>
              <a:t>bitrate</a:t>
            </a:r>
            <a:r>
              <a:rPr lang="vi-VN" dirty="0"/>
              <a:t>.</a:t>
            </a:r>
          </a:p>
          <a:p>
            <a:r>
              <a:rPr lang="vi-VN" dirty="0"/>
              <a:t>Kết quả là </a:t>
            </a:r>
            <a:r>
              <a:rPr lang="vi-VN" b="1" dirty="0"/>
              <a:t>cùng một </a:t>
            </a:r>
            <a:r>
              <a:rPr lang="vi-VN" b="1" dirty="0" err="1"/>
              <a:t>video</a:t>
            </a:r>
            <a:r>
              <a:rPr lang="vi-VN" dirty="0"/>
              <a:t> nhưng có thể tạo ra nhiều </a:t>
            </a:r>
            <a:r>
              <a:rPr lang="vi-VN" b="1" dirty="0" err="1"/>
              <a:t>substream</a:t>
            </a:r>
            <a:r>
              <a:rPr lang="vi-VN" dirty="0"/>
              <a:t> với chất lượng khác nhau:</a:t>
            </a:r>
          </a:p>
          <a:p>
            <a:pPr lvl="1"/>
            <a:r>
              <a:rPr lang="vi-VN" dirty="0"/>
              <a:t>Người dùng mạng kém → chỉ nhận </a:t>
            </a:r>
            <a:r>
              <a:rPr lang="vi-VN" b="1" dirty="0" err="1"/>
              <a:t>Base</a:t>
            </a:r>
            <a:r>
              <a:rPr lang="vi-VN" b="1" dirty="0"/>
              <a:t> </a:t>
            </a:r>
            <a:r>
              <a:rPr lang="vi-VN" b="1" dirty="0" err="1"/>
              <a:t>Layer</a:t>
            </a:r>
            <a:r>
              <a:rPr lang="vi-VN" dirty="0"/>
              <a:t> (chất lượng cơ bản).</a:t>
            </a:r>
          </a:p>
          <a:p>
            <a:pPr lvl="1"/>
            <a:r>
              <a:rPr lang="vi-VN" dirty="0"/>
              <a:t>Người dùng mạng trung bình → nhận thêm </a:t>
            </a:r>
            <a:r>
              <a:rPr lang="vi-VN" b="1" dirty="0"/>
              <a:t>EL1</a:t>
            </a:r>
            <a:r>
              <a:rPr lang="vi-VN" dirty="0"/>
              <a:t>.</a:t>
            </a:r>
          </a:p>
          <a:p>
            <a:pPr lvl="1"/>
            <a:r>
              <a:rPr lang="vi-VN" dirty="0"/>
              <a:t>Người dùng mạng tốt → nhận đầy đủ tất cả các lớp → </a:t>
            </a:r>
            <a:r>
              <a:rPr lang="vi-VN" b="1" dirty="0"/>
              <a:t>chất lượng cao nhất</a:t>
            </a:r>
            <a:r>
              <a:rPr lang="vi-VN"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vi-VN" dirty="0"/>
          </a:p>
        </p:txBody>
      </p:sp>
      <p:sp>
        <p:nvSpPr>
          <p:cNvPr id="4" name="Slide Number Placeholder 3">
            <a:extLst>
              <a:ext uri="{FF2B5EF4-FFF2-40B4-BE49-F238E27FC236}">
                <a16:creationId xmlns:a16="http://schemas.microsoft.com/office/drawing/2014/main" id="{774D095E-9A79-DACE-940B-453887CA3521}"/>
              </a:ext>
            </a:extLst>
          </p:cNvPr>
          <p:cNvSpPr>
            <a:spLocks noGrp="1"/>
          </p:cNvSpPr>
          <p:nvPr>
            <p:ph type="sldNum" sz="quarter" idx="5"/>
          </p:nvPr>
        </p:nvSpPr>
        <p:spPr/>
        <p:txBody>
          <a:bodyPr/>
          <a:lstStyle/>
          <a:p>
            <a:fld id="{8FDCBCB6-B631-4457-A1AB-039C4426AD00}" type="slidenum">
              <a:rPr lang="vi-VN" smtClean="0"/>
              <a:t>8</a:t>
            </a:fld>
            <a:endParaRPr lang="vi-VN"/>
          </a:p>
        </p:txBody>
      </p:sp>
    </p:spTree>
    <p:extLst>
      <p:ext uri="{BB962C8B-B14F-4D97-AF65-F5344CB8AC3E}">
        <p14:creationId xmlns:p14="http://schemas.microsoft.com/office/powerpoint/2010/main" val="28217321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Đây là mô hình hệ thống trung tâm của khóa luận. Hệ thống được xây dựng theo ba tầng tương tác chặt chẽ với nhau.</a:t>
            </a:r>
          </a:p>
          <a:p>
            <a:endParaRPr lang="vi-VN" dirty="0"/>
          </a:p>
          <a:p>
            <a:r>
              <a:rPr lang="vi-VN" dirty="0"/>
              <a:t>Ở tầng thứ nhất — tầng </a:t>
            </a:r>
            <a:r>
              <a:rPr lang="vi-VN" dirty="0" err="1"/>
              <a:t>Cognitive</a:t>
            </a:r>
            <a:r>
              <a:rPr lang="vi-VN" dirty="0"/>
              <a:t> </a:t>
            </a:r>
            <a:r>
              <a:rPr lang="vi-VN" dirty="0" err="1"/>
              <a:t>Radio</a:t>
            </a:r>
            <a:r>
              <a:rPr lang="vi-VN" dirty="0"/>
              <a:t> — K người dùng thứ cấp chia sẻ phổ tần với một người dùng sơ cấp theo mô hình </a:t>
            </a:r>
            <a:r>
              <a:rPr lang="vi-VN" dirty="0" err="1"/>
              <a:t>Underlay</a:t>
            </a:r>
            <a:r>
              <a:rPr lang="vi-VN" dirty="0"/>
              <a:t>, nghĩa là tổng nhiễu gây ra tại </a:t>
            </a:r>
            <a:r>
              <a:rPr lang="vi-VN" dirty="0" err="1"/>
              <a:t>Primary</a:t>
            </a:r>
            <a:r>
              <a:rPr lang="vi-VN" dirty="0"/>
              <a:t> </a:t>
            </a:r>
            <a:r>
              <a:rPr lang="vi-VN" dirty="0" err="1"/>
              <a:t>Receiver</a:t>
            </a:r>
            <a:r>
              <a:rPr lang="vi-VN" dirty="0"/>
              <a:t> phải luôn nằm dưới ngưỡng cho phép </a:t>
            </a:r>
            <a:r>
              <a:rPr lang="vi-VN" dirty="0" err="1"/>
              <a:t>Ith</a:t>
            </a:r>
            <a:r>
              <a:rPr lang="vi-VN" dirty="0"/>
              <a:t>. Ràng buộc này trực tiếp giới hạn công suất phát của các SU và là thách thức cốt lõi của bài toán.</a:t>
            </a:r>
          </a:p>
          <a:p>
            <a:endParaRPr lang="vi-VN" dirty="0"/>
          </a:p>
          <a:p>
            <a:r>
              <a:rPr lang="vi-VN" dirty="0"/>
              <a:t>Ở tầng thứ hai — tầng RSMA — mỗi người dùng thứ cấp thực hiện </a:t>
            </a:r>
            <a:r>
              <a:rPr lang="vi-VN" dirty="0" err="1"/>
              <a:t>message</a:t>
            </a:r>
            <a:r>
              <a:rPr lang="vi-VN" dirty="0"/>
              <a:t> </a:t>
            </a:r>
            <a:r>
              <a:rPr lang="vi-VN" dirty="0" err="1"/>
              <a:t>splitting</a:t>
            </a:r>
            <a:r>
              <a:rPr lang="vi-VN" dirty="0"/>
              <a:t>, tách bản tin thành </a:t>
            </a:r>
            <a:r>
              <a:rPr lang="vi-VN" dirty="0" err="1"/>
              <a:t>Common</a:t>
            </a:r>
            <a:r>
              <a:rPr lang="vi-VN" dirty="0"/>
              <a:t> </a:t>
            </a:r>
            <a:r>
              <a:rPr lang="vi-VN" dirty="0" err="1"/>
              <a:t>Stream</a:t>
            </a:r>
            <a:r>
              <a:rPr lang="vi-VN" dirty="0"/>
              <a:t> và </a:t>
            </a:r>
            <a:r>
              <a:rPr lang="vi-VN" dirty="0" err="1"/>
              <a:t>Private</a:t>
            </a:r>
            <a:r>
              <a:rPr lang="vi-VN" dirty="0"/>
              <a:t> </a:t>
            </a:r>
            <a:r>
              <a:rPr lang="vi-VN" dirty="0" err="1"/>
              <a:t>Stream</a:t>
            </a:r>
            <a:r>
              <a:rPr lang="vi-VN" dirty="0"/>
              <a:t> trước khi truyền lên trạm gốc. Đáng chú ý là người dùng mạnh nhất được áp dụng chiến lược </a:t>
            </a:r>
            <a:r>
              <a:rPr lang="vi-VN" dirty="0" err="1"/>
              <a:t>splitting</a:t>
            </a:r>
            <a:r>
              <a:rPr lang="vi-VN" dirty="0"/>
              <a:t> riêng, giúp luồng riêng của họ được giải mã trong trạng thái không còn nhiễu.</a:t>
            </a:r>
          </a:p>
          <a:p>
            <a:endParaRPr lang="vi-VN" dirty="0"/>
          </a:p>
          <a:p>
            <a:r>
              <a:rPr lang="vi-VN" dirty="0"/>
              <a:t>Ở tầng thứ ba — tầng SVC — tốc độ đạt được từ tầng vật lý được ánh xạ trực tiếp sang chỉ số PSNR, phản ánh chất lượng </a:t>
            </a:r>
            <a:r>
              <a:rPr lang="vi-VN" dirty="0" err="1"/>
              <a:t>video</a:t>
            </a:r>
            <a:r>
              <a:rPr lang="vi-VN" dirty="0"/>
              <a:t> mà người dùng thực sự cảm nhận.</a:t>
            </a:r>
          </a:p>
          <a:p>
            <a:r>
              <a:rPr lang="vi-VN" dirty="0"/>
              <a:t>Ba tầng này được tối ưu hóa đồng thời trong một bài toán duy nhất, đó chính là điểm khác biệt so với các nghiên cứu trước đây.</a:t>
            </a:r>
          </a:p>
        </p:txBody>
      </p:sp>
      <p:sp>
        <p:nvSpPr>
          <p:cNvPr id="4" name="Slide Number Placeholder 3"/>
          <p:cNvSpPr>
            <a:spLocks noGrp="1"/>
          </p:cNvSpPr>
          <p:nvPr>
            <p:ph type="sldNum" sz="quarter" idx="5"/>
          </p:nvPr>
        </p:nvSpPr>
        <p:spPr/>
        <p:txBody>
          <a:bodyPr/>
          <a:lstStyle/>
          <a:p>
            <a:fld id="{8FDCBCB6-B631-4457-A1AB-039C4426AD00}" type="slidenum">
              <a:rPr lang="vi-VN" smtClean="0"/>
              <a:t>9</a:t>
            </a:fld>
            <a:endParaRPr lang="vi-VN"/>
          </a:p>
        </p:txBody>
      </p:sp>
    </p:spTree>
    <p:extLst>
      <p:ext uri="{BB962C8B-B14F-4D97-AF65-F5344CB8AC3E}">
        <p14:creationId xmlns:p14="http://schemas.microsoft.com/office/powerpoint/2010/main" val="18865560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C93B99-2B1F-C5C7-8768-59E7F28327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65DAE-8CF2-72E9-A43D-5E8752AE0970}"/>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80C5178C-2208-77AD-6E90-DCE3AF39B02D}"/>
                  </a:ext>
                </a:extLst>
              </p:cNvPr>
              <p:cNvSpPr>
                <a:spLocks noGrp="1"/>
              </p:cNvSpPr>
              <p:nvPr>
                <p:ph type="body" idx="1"/>
              </p:nvPr>
            </p:nvSpPr>
            <p:spPr/>
            <p:txBody>
              <a:bodyPr/>
              <a:lstStyle/>
              <a:p>
                <a:r>
                  <a:rPr lang="vi-VN" dirty="0"/>
                  <a:t>Hình này minh họa nguyên lý </a:t>
                </a:r>
                <a:r>
                  <a:rPr lang="vi-VN" dirty="0" err="1"/>
                  <a:t>Water-Filling</a:t>
                </a:r>
                <a:r>
                  <a:rPr lang="vi-VN" dirty="0"/>
                  <a:t>. Mỗi người dùng hoặc kênh truyền được xem như một chiếc bình có đáy cao thấp khác nhau, phản ánh chất lượng kênh. Khi phân bổ công suất, hệ thống sẽ "đổ nước" đến cùng một mực nước </a:t>
                </a:r>
                <a14:m>
                  <m:oMath xmlns:m="http://schemas.openxmlformats.org/officeDocument/2006/math">
                    <m:r>
                      <a:rPr lang="vi-VN" sz="1200" i="1" kern="1200">
                        <a:solidFill>
                          <a:schemeClr val="tx1"/>
                        </a:solidFill>
                        <a:latin typeface="+mn-lt"/>
                        <a:ea typeface="+mn-ea"/>
                        <a:cs typeface="+mn-cs"/>
                      </a:rPr>
                      <m:t>𝜆</m:t>
                    </m:r>
                  </m:oMath>
                </a14:m>
                <a:r>
                  <a:rPr lang="vi-VN" dirty="0"/>
                  <a:t>. Các kênh tốt nhận được nhiều công suất hơn, trong khi các kênh xấu nhận ít công suất hơn. Ý tưởng này giúp sử dụng tài nguyên hiệu quả và là cơ sở trực quan để hiểu các bài toán phân bổ công suất nhằm cải thiện </a:t>
                </a:r>
                <a:r>
                  <a:rPr lang="vi-VN" dirty="0" err="1"/>
                  <a:t>Max</a:t>
                </a:r>
                <a:r>
                  <a:rPr lang="vi-VN" dirty="0"/>
                  <a:t>-Min </a:t>
                </a:r>
                <a:r>
                  <a:rPr lang="vi-VN" dirty="0" err="1"/>
                  <a:t>Fairness</a:t>
                </a:r>
                <a:r>
                  <a:rPr lang="vi-VN" dirty="0"/>
                  <a:t> trong hệ thống CR-RSMA.</a:t>
                </a:r>
              </a:p>
            </p:txBody>
          </p:sp>
        </mc:Choice>
        <mc:Fallback>
          <p:sp>
            <p:nvSpPr>
              <p:cNvPr id="3" name="Notes Placeholder 2">
                <a:extLst>
                  <a:ext uri="{FF2B5EF4-FFF2-40B4-BE49-F238E27FC236}">
                    <a16:creationId xmlns:a16="http://schemas.microsoft.com/office/drawing/2014/main" id="{80C5178C-2208-77AD-6E90-DCE3AF39B02D}"/>
                  </a:ext>
                </a:extLst>
              </p:cNvPr>
              <p:cNvSpPr>
                <a:spLocks noGrp="1"/>
              </p:cNvSpPr>
              <p:nvPr>
                <p:ph type="body" idx="1"/>
              </p:nvPr>
            </p:nvSpPr>
            <p:spPr/>
            <p:txBody>
              <a:bodyPr/>
              <a:lstStyle/>
              <a:p>
                <a:r>
                  <a:rPr lang="vi-VN" dirty="0"/>
                  <a:t>Hình này minh họa nguyên lý </a:t>
                </a:r>
                <a:r>
                  <a:rPr lang="vi-VN" dirty="0" err="1"/>
                  <a:t>Water-Filling</a:t>
                </a:r>
                <a:r>
                  <a:rPr lang="vi-VN" dirty="0"/>
                  <a:t>. Mỗi người dùng hoặc kênh truyền được xem như một chiếc bình có đáy cao thấp khác nhau, phản ánh chất lượng kênh. Khi phân bổ công suất, hệ thống sẽ "đổ nước" đến cùng một mực nước </a:t>
                </a:r>
                <a:r>
                  <a:rPr lang="vi-VN" sz="1200" i="0" kern="1200">
                    <a:solidFill>
                      <a:schemeClr val="tx1"/>
                    </a:solidFill>
                    <a:latin typeface="+mn-lt"/>
                    <a:ea typeface="+mn-ea"/>
                    <a:cs typeface="+mn-cs"/>
                  </a:rPr>
                  <a:t>𝜆</a:t>
                </a:r>
                <a:r>
                  <a:rPr lang="vi-VN" dirty="0"/>
                  <a:t>. Các kênh tốt nhận được nhiều công suất hơn, trong khi các kênh xấu nhận ít công suất hơn. Ý tưởng này giúp sử dụng tài nguyên hiệu quả và là cơ sở trực quan để hiểu các bài toán phân bổ công suất nhằm cải thiện </a:t>
                </a:r>
                <a:r>
                  <a:rPr lang="vi-VN" dirty="0" err="1"/>
                  <a:t>Max</a:t>
                </a:r>
                <a:r>
                  <a:rPr lang="vi-VN" dirty="0"/>
                  <a:t>-Min </a:t>
                </a:r>
                <a:r>
                  <a:rPr lang="vi-VN" dirty="0" err="1"/>
                  <a:t>Fairness</a:t>
                </a:r>
                <a:r>
                  <a:rPr lang="vi-VN" dirty="0"/>
                  <a:t> trong hệ thống CR-RSMA.</a:t>
                </a:r>
              </a:p>
            </p:txBody>
          </p:sp>
        </mc:Fallback>
      </mc:AlternateContent>
      <p:sp>
        <p:nvSpPr>
          <p:cNvPr id="4" name="Slide Number Placeholder 3">
            <a:extLst>
              <a:ext uri="{FF2B5EF4-FFF2-40B4-BE49-F238E27FC236}">
                <a16:creationId xmlns:a16="http://schemas.microsoft.com/office/drawing/2014/main" id="{FA558B8B-4A75-C607-A3FB-0C25DF16AEDD}"/>
              </a:ext>
            </a:extLst>
          </p:cNvPr>
          <p:cNvSpPr>
            <a:spLocks noGrp="1"/>
          </p:cNvSpPr>
          <p:nvPr>
            <p:ph type="sldNum" sz="quarter" idx="5"/>
          </p:nvPr>
        </p:nvSpPr>
        <p:spPr/>
        <p:txBody>
          <a:bodyPr/>
          <a:lstStyle/>
          <a:p>
            <a:fld id="{8FDCBCB6-B631-4457-A1AB-039C4426AD00}" type="slidenum">
              <a:rPr lang="vi-VN" smtClean="0"/>
              <a:t>10</a:t>
            </a:fld>
            <a:endParaRPr lang="vi-VN"/>
          </a:p>
        </p:txBody>
      </p:sp>
    </p:spTree>
    <p:extLst>
      <p:ext uri="{BB962C8B-B14F-4D97-AF65-F5344CB8AC3E}">
        <p14:creationId xmlns:p14="http://schemas.microsoft.com/office/powerpoint/2010/main" val="16799835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90FC8-3CFF-74E9-56A2-2BF7A841BB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B3B996-7DE3-D5D7-666E-938C984310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F3870B-8403-436E-24B5-6F1C31D8EE27}"/>
              </a:ext>
            </a:extLst>
          </p:cNvPr>
          <p:cNvSpPr>
            <a:spLocks noGrp="1"/>
          </p:cNvSpPr>
          <p:nvPr>
            <p:ph type="body" idx="1"/>
          </p:nvPr>
        </p:nvSpPr>
        <p:spPr/>
        <p:txBody>
          <a:bodyPr/>
          <a:lstStyle/>
          <a:p>
            <a:pPr algn="just"/>
            <a:r>
              <a:rPr lang="vi-VN" sz="1200" dirty="0">
                <a:latin typeface="Times New Roman" panose="02020603050405020304" pitchFamily="18" charset="0"/>
                <a:cs typeface="Times New Roman" panose="02020603050405020304" pitchFamily="18" charset="0"/>
              </a:rPr>
              <a:t>Để tăng độ ổn định, khóa luận kết hợp thêm ba kỹ thuật bổ trợ. </a:t>
            </a:r>
            <a:r>
              <a:rPr lang="vi-VN" sz="1200" dirty="0" err="1">
                <a:latin typeface="Times New Roman" panose="02020603050405020304" pitchFamily="18" charset="0"/>
                <a:cs typeface="Times New Roman" panose="02020603050405020304" pitchFamily="18" charset="0"/>
              </a:rPr>
              <a:t>Trust</a:t>
            </a:r>
            <a:r>
              <a:rPr lang="vi-VN" sz="1200" dirty="0">
                <a:latin typeface="Times New Roman" panose="02020603050405020304" pitchFamily="18" charset="0"/>
                <a:cs typeface="Times New Roman" panose="02020603050405020304" pitchFamily="18" charset="0"/>
              </a:rPr>
              <a:t> </a:t>
            </a:r>
            <a:r>
              <a:rPr lang="vi-VN" sz="1200" dirty="0" err="1">
                <a:latin typeface="Times New Roman" panose="02020603050405020304" pitchFamily="18" charset="0"/>
                <a:cs typeface="Times New Roman" panose="02020603050405020304" pitchFamily="18" charset="0"/>
              </a:rPr>
              <a:t>Region</a:t>
            </a:r>
            <a:r>
              <a:rPr lang="vi-VN" sz="1200" dirty="0">
                <a:latin typeface="Times New Roman" panose="02020603050405020304" pitchFamily="18" charset="0"/>
                <a:cs typeface="Times New Roman" panose="02020603050405020304" pitchFamily="18" charset="0"/>
              </a:rPr>
              <a:t> giới hạn bước nhảy trong mỗi vòng lặp tránh phân kỳ. </a:t>
            </a:r>
            <a:r>
              <a:rPr lang="vi-VN" sz="1200" dirty="0" err="1">
                <a:latin typeface="Times New Roman" panose="02020603050405020304" pitchFamily="18" charset="0"/>
                <a:cs typeface="Times New Roman" panose="02020603050405020304" pitchFamily="18" charset="0"/>
              </a:rPr>
              <a:t>Damping</a:t>
            </a:r>
            <a:r>
              <a:rPr lang="vi-VN" sz="1200" dirty="0">
                <a:latin typeface="Times New Roman" panose="02020603050405020304" pitchFamily="18" charset="0"/>
                <a:cs typeface="Times New Roman" panose="02020603050405020304" pitchFamily="18" charset="0"/>
              </a:rPr>
              <a:t> làm mịn quá trình cập nhật. Và </a:t>
            </a:r>
            <a:r>
              <a:rPr lang="vi-VN" sz="1200" dirty="0" err="1">
                <a:latin typeface="Times New Roman" panose="02020603050405020304" pitchFamily="18" charset="0"/>
                <a:cs typeface="Times New Roman" panose="02020603050405020304" pitchFamily="18" charset="0"/>
              </a:rPr>
              <a:t>Multi-start</a:t>
            </a:r>
            <a:r>
              <a:rPr lang="vi-VN" sz="1200" dirty="0">
                <a:latin typeface="Times New Roman" panose="02020603050405020304" pitchFamily="18" charset="0"/>
                <a:cs typeface="Times New Roman" panose="02020603050405020304" pitchFamily="18" charset="0"/>
              </a:rPr>
              <a:t> khởi tạo từ nhiều điểm ngẫu nhiên khác nhau để giảm thiểu rủi ro rơi vào nghiệm tối ưu cục bộ.</a:t>
            </a:r>
          </a:p>
          <a:p>
            <a:pPr algn="just"/>
            <a:r>
              <a:rPr lang="vi-VN" sz="1200" dirty="0">
                <a:latin typeface="Times New Roman" panose="02020603050405020304" pitchFamily="18" charset="0"/>
                <a:cs typeface="Times New Roman" panose="02020603050405020304" pitchFamily="18" charset="0"/>
              </a:rPr>
              <a:t>Kết quả cho thấy thuật toán hội tụ đơn điệu tăng qua từng vòng lặp và ổn định trong tất cả các kịch bản mô phỏng. Đây là cơ sở để đảm bảo chất lượng nghiệm trước khi đánh giá hiệu năng hệ thống ở chương tiếp theo</a:t>
            </a:r>
          </a:p>
          <a:p>
            <a:endParaRPr lang="vi-VN" dirty="0"/>
          </a:p>
        </p:txBody>
      </p:sp>
      <p:sp>
        <p:nvSpPr>
          <p:cNvPr id="4" name="Slide Number Placeholder 3">
            <a:extLst>
              <a:ext uri="{FF2B5EF4-FFF2-40B4-BE49-F238E27FC236}">
                <a16:creationId xmlns:a16="http://schemas.microsoft.com/office/drawing/2014/main" id="{42D33C6B-1492-7CDE-7AF0-A310B57E902E}"/>
              </a:ext>
            </a:extLst>
          </p:cNvPr>
          <p:cNvSpPr>
            <a:spLocks noGrp="1"/>
          </p:cNvSpPr>
          <p:nvPr>
            <p:ph type="sldNum" sz="quarter" idx="5"/>
          </p:nvPr>
        </p:nvSpPr>
        <p:spPr/>
        <p:txBody>
          <a:bodyPr/>
          <a:lstStyle/>
          <a:p>
            <a:fld id="{8FDCBCB6-B631-4457-A1AB-039C4426AD00}" type="slidenum">
              <a:rPr lang="vi-VN" smtClean="0"/>
              <a:t>11</a:t>
            </a:fld>
            <a:endParaRPr lang="vi-VN"/>
          </a:p>
        </p:txBody>
      </p:sp>
    </p:spTree>
    <p:extLst>
      <p:ext uri="{BB962C8B-B14F-4D97-AF65-F5344CB8AC3E}">
        <p14:creationId xmlns:p14="http://schemas.microsoft.com/office/powerpoint/2010/main" val="24449225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D5620-1098-873F-2CF8-E551278B2F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420A5D-A75A-1605-9FE4-2D7A662315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0E498C-F79E-8ED5-74F7-B588F3A799C2}"/>
              </a:ext>
            </a:extLst>
          </p:cNvPr>
          <p:cNvSpPr>
            <a:spLocks noGrp="1"/>
          </p:cNvSpPr>
          <p:nvPr>
            <p:ph type="body" idx="1"/>
          </p:nvPr>
        </p:nvSpPr>
        <p:spPr/>
        <p:txBody>
          <a:bodyPr/>
          <a:lstStyle/>
          <a:p>
            <a:r>
              <a:rPr lang="vi-VN" b="1" dirty="0"/>
              <a:t>Băng thông hệ thống B = 140 </a:t>
            </a:r>
            <a:r>
              <a:rPr lang="vi-VN" b="1" dirty="0" err="1"/>
              <a:t>kHz</a:t>
            </a:r>
            <a:r>
              <a:rPr lang="vi-VN" dirty="0"/>
              <a:t> → Đây là băng thông của một khối tài nguyên chuẩn QCIF trong SVC, được chọn để phù hợp với cấu hình </a:t>
            </a:r>
            <a:r>
              <a:rPr lang="vi-VN" dirty="0" err="1"/>
              <a:t>video</a:t>
            </a:r>
            <a:r>
              <a:rPr lang="vi-VN" dirty="0"/>
              <a:t> lớp cơ bản </a:t>
            </a:r>
            <a:r>
              <a:rPr lang="vi-VN" dirty="0" err="1"/>
              <a:t>Base</a:t>
            </a:r>
            <a:r>
              <a:rPr lang="vi-VN" dirty="0"/>
              <a:t> </a:t>
            </a:r>
            <a:r>
              <a:rPr lang="vi-VN" dirty="0" err="1"/>
              <a:t>Layer</a:t>
            </a:r>
            <a:r>
              <a:rPr lang="vi-VN" dirty="0"/>
              <a:t>.</a:t>
            </a:r>
          </a:p>
          <a:p>
            <a:br>
              <a:rPr lang="vi-VN" dirty="0"/>
            </a:br>
            <a:endParaRPr lang="vi-VN" dirty="0"/>
          </a:p>
          <a:p>
            <a:r>
              <a:rPr lang="vi-VN" b="1" dirty="0"/>
              <a:t>Công suất tối đa </a:t>
            </a:r>
            <a:r>
              <a:rPr lang="vi-VN" b="1" dirty="0" err="1"/>
              <a:t>Ps,max</a:t>
            </a:r>
            <a:r>
              <a:rPr lang="vi-VN" b="1" dirty="0"/>
              <a:t> = </a:t>
            </a:r>
            <a:r>
              <a:rPr lang="vi-VN" b="1" dirty="0" err="1"/>
              <a:t>Pp,max</a:t>
            </a:r>
            <a:r>
              <a:rPr lang="vi-VN" b="1" dirty="0"/>
              <a:t> = 1W (0 </a:t>
            </a:r>
            <a:r>
              <a:rPr lang="vi-VN" b="1" dirty="0" err="1"/>
              <a:t>dBW</a:t>
            </a:r>
            <a:r>
              <a:rPr lang="vi-VN" b="1" dirty="0"/>
              <a:t>)</a:t>
            </a:r>
            <a:r>
              <a:rPr lang="vi-VN" dirty="0"/>
              <a:t> → Chuẩn hóa về 1W để thuận tiện so sánh. Cả SU lẫn PU đều có cùng giới hạn công suất phát, đảm bảo điều kiện mô phỏng công bằng giữa hai phương pháp CR-RSMA và CR-NOMA.</a:t>
            </a:r>
          </a:p>
          <a:p>
            <a:br>
              <a:rPr lang="vi-VN" dirty="0"/>
            </a:br>
            <a:endParaRPr lang="vi-VN" dirty="0"/>
          </a:p>
          <a:p>
            <a:r>
              <a:rPr lang="vi-VN" b="1" dirty="0"/>
              <a:t>SNR </a:t>
            </a:r>
            <a:r>
              <a:rPr lang="vi-VN" b="1" dirty="0" err="1"/>
              <a:t>range</a:t>
            </a:r>
            <a:r>
              <a:rPr lang="vi-VN" b="1" dirty="0"/>
              <a:t> = 0 – 30 </a:t>
            </a:r>
            <a:r>
              <a:rPr lang="vi-VN" b="1" dirty="0" err="1"/>
              <a:t>dB</a:t>
            </a:r>
            <a:r>
              <a:rPr lang="vi-VN" b="1" dirty="0"/>
              <a:t>, bước 2 </a:t>
            </a:r>
            <a:r>
              <a:rPr lang="vi-VN" b="1" dirty="0" err="1"/>
              <a:t>dB</a:t>
            </a:r>
            <a:r>
              <a:rPr lang="vi-VN" b="1" dirty="0"/>
              <a:t> (16 điểm)</a:t>
            </a:r>
            <a:r>
              <a:rPr lang="vi-VN" dirty="0"/>
              <a:t> → Dải SNR rộng bao phủ từ điều kiện kênh xấu đến tốt, đủ để quan sát xu hướng tăng trưởng MMF và xác định vùng ưu thế của RSMA so với NOMA.</a:t>
            </a:r>
          </a:p>
          <a:p>
            <a:br>
              <a:rPr lang="vi-VN" dirty="0"/>
            </a:br>
            <a:endParaRPr lang="vi-VN" dirty="0"/>
          </a:p>
          <a:p>
            <a:r>
              <a:rPr lang="vi-VN" b="1" dirty="0" err="1"/>
              <a:t>Ith</a:t>
            </a:r>
            <a:r>
              <a:rPr lang="vi-VN" b="1" dirty="0"/>
              <a:t> </a:t>
            </a:r>
            <a:r>
              <a:rPr lang="vi-VN" b="1" dirty="0" err="1"/>
              <a:t>range</a:t>
            </a:r>
            <a:r>
              <a:rPr lang="vi-VN" b="1" dirty="0"/>
              <a:t> = 0.05 – 1.0W (15 điểm), SNR cố định 20 </a:t>
            </a:r>
            <a:r>
              <a:rPr lang="vi-VN" b="1" dirty="0" err="1"/>
              <a:t>dB</a:t>
            </a:r>
            <a:r>
              <a:rPr lang="vi-VN" dirty="0"/>
              <a:t> → SNR được cố định ở 20 </a:t>
            </a:r>
            <a:r>
              <a:rPr lang="vi-VN" dirty="0" err="1"/>
              <a:t>dB</a:t>
            </a:r>
            <a:r>
              <a:rPr lang="vi-VN" dirty="0"/>
              <a:t> — vùng hoạt động thực tế của 5G — để cô lập ảnh hưởng của ràng buộc CR. </a:t>
            </a:r>
            <a:r>
              <a:rPr lang="vi-VN" dirty="0" err="1"/>
              <a:t>Ith</a:t>
            </a:r>
            <a:r>
              <a:rPr lang="vi-VN" dirty="0"/>
              <a:t> thay đổi từ rất chặt đến gần như không ràng buộc, giúp phân tích rõ ba vùng hoạt động của hệ thống.</a:t>
            </a:r>
          </a:p>
          <a:p>
            <a:br>
              <a:rPr lang="vi-VN" dirty="0"/>
            </a:br>
            <a:endParaRPr lang="vi-VN" dirty="0"/>
          </a:p>
          <a:p>
            <a:r>
              <a:rPr lang="vi-VN" b="1" dirty="0"/>
              <a:t>K = {2, 3, 4, 5, 6}, SNR cố định 20 </a:t>
            </a:r>
            <a:r>
              <a:rPr lang="vi-VN" b="1" dirty="0" err="1"/>
              <a:t>dB</a:t>
            </a:r>
            <a:r>
              <a:rPr lang="vi-VN" dirty="0"/>
              <a:t> → Khảo sát từ 2 đến 6 người dùng để đánh giá khả năng mở rộng của hệ thống. SNR cố định 20 </a:t>
            </a:r>
            <a:r>
              <a:rPr lang="vi-VN" dirty="0" err="1"/>
              <a:t>dB</a:t>
            </a:r>
            <a:r>
              <a:rPr lang="vi-VN" dirty="0"/>
              <a:t> để tập trung phân tích ảnh hưởng của mật độ người dùng lên MMF.</a:t>
            </a:r>
          </a:p>
          <a:p>
            <a:br>
              <a:rPr lang="vi-VN" dirty="0"/>
            </a:br>
            <a:endParaRPr lang="vi-VN" dirty="0"/>
          </a:p>
          <a:p>
            <a:r>
              <a:rPr lang="vi-VN" b="1" dirty="0"/>
              <a:t>Số thực hiện </a:t>
            </a:r>
            <a:r>
              <a:rPr lang="vi-VN" b="1" dirty="0" err="1"/>
              <a:t>Monte</a:t>
            </a:r>
            <a:r>
              <a:rPr lang="vi-VN" b="1" dirty="0"/>
              <a:t> </a:t>
            </a:r>
            <a:r>
              <a:rPr lang="vi-VN" b="1" dirty="0" err="1"/>
              <a:t>Carlo</a:t>
            </a:r>
            <a:r>
              <a:rPr lang="vi-VN" b="1" dirty="0"/>
              <a:t> </a:t>
            </a:r>
            <a:r>
              <a:rPr lang="vi-VN" b="1" dirty="0" err="1"/>
              <a:t>N_real</a:t>
            </a:r>
            <a:r>
              <a:rPr lang="vi-VN" b="1" dirty="0"/>
              <a:t> = 200, </a:t>
            </a:r>
            <a:r>
              <a:rPr lang="vi-VN" b="1" dirty="0" err="1"/>
              <a:t>seed</a:t>
            </a:r>
            <a:r>
              <a:rPr lang="vi-VN" b="1" dirty="0"/>
              <a:t> ngẫu nhiên</a:t>
            </a:r>
            <a:r>
              <a:rPr lang="vi-VN" dirty="0"/>
              <a:t> → 200 lần thực hiện với các </a:t>
            </a:r>
            <a:r>
              <a:rPr lang="vi-VN" dirty="0" err="1"/>
              <a:t>realization</a:t>
            </a:r>
            <a:r>
              <a:rPr lang="vi-VN" dirty="0"/>
              <a:t> kênh ngẫu nhiên độc lập nhau đảm bảo kết quả mang tính thống kê đáng tin cậy và không phụ thuộc vào một cấu hình kênh cụ thể.</a:t>
            </a:r>
          </a:p>
          <a:p>
            <a:br>
              <a:rPr lang="vi-VN" dirty="0"/>
            </a:br>
            <a:endParaRPr lang="vi-VN" dirty="0"/>
          </a:p>
          <a:p>
            <a:r>
              <a:rPr lang="vi-VN" b="1" dirty="0"/>
              <a:t>Cấu hình SVC: 4 lớp BL + EL1 + EL2 + EL3, QP = {40, 34, 28, 22}</a:t>
            </a:r>
            <a:r>
              <a:rPr lang="vi-VN" dirty="0"/>
              <a:t> → </a:t>
            </a:r>
            <a:r>
              <a:rPr lang="vi-VN" dirty="0" err="1"/>
              <a:t>Quantization</a:t>
            </a:r>
            <a:r>
              <a:rPr lang="vi-VN" dirty="0"/>
              <a:t> </a:t>
            </a:r>
            <a:r>
              <a:rPr lang="vi-VN" dirty="0" err="1"/>
              <a:t>Parameter</a:t>
            </a:r>
            <a:r>
              <a:rPr lang="vi-VN" dirty="0"/>
              <a:t> càng nhỏ thì chất lượng </a:t>
            </a:r>
            <a:r>
              <a:rPr lang="vi-VN" dirty="0" err="1"/>
              <a:t>video</a:t>
            </a:r>
            <a:r>
              <a:rPr lang="vi-VN" dirty="0"/>
              <a:t> càng cao nhưng yêu cầu </a:t>
            </a:r>
            <a:r>
              <a:rPr lang="vi-VN" dirty="0" err="1"/>
              <a:t>bitrate</a:t>
            </a:r>
            <a:r>
              <a:rPr lang="vi-VN" dirty="0"/>
              <a:t> càng lớn. BL với QP=40 là lớp tối thiểu bắt buộc phải giải mã được — nếu không đạt ngưỡng tốc độ này, </a:t>
            </a:r>
            <a:r>
              <a:rPr lang="vi-VN" dirty="0" err="1"/>
              <a:t>video</a:t>
            </a:r>
            <a:r>
              <a:rPr lang="vi-VN" dirty="0"/>
              <a:t> hoàn toàn không hiển thị.</a:t>
            </a:r>
          </a:p>
          <a:p>
            <a:br>
              <a:rPr lang="vi-VN" dirty="0"/>
            </a:br>
            <a:endParaRPr lang="vi-VN" dirty="0"/>
          </a:p>
          <a:p>
            <a:r>
              <a:rPr lang="vi-VN" b="1" dirty="0"/>
              <a:t>Phương pháp so sánh: CR-RSMA </a:t>
            </a:r>
            <a:r>
              <a:rPr lang="vi-VN" b="1" dirty="0" err="1"/>
              <a:t>vs</a:t>
            </a:r>
            <a:r>
              <a:rPr lang="vi-VN" b="1" dirty="0"/>
              <a:t> CR-NOMA, cùng điều kiện kênh</a:t>
            </a:r>
            <a:r>
              <a:rPr lang="vi-VN" dirty="0"/>
              <a:t> → Hai hệ thống được mô phỏng trên cùng một </a:t>
            </a:r>
            <a:r>
              <a:rPr lang="vi-VN" dirty="0" err="1"/>
              <a:t>realization</a:t>
            </a:r>
            <a:r>
              <a:rPr lang="vi-VN" dirty="0"/>
              <a:t> kênh trong mỗi lần </a:t>
            </a:r>
            <a:r>
              <a:rPr lang="vi-VN" dirty="0" err="1"/>
              <a:t>Monte</a:t>
            </a:r>
            <a:r>
              <a:rPr lang="vi-VN" dirty="0"/>
              <a:t> </a:t>
            </a:r>
            <a:r>
              <a:rPr lang="vi-VN" dirty="0" err="1"/>
              <a:t>Carlo</a:t>
            </a:r>
            <a:r>
              <a:rPr lang="vi-VN" dirty="0"/>
              <a:t>, đảm bảo so sánh là công bằng và chênh lệch hiệu năng phản ánh đúng ưu thế của kỹ thuật đa truy cập chứ không phải do may mắn kênh truyền.</a:t>
            </a:r>
          </a:p>
          <a:p>
            <a:endParaRPr lang="vi-VN" dirty="0"/>
          </a:p>
        </p:txBody>
      </p:sp>
      <p:sp>
        <p:nvSpPr>
          <p:cNvPr id="4" name="Slide Number Placeholder 3">
            <a:extLst>
              <a:ext uri="{FF2B5EF4-FFF2-40B4-BE49-F238E27FC236}">
                <a16:creationId xmlns:a16="http://schemas.microsoft.com/office/drawing/2014/main" id="{DDAD49AC-2A89-F597-F28C-A9F333202B42}"/>
              </a:ext>
            </a:extLst>
          </p:cNvPr>
          <p:cNvSpPr>
            <a:spLocks noGrp="1"/>
          </p:cNvSpPr>
          <p:nvPr>
            <p:ph type="sldNum" sz="quarter" idx="5"/>
          </p:nvPr>
        </p:nvSpPr>
        <p:spPr/>
        <p:txBody>
          <a:bodyPr/>
          <a:lstStyle/>
          <a:p>
            <a:fld id="{8FDCBCB6-B631-4457-A1AB-039C4426AD00}" type="slidenum">
              <a:rPr lang="vi-VN" smtClean="0"/>
              <a:t>12</a:t>
            </a:fld>
            <a:endParaRPr lang="vi-VN"/>
          </a:p>
        </p:txBody>
      </p:sp>
    </p:spTree>
    <p:extLst>
      <p:ext uri="{BB962C8B-B14F-4D97-AF65-F5344CB8AC3E}">
        <p14:creationId xmlns:p14="http://schemas.microsoft.com/office/powerpoint/2010/main" val="25114610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E4131-9481-AADE-CFB9-23E02D67B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BDEF83-FB99-9A37-776B-57426E03F7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A9CB-0962-D8B7-EF0F-89840AE8FE5E}"/>
              </a:ext>
            </a:extLst>
          </p:cNvPr>
          <p:cNvSpPr>
            <a:spLocks noGrp="1"/>
          </p:cNvSpPr>
          <p:nvPr>
            <p:ph type="body" idx="1"/>
          </p:nvPr>
        </p:nvSpPr>
        <p:spPr/>
        <p:txBody>
          <a:bodyPr/>
          <a:lstStyle/>
          <a:p>
            <a:r>
              <a:rPr lang="vi-VN" dirty="0"/>
              <a:t>Biểu đồ này khảo sát MMF </a:t>
            </a:r>
            <a:r>
              <a:rPr lang="vi-VN" dirty="0" err="1"/>
              <a:t>Rate</a:t>
            </a:r>
            <a:r>
              <a:rPr lang="vi-VN" dirty="0"/>
              <a:t> khi SNR thay đổi từ 0 đến 30 </a:t>
            </a:r>
            <a:r>
              <a:rPr lang="vi-VN" dirty="0" err="1"/>
              <a:t>dB</a:t>
            </a:r>
            <a:r>
              <a:rPr lang="vi-VN" dirty="0"/>
              <a:t>, với K=2 người dùng và </a:t>
            </a:r>
            <a:r>
              <a:rPr lang="vi-VN" dirty="0" err="1"/>
              <a:t>Ith</a:t>
            </a:r>
            <a:r>
              <a:rPr lang="vi-VN" dirty="0"/>
              <a:t>=0.1W.</a:t>
            </a:r>
          </a:p>
          <a:p>
            <a:r>
              <a:rPr lang="vi-VN" dirty="0"/>
              <a:t>Có thể thấy cả hai hệ thống đều tăng </a:t>
            </a:r>
            <a:r>
              <a:rPr lang="vi-VN" dirty="0" err="1"/>
              <a:t>monotone</a:t>
            </a:r>
            <a:r>
              <a:rPr lang="vi-VN" dirty="0"/>
              <a:t> theo SNR — hoàn toàn phù hợp với lý thuyết </a:t>
            </a:r>
            <a:r>
              <a:rPr lang="vi-VN" dirty="0" err="1"/>
              <a:t>Shannon</a:t>
            </a:r>
            <a:r>
              <a:rPr lang="vi-VN" dirty="0"/>
              <a:t>. Tuy nhiên ở vùng SNR thấp dưới 18 </a:t>
            </a:r>
            <a:r>
              <a:rPr lang="vi-VN" dirty="0" err="1"/>
              <a:t>dB</a:t>
            </a:r>
            <a:r>
              <a:rPr lang="vi-VN" dirty="0"/>
              <a:t>, hai đường gần như trùng nhau, cho thấy trong điều kiện này ràng buộc CR đang chi phối hoàn toàn và cả hai kỹ thuật đều bị giới hạn bởi ngưỡng </a:t>
            </a:r>
            <a:r>
              <a:rPr lang="vi-VN" dirty="0" err="1"/>
              <a:t>Ith</a:t>
            </a:r>
            <a:r>
              <a:rPr lang="vi-VN" dirty="0"/>
              <a:t> chứ không phải bởi bản thân kỹ thuật đa truy cập.</a:t>
            </a:r>
          </a:p>
          <a:p>
            <a:r>
              <a:rPr lang="vi-VN" dirty="0"/>
              <a:t>Khoảng cách giữa RSMA và NOMA bắt đầu mở rộng rõ rệt từ SNR khoảng 20 </a:t>
            </a:r>
            <a:r>
              <a:rPr lang="vi-VN" dirty="0" err="1"/>
              <a:t>dB</a:t>
            </a:r>
            <a:r>
              <a:rPr lang="vi-VN" dirty="0"/>
              <a:t> trở lên. Tại SNR=30 </a:t>
            </a:r>
            <a:r>
              <a:rPr lang="vi-VN" dirty="0" err="1"/>
              <a:t>dB</a:t>
            </a:r>
            <a:r>
              <a:rPr lang="vi-VN" dirty="0"/>
              <a:t>, CR-RSMA đạt khoảng 1.36 </a:t>
            </a:r>
            <a:r>
              <a:rPr lang="vi-VN" dirty="0" err="1"/>
              <a:t>bps</a:t>
            </a:r>
            <a:r>
              <a:rPr lang="vi-VN" dirty="0"/>
              <a:t>/</a:t>
            </a:r>
            <a:r>
              <a:rPr lang="vi-VN" dirty="0" err="1"/>
              <a:t>Hz</a:t>
            </a:r>
            <a:r>
              <a:rPr lang="vi-VN" dirty="0"/>
              <a:t> trong khi CR-NOMA chỉ đạt 1.15 </a:t>
            </a:r>
            <a:r>
              <a:rPr lang="vi-VN" dirty="0" err="1"/>
              <a:t>bps</a:t>
            </a:r>
            <a:r>
              <a:rPr lang="vi-VN" dirty="0"/>
              <a:t>/</a:t>
            </a:r>
            <a:r>
              <a:rPr lang="vi-VN" dirty="0" err="1"/>
              <a:t>Hz</a:t>
            </a:r>
            <a:r>
              <a:rPr lang="vi-VN" dirty="0"/>
              <a:t> — chênh lệch xấp xỉ 18%.</a:t>
            </a:r>
          </a:p>
          <a:p>
            <a:r>
              <a:rPr lang="vi-VN" dirty="0"/>
              <a:t>Điều này có ý nghĩa quan trọng với SVC: ở vùng SNR cao, RSMA tận dụng được công suất để nâng MMF lên đủ ngưỡng giải mã </a:t>
            </a:r>
            <a:r>
              <a:rPr lang="vi-VN" dirty="0" err="1"/>
              <a:t>Enhancement</a:t>
            </a:r>
            <a:r>
              <a:rPr lang="vi-VN" dirty="0"/>
              <a:t> </a:t>
            </a:r>
            <a:r>
              <a:rPr lang="vi-VN" dirty="0" err="1"/>
              <a:t>Layer</a:t>
            </a:r>
            <a:r>
              <a:rPr lang="vi-VN" dirty="0"/>
              <a:t>, trong khi NOMA vẫn bị kẹt ở mức thấp hơn.</a:t>
            </a:r>
          </a:p>
        </p:txBody>
      </p:sp>
      <p:sp>
        <p:nvSpPr>
          <p:cNvPr id="4" name="Slide Number Placeholder 3">
            <a:extLst>
              <a:ext uri="{FF2B5EF4-FFF2-40B4-BE49-F238E27FC236}">
                <a16:creationId xmlns:a16="http://schemas.microsoft.com/office/drawing/2014/main" id="{AB00FA24-E9CD-447F-F7E2-D8467977B4F6}"/>
              </a:ext>
            </a:extLst>
          </p:cNvPr>
          <p:cNvSpPr>
            <a:spLocks noGrp="1"/>
          </p:cNvSpPr>
          <p:nvPr>
            <p:ph type="sldNum" sz="quarter" idx="5"/>
          </p:nvPr>
        </p:nvSpPr>
        <p:spPr/>
        <p:txBody>
          <a:bodyPr/>
          <a:lstStyle/>
          <a:p>
            <a:fld id="{8FDCBCB6-B631-4457-A1AB-039C4426AD00}" type="slidenum">
              <a:rPr lang="vi-VN" smtClean="0"/>
              <a:t>13</a:t>
            </a:fld>
            <a:endParaRPr lang="vi-VN"/>
          </a:p>
        </p:txBody>
      </p:sp>
    </p:spTree>
    <p:extLst>
      <p:ext uri="{BB962C8B-B14F-4D97-AF65-F5344CB8AC3E}">
        <p14:creationId xmlns:p14="http://schemas.microsoft.com/office/powerpoint/2010/main" val="39401192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F217F-0821-F9C9-953D-4CEDF1516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A772FE-0175-17B5-269E-CCC5B97FA3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5229B4-68A9-1575-6B82-981D7286C5E2}"/>
              </a:ext>
            </a:extLst>
          </p:cNvPr>
          <p:cNvSpPr>
            <a:spLocks noGrp="1"/>
          </p:cNvSpPr>
          <p:nvPr>
            <p:ph type="body" idx="1"/>
          </p:nvPr>
        </p:nvSpPr>
        <p:spPr/>
        <p:txBody>
          <a:bodyPr/>
          <a:lstStyle/>
          <a:p>
            <a:r>
              <a:rPr lang="vi-VN" dirty="0"/>
              <a:t>Kịch bản này cố định SNR=20 </a:t>
            </a:r>
            <a:r>
              <a:rPr lang="vi-VN" dirty="0" err="1"/>
              <a:t>dB</a:t>
            </a:r>
            <a:r>
              <a:rPr lang="vi-VN" dirty="0"/>
              <a:t> và cho </a:t>
            </a:r>
            <a:r>
              <a:rPr lang="vi-VN" dirty="0" err="1"/>
              <a:t>Ith</a:t>
            </a:r>
            <a:r>
              <a:rPr lang="vi-VN" dirty="0"/>
              <a:t> tăng dần từ 0.05W đến 1.0W để đánh giá mức độ ảnh hưởng của ràng buộc CR lên hai hệ thống.</a:t>
            </a:r>
          </a:p>
          <a:p>
            <a:endParaRPr lang="vi-VN" dirty="0"/>
          </a:p>
          <a:p>
            <a:r>
              <a:rPr lang="vi-VN" dirty="0"/>
              <a:t>Kết quả cho thấy MMF của cả hai tăng tuyến tính theo </a:t>
            </a:r>
            <a:r>
              <a:rPr lang="vi-VN" dirty="0" err="1"/>
              <a:t>Ith</a:t>
            </a:r>
            <a:r>
              <a:rPr lang="vi-VN" dirty="0"/>
              <a:t> — điều này cho thấy trong toàn bộ dải khảo sát, hệ thống vẫn đang bị chi phối bởi ràng buộc CR chứ chưa đạt giới hạn công suất </a:t>
            </a:r>
            <a:r>
              <a:rPr lang="vi-VN" dirty="0" err="1"/>
              <a:t>Ps,max</a:t>
            </a:r>
            <a:r>
              <a:rPr lang="vi-VN" dirty="0"/>
              <a:t>. Nói cách khác, nếu cho phép PU chịu nhiễu nhiều hơn thì SU vẫn còn dư địa để tăng tốc độ.</a:t>
            </a:r>
          </a:p>
          <a:p>
            <a:endParaRPr lang="vi-VN" dirty="0"/>
          </a:p>
          <a:p>
            <a:r>
              <a:rPr lang="vi-VN" dirty="0"/>
              <a:t>Quan trọng hơn, khoảng cách RSMA </a:t>
            </a:r>
            <a:r>
              <a:rPr lang="vi-VN" dirty="0" err="1"/>
              <a:t>gain</a:t>
            </a:r>
            <a:r>
              <a:rPr lang="vi-VN" dirty="0"/>
              <a:t> duy trì đều đặn và tăng dần theo </a:t>
            </a:r>
            <a:r>
              <a:rPr lang="vi-VN" dirty="0" err="1"/>
              <a:t>Ith</a:t>
            </a:r>
            <a:r>
              <a:rPr lang="vi-VN" dirty="0"/>
              <a:t>. Tại </a:t>
            </a:r>
            <a:r>
              <a:rPr lang="vi-VN" dirty="0" err="1"/>
              <a:t>Ith</a:t>
            </a:r>
            <a:r>
              <a:rPr lang="vi-VN" dirty="0"/>
              <a:t>=1.0W, CR-RSMA đạt khoảng 0.38 </a:t>
            </a:r>
            <a:r>
              <a:rPr lang="vi-VN" dirty="0" err="1"/>
              <a:t>bps</a:t>
            </a:r>
            <a:r>
              <a:rPr lang="vi-VN" dirty="0"/>
              <a:t>/</a:t>
            </a:r>
            <a:r>
              <a:rPr lang="vi-VN" dirty="0" err="1"/>
              <a:t>Hz</a:t>
            </a:r>
            <a:r>
              <a:rPr lang="vi-VN" dirty="0"/>
              <a:t> so với 0.35 </a:t>
            </a:r>
            <a:r>
              <a:rPr lang="vi-VN" dirty="0" err="1"/>
              <a:t>bps</a:t>
            </a:r>
            <a:r>
              <a:rPr lang="vi-VN" dirty="0"/>
              <a:t>/</a:t>
            </a:r>
            <a:r>
              <a:rPr lang="vi-VN" dirty="0" err="1"/>
              <a:t>Hz</a:t>
            </a:r>
            <a:r>
              <a:rPr lang="vi-VN" dirty="0"/>
              <a:t> của CR-NOMA. Mặc dù chênh lệch tuyệt đối không lớn, nhưng ở vùng </a:t>
            </a:r>
            <a:r>
              <a:rPr lang="vi-VN" dirty="0" err="1"/>
              <a:t>Ith</a:t>
            </a:r>
            <a:r>
              <a:rPr lang="vi-VN" dirty="0"/>
              <a:t> nhỏ — nơi tài nguyên rất hạn chế — ưu thế của RSMA trong việc phân bổ công suất linh hoạt giữa </a:t>
            </a:r>
            <a:r>
              <a:rPr lang="vi-VN" dirty="0" err="1"/>
              <a:t>Common</a:t>
            </a:r>
            <a:r>
              <a:rPr lang="vi-VN" dirty="0"/>
              <a:t> và </a:t>
            </a:r>
            <a:r>
              <a:rPr lang="vi-VN" dirty="0" err="1"/>
              <a:t>Private</a:t>
            </a:r>
            <a:r>
              <a:rPr lang="vi-VN" dirty="0"/>
              <a:t> </a:t>
            </a:r>
            <a:r>
              <a:rPr lang="vi-VN" dirty="0" err="1"/>
              <a:t>Stream</a:t>
            </a:r>
            <a:r>
              <a:rPr lang="vi-VN" dirty="0"/>
              <a:t> giúp tận dụng tốt hơn phần công suất ít ỏi còn lại.</a:t>
            </a:r>
          </a:p>
        </p:txBody>
      </p:sp>
      <p:sp>
        <p:nvSpPr>
          <p:cNvPr id="4" name="Slide Number Placeholder 3">
            <a:extLst>
              <a:ext uri="{FF2B5EF4-FFF2-40B4-BE49-F238E27FC236}">
                <a16:creationId xmlns:a16="http://schemas.microsoft.com/office/drawing/2014/main" id="{17793DE9-3359-CF6A-B539-AED326B552A4}"/>
              </a:ext>
            </a:extLst>
          </p:cNvPr>
          <p:cNvSpPr>
            <a:spLocks noGrp="1"/>
          </p:cNvSpPr>
          <p:nvPr>
            <p:ph type="sldNum" sz="quarter" idx="5"/>
          </p:nvPr>
        </p:nvSpPr>
        <p:spPr/>
        <p:txBody>
          <a:bodyPr/>
          <a:lstStyle/>
          <a:p>
            <a:fld id="{8FDCBCB6-B631-4457-A1AB-039C4426AD00}" type="slidenum">
              <a:rPr lang="vi-VN" smtClean="0"/>
              <a:t>14</a:t>
            </a:fld>
            <a:endParaRPr lang="vi-VN"/>
          </a:p>
        </p:txBody>
      </p:sp>
    </p:spTree>
    <p:extLst>
      <p:ext uri="{BB962C8B-B14F-4D97-AF65-F5344CB8AC3E}">
        <p14:creationId xmlns:p14="http://schemas.microsoft.com/office/powerpoint/2010/main" val="21379964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55E72-18FF-5245-5DEF-BAF03ADDC0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5BBD11-4A88-E3D0-5906-C9F131E97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E0749D-270D-64E5-6947-6D1F2F98632F}"/>
              </a:ext>
            </a:extLst>
          </p:cNvPr>
          <p:cNvSpPr>
            <a:spLocks noGrp="1"/>
          </p:cNvSpPr>
          <p:nvPr>
            <p:ph type="body" idx="1"/>
          </p:nvPr>
        </p:nvSpPr>
        <p:spPr/>
        <p:txBody>
          <a:bodyPr/>
          <a:lstStyle/>
          <a:p>
            <a:r>
              <a:rPr lang="vi-VN" dirty="0"/>
              <a:t>Cả hai hệ thống đều suy giảm mạnh khi K tăng — từ khoảng 0.059 </a:t>
            </a:r>
            <a:r>
              <a:rPr lang="vi-VN" dirty="0" err="1"/>
              <a:t>bps</a:t>
            </a:r>
            <a:r>
              <a:rPr lang="vi-VN" dirty="0"/>
              <a:t>/</a:t>
            </a:r>
            <a:r>
              <a:rPr lang="vi-VN" dirty="0" err="1"/>
              <a:t>Hz</a:t>
            </a:r>
            <a:r>
              <a:rPr lang="vi-VN" dirty="0"/>
              <a:t> tại K=2 xuống còn 0.0075 </a:t>
            </a:r>
            <a:r>
              <a:rPr lang="vi-VN" dirty="0" err="1"/>
              <a:t>bps</a:t>
            </a:r>
            <a:r>
              <a:rPr lang="vi-VN" dirty="0"/>
              <a:t>/</a:t>
            </a:r>
            <a:r>
              <a:rPr lang="vi-VN" dirty="0" err="1"/>
              <a:t>Hz</a:t>
            </a:r>
            <a:r>
              <a:rPr lang="vi-VN" dirty="0"/>
              <a:t> tại K=6. Nguyên nhân là khi thêm người dùng, ràng buộc CR buộc mỗi SU phải giảm công suất phát để tổng nhiễu không vượt </a:t>
            </a:r>
            <a:r>
              <a:rPr lang="vi-VN" dirty="0" err="1"/>
              <a:t>Ith</a:t>
            </a:r>
            <a:r>
              <a:rPr lang="vi-VN" dirty="0"/>
              <a:t>, đồng thời nhiễu đa truy cập giữa các SU cũng tăng lên.</a:t>
            </a:r>
          </a:p>
          <a:p>
            <a:endParaRPr lang="vi-VN" dirty="0"/>
          </a:p>
          <a:p>
            <a:r>
              <a:rPr lang="vi-VN" dirty="0"/>
              <a:t>Tuy nhiên hai đường gần như chồng lên nhau trong toàn bộ dải K. Điều này cho thấy trong điều kiện </a:t>
            </a:r>
            <a:r>
              <a:rPr lang="vi-VN" dirty="0" err="1"/>
              <a:t>Ith</a:t>
            </a:r>
            <a:r>
              <a:rPr lang="vi-VN" dirty="0"/>
              <a:t>=0.1W — vốn đã rất chặt — ràng buộc CR đang chi phối đến mức ưu thế của RSMA bị triệt tiêu gần như hoàn toàn. Nói cách khác, khi ngân sách công suất quá nhỏ thì cơ chế </a:t>
            </a:r>
            <a:r>
              <a:rPr lang="vi-VN" dirty="0" err="1"/>
              <a:t>splitting</a:t>
            </a:r>
            <a:r>
              <a:rPr lang="vi-VN" dirty="0"/>
              <a:t> của RSMA không còn nhiều dư địa để phát huy.</a:t>
            </a:r>
          </a:p>
          <a:p>
            <a:r>
              <a:rPr lang="vi-VN" dirty="0"/>
              <a:t>Kết quả này thực ra củng cố thêm cho kịch bản 2: ưu thế của RSMA thể hiện rõ hơn khi </a:t>
            </a:r>
            <a:r>
              <a:rPr lang="vi-VN" dirty="0" err="1"/>
              <a:t>Ith</a:t>
            </a:r>
            <a:r>
              <a:rPr lang="vi-VN" dirty="0"/>
              <a:t> đủ lớn để tạo ra không gian tối ưu cho việc phân bổ công suất.</a:t>
            </a:r>
          </a:p>
        </p:txBody>
      </p:sp>
      <p:sp>
        <p:nvSpPr>
          <p:cNvPr id="4" name="Slide Number Placeholder 3">
            <a:extLst>
              <a:ext uri="{FF2B5EF4-FFF2-40B4-BE49-F238E27FC236}">
                <a16:creationId xmlns:a16="http://schemas.microsoft.com/office/drawing/2014/main" id="{4C1E4D4A-E239-B565-3988-285A5DB3E037}"/>
              </a:ext>
            </a:extLst>
          </p:cNvPr>
          <p:cNvSpPr>
            <a:spLocks noGrp="1"/>
          </p:cNvSpPr>
          <p:nvPr>
            <p:ph type="sldNum" sz="quarter" idx="5"/>
          </p:nvPr>
        </p:nvSpPr>
        <p:spPr/>
        <p:txBody>
          <a:bodyPr/>
          <a:lstStyle/>
          <a:p>
            <a:fld id="{8FDCBCB6-B631-4457-A1AB-039C4426AD00}" type="slidenum">
              <a:rPr lang="vi-VN" smtClean="0"/>
              <a:t>15</a:t>
            </a:fld>
            <a:endParaRPr lang="vi-VN"/>
          </a:p>
        </p:txBody>
      </p:sp>
    </p:spTree>
    <p:extLst>
      <p:ext uri="{BB962C8B-B14F-4D97-AF65-F5344CB8AC3E}">
        <p14:creationId xmlns:p14="http://schemas.microsoft.com/office/powerpoint/2010/main" val="27488974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A7534-09D3-1982-7477-97768832D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CFB8C6-D1A3-3E7A-B9F9-C80C40440D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8BEF2D-5E7E-DC44-1221-567719556CF6}"/>
              </a:ext>
            </a:extLst>
          </p:cNvPr>
          <p:cNvSpPr>
            <a:spLocks noGrp="1"/>
          </p:cNvSpPr>
          <p:nvPr>
            <p:ph type="body" idx="1"/>
          </p:nvPr>
        </p:nvSpPr>
        <p:spPr/>
        <p:txBody>
          <a:bodyPr/>
          <a:lstStyle/>
          <a:p>
            <a:r>
              <a:rPr lang="vi-VN" dirty="0"/>
              <a:t>Cả hai hệ thống đều suy giảm mạnh khi K tăng — từ khoảng 0.059 </a:t>
            </a:r>
            <a:r>
              <a:rPr lang="vi-VN" dirty="0" err="1"/>
              <a:t>bps</a:t>
            </a:r>
            <a:r>
              <a:rPr lang="vi-VN" dirty="0"/>
              <a:t>/</a:t>
            </a:r>
            <a:r>
              <a:rPr lang="vi-VN" dirty="0" err="1"/>
              <a:t>Hz</a:t>
            </a:r>
            <a:r>
              <a:rPr lang="vi-VN" dirty="0"/>
              <a:t> tại K=2 xuống còn 0.0075 </a:t>
            </a:r>
            <a:r>
              <a:rPr lang="vi-VN" dirty="0" err="1"/>
              <a:t>bps</a:t>
            </a:r>
            <a:r>
              <a:rPr lang="vi-VN" dirty="0"/>
              <a:t>/</a:t>
            </a:r>
            <a:r>
              <a:rPr lang="vi-VN" dirty="0" err="1"/>
              <a:t>Hz</a:t>
            </a:r>
            <a:r>
              <a:rPr lang="vi-VN" dirty="0"/>
              <a:t> tại K=6. Nguyên nhân là khi thêm người dùng, ràng buộc CR buộc mỗi SU phải giảm công suất phát để tổng nhiễu không vượt </a:t>
            </a:r>
            <a:r>
              <a:rPr lang="vi-VN" dirty="0" err="1"/>
              <a:t>Ith</a:t>
            </a:r>
            <a:r>
              <a:rPr lang="vi-VN" dirty="0"/>
              <a:t>, đồng thời nhiễu đa truy cập giữa các SU cũng tăng lên.</a:t>
            </a:r>
          </a:p>
          <a:p>
            <a:endParaRPr lang="vi-VN" dirty="0"/>
          </a:p>
          <a:p>
            <a:r>
              <a:rPr lang="vi-VN" dirty="0"/>
              <a:t>Tuy nhiên hai đường gần như chồng lên nhau trong toàn bộ dải K. Điều này cho thấy trong điều kiện </a:t>
            </a:r>
            <a:r>
              <a:rPr lang="vi-VN" dirty="0" err="1"/>
              <a:t>Ith</a:t>
            </a:r>
            <a:r>
              <a:rPr lang="vi-VN" dirty="0"/>
              <a:t>=0.1W — vốn đã rất chặt — ràng buộc CR đang chi phối đến mức ưu thế của RSMA bị triệt tiêu gần như hoàn toàn. Nói cách khác, khi ngân sách công suất quá nhỏ thì cơ chế </a:t>
            </a:r>
            <a:r>
              <a:rPr lang="vi-VN" dirty="0" err="1"/>
              <a:t>splitting</a:t>
            </a:r>
            <a:r>
              <a:rPr lang="vi-VN" dirty="0"/>
              <a:t> của RSMA không còn nhiều dư địa để phát huy.</a:t>
            </a:r>
          </a:p>
          <a:p>
            <a:r>
              <a:rPr lang="vi-VN" dirty="0"/>
              <a:t>Kết quả này thực ra củng cố thêm cho kịch bản 2: ưu thế của RSMA thể hiện rõ hơn khi </a:t>
            </a:r>
            <a:r>
              <a:rPr lang="vi-VN" dirty="0" err="1"/>
              <a:t>Ith</a:t>
            </a:r>
            <a:r>
              <a:rPr lang="vi-VN" dirty="0"/>
              <a:t> đủ lớn để tạo ra không gian tối ưu cho việc phân bổ công suất.</a:t>
            </a:r>
          </a:p>
        </p:txBody>
      </p:sp>
      <p:sp>
        <p:nvSpPr>
          <p:cNvPr id="4" name="Slide Number Placeholder 3">
            <a:extLst>
              <a:ext uri="{FF2B5EF4-FFF2-40B4-BE49-F238E27FC236}">
                <a16:creationId xmlns:a16="http://schemas.microsoft.com/office/drawing/2014/main" id="{2AD8CE8C-C834-965D-9F31-6A142D34ED5E}"/>
              </a:ext>
            </a:extLst>
          </p:cNvPr>
          <p:cNvSpPr>
            <a:spLocks noGrp="1"/>
          </p:cNvSpPr>
          <p:nvPr>
            <p:ph type="sldNum" sz="quarter" idx="5"/>
          </p:nvPr>
        </p:nvSpPr>
        <p:spPr/>
        <p:txBody>
          <a:bodyPr/>
          <a:lstStyle/>
          <a:p>
            <a:fld id="{8FDCBCB6-B631-4457-A1AB-039C4426AD00}" type="slidenum">
              <a:rPr lang="vi-VN" smtClean="0"/>
              <a:t>16</a:t>
            </a:fld>
            <a:endParaRPr lang="vi-VN"/>
          </a:p>
        </p:txBody>
      </p:sp>
    </p:spTree>
    <p:extLst>
      <p:ext uri="{BB962C8B-B14F-4D97-AF65-F5344CB8AC3E}">
        <p14:creationId xmlns:p14="http://schemas.microsoft.com/office/powerpoint/2010/main" val="30181122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D97AA-B5B8-CA44-5471-FD8A6010CB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47375F-E996-B56C-76DD-14FE1A0FF9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C5750-6A2C-7622-75F8-73F7108D17C1}"/>
              </a:ext>
            </a:extLst>
          </p:cNvPr>
          <p:cNvSpPr>
            <a:spLocks noGrp="1"/>
          </p:cNvSpPr>
          <p:nvPr>
            <p:ph type="body" idx="1"/>
          </p:nvPr>
        </p:nvSpPr>
        <p:spPr/>
        <p:txBody>
          <a:bodyPr/>
          <a:lstStyle/>
          <a:p>
            <a:r>
              <a:rPr lang="vi-VN" dirty="0"/>
              <a:t>Cả hai hệ thống đều suy giảm mạnh khi K tăng — từ khoảng 0.059 </a:t>
            </a:r>
            <a:r>
              <a:rPr lang="vi-VN" dirty="0" err="1"/>
              <a:t>bps</a:t>
            </a:r>
            <a:r>
              <a:rPr lang="vi-VN" dirty="0"/>
              <a:t>/</a:t>
            </a:r>
            <a:r>
              <a:rPr lang="vi-VN" dirty="0" err="1"/>
              <a:t>Hz</a:t>
            </a:r>
            <a:r>
              <a:rPr lang="vi-VN" dirty="0"/>
              <a:t> tại K=2 xuống còn 0.0075 </a:t>
            </a:r>
            <a:r>
              <a:rPr lang="vi-VN" dirty="0" err="1"/>
              <a:t>bps</a:t>
            </a:r>
            <a:r>
              <a:rPr lang="vi-VN" dirty="0"/>
              <a:t>/</a:t>
            </a:r>
            <a:r>
              <a:rPr lang="vi-VN" dirty="0" err="1"/>
              <a:t>Hz</a:t>
            </a:r>
            <a:r>
              <a:rPr lang="vi-VN" dirty="0"/>
              <a:t> tại K=6. Nguyên nhân là khi thêm người dùng, ràng buộc CR buộc mỗi SU phải giảm công suất phát để tổng nhiễu không vượt </a:t>
            </a:r>
            <a:r>
              <a:rPr lang="vi-VN" dirty="0" err="1"/>
              <a:t>Ith</a:t>
            </a:r>
            <a:r>
              <a:rPr lang="vi-VN" dirty="0"/>
              <a:t>, đồng thời nhiễu đa truy cập giữa các SU cũng tăng lên.</a:t>
            </a:r>
          </a:p>
          <a:p>
            <a:endParaRPr lang="vi-VN" dirty="0"/>
          </a:p>
          <a:p>
            <a:r>
              <a:rPr lang="vi-VN" dirty="0"/>
              <a:t>Tuy nhiên hai đường gần như chồng lên nhau trong toàn bộ dải K. Điều này cho thấy trong điều kiện </a:t>
            </a:r>
            <a:r>
              <a:rPr lang="vi-VN" dirty="0" err="1"/>
              <a:t>Ith</a:t>
            </a:r>
            <a:r>
              <a:rPr lang="vi-VN" dirty="0"/>
              <a:t>=0.1W — vốn đã rất chặt — ràng buộc CR đang chi phối đến mức ưu thế của RSMA bị triệt tiêu gần như hoàn toàn. Nói cách khác, khi ngân sách công suất quá nhỏ thì cơ chế </a:t>
            </a:r>
            <a:r>
              <a:rPr lang="vi-VN" dirty="0" err="1"/>
              <a:t>splitting</a:t>
            </a:r>
            <a:r>
              <a:rPr lang="vi-VN" dirty="0"/>
              <a:t> của RSMA không còn nhiều dư địa để phát huy.</a:t>
            </a:r>
          </a:p>
          <a:p>
            <a:r>
              <a:rPr lang="vi-VN" dirty="0"/>
              <a:t>Kết quả này thực ra củng cố thêm cho kịch bản 2: ưu thế của RSMA thể hiện rõ hơn khi </a:t>
            </a:r>
            <a:r>
              <a:rPr lang="vi-VN" dirty="0" err="1"/>
              <a:t>Ith</a:t>
            </a:r>
            <a:r>
              <a:rPr lang="vi-VN" dirty="0"/>
              <a:t> đủ lớn để tạo ra không gian tối ưu cho việc phân bổ công suất.</a:t>
            </a:r>
          </a:p>
        </p:txBody>
      </p:sp>
      <p:sp>
        <p:nvSpPr>
          <p:cNvPr id="4" name="Slide Number Placeholder 3">
            <a:extLst>
              <a:ext uri="{FF2B5EF4-FFF2-40B4-BE49-F238E27FC236}">
                <a16:creationId xmlns:a16="http://schemas.microsoft.com/office/drawing/2014/main" id="{78B5DF33-B548-F748-7B4B-CF6BBD836144}"/>
              </a:ext>
            </a:extLst>
          </p:cNvPr>
          <p:cNvSpPr>
            <a:spLocks noGrp="1"/>
          </p:cNvSpPr>
          <p:nvPr>
            <p:ph type="sldNum" sz="quarter" idx="5"/>
          </p:nvPr>
        </p:nvSpPr>
        <p:spPr/>
        <p:txBody>
          <a:bodyPr/>
          <a:lstStyle/>
          <a:p>
            <a:fld id="{8FDCBCB6-B631-4457-A1AB-039C4426AD00}" type="slidenum">
              <a:rPr lang="vi-VN" smtClean="0"/>
              <a:t>17</a:t>
            </a:fld>
            <a:endParaRPr lang="vi-VN"/>
          </a:p>
        </p:txBody>
      </p:sp>
    </p:spTree>
    <p:extLst>
      <p:ext uri="{BB962C8B-B14F-4D97-AF65-F5344CB8AC3E}">
        <p14:creationId xmlns:p14="http://schemas.microsoft.com/office/powerpoint/2010/main" val="39246244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1122363"/>
            <a:ext cx="77724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AE3E3AF4-E56C-405D-90D1-F29A6618B350}" type="slidenum">
              <a:rPr lang="vi-VN" smtClean="0"/>
              <a:pPr/>
              <a:t>‹#›</a:t>
            </a:fld>
            <a:endParaRPr lang="vi-VN" dirty="0"/>
          </a:p>
        </p:txBody>
      </p:sp>
    </p:spTree>
    <p:extLst>
      <p:ext uri="{BB962C8B-B14F-4D97-AF65-F5344CB8AC3E}">
        <p14:creationId xmlns:p14="http://schemas.microsoft.com/office/powerpoint/2010/main" val="26749078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12"/>
          </p:nvPr>
        </p:nvSpPr>
        <p:spPr/>
        <p:txBody>
          <a:bodyPr/>
          <a:lstStyle/>
          <a:p>
            <a:fld id="{AE3E3AF4-E56C-405D-90D1-F29A6618B350}" type="slidenum">
              <a:rPr lang="vi-VN" smtClean="0"/>
              <a:pPr/>
              <a:t>‹#›</a:t>
            </a:fld>
            <a:endParaRPr lang="vi-VN" dirty="0"/>
          </a:p>
        </p:txBody>
      </p:sp>
    </p:spTree>
    <p:extLst>
      <p:ext uri="{BB962C8B-B14F-4D97-AF65-F5344CB8AC3E}">
        <p14:creationId xmlns:p14="http://schemas.microsoft.com/office/powerpoint/2010/main" val="7428539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23888" y="1709739"/>
            <a:ext cx="78867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p:txBody>
          <a:bodyPr/>
          <a:lstStyle/>
          <a:p>
            <a:fld id="{AE3E3AF4-E56C-405D-90D1-F29A6618B350}" type="slidenum">
              <a:rPr lang="vi-VN" smtClean="0"/>
              <a:pPr/>
              <a:t>‹#›</a:t>
            </a:fld>
            <a:endParaRPr lang="vi-VN" dirty="0"/>
          </a:p>
        </p:txBody>
      </p:sp>
    </p:spTree>
    <p:extLst>
      <p:ext uri="{BB962C8B-B14F-4D97-AF65-F5344CB8AC3E}">
        <p14:creationId xmlns:p14="http://schemas.microsoft.com/office/powerpoint/2010/main" val="4010514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p:cNvSpPr>
            <a:spLocks noGrp="1"/>
          </p:cNvSpPr>
          <p:nvPr>
            <p:ph type="sldNum" sz="quarter" idx="12"/>
          </p:nvPr>
        </p:nvSpPr>
        <p:spPr/>
        <p:txBody>
          <a:bodyPr/>
          <a:lstStyle/>
          <a:p>
            <a:fld id="{AE3E3AF4-E56C-405D-90D1-F29A6618B350}" type="slidenum">
              <a:rPr lang="vi-VN" smtClean="0"/>
              <a:pPr/>
              <a:t>‹#›</a:t>
            </a:fld>
            <a:endParaRPr lang="vi-VN" dirty="0"/>
          </a:p>
        </p:txBody>
      </p:sp>
    </p:spTree>
    <p:extLst>
      <p:ext uri="{BB962C8B-B14F-4D97-AF65-F5344CB8AC3E}">
        <p14:creationId xmlns:p14="http://schemas.microsoft.com/office/powerpoint/2010/main" val="23626420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8"/>
          <p:cNvSpPr>
            <a:spLocks noGrp="1"/>
          </p:cNvSpPr>
          <p:nvPr>
            <p:ph type="sldNum" sz="quarter" idx="12"/>
          </p:nvPr>
        </p:nvSpPr>
        <p:spPr/>
        <p:txBody>
          <a:bodyPr/>
          <a:lstStyle/>
          <a:p>
            <a:fld id="{AE3E3AF4-E56C-405D-90D1-F29A6618B350}" type="slidenum">
              <a:rPr lang="vi-VN" smtClean="0"/>
              <a:pPr/>
              <a:t>‹#›</a:t>
            </a:fld>
            <a:endParaRPr lang="vi-VN" dirty="0"/>
          </a:p>
        </p:txBody>
      </p:sp>
    </p:spTree>
    <p:extLst>
      <p:ext uri="{BB962C8B-B14F-4D97-AF65-F5344CB8AC3E}">
        <p14:creationId xmlns:p14="http://schemas.microsoft.com/office/powerpoint/2010/main" val="20142893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
        <p:nvSpPr>
          <p:cNvPr id="5" name="Slide Number Placeholder 4"/>
          <p:cNvSpPr>
            <a:spLocks noGrp="1"/>
          </p:cNvSpPr>
          <p:nvPr>
            <p:ph type="sldNum" sz="quarter" idx="12"/>
          </p:nvPr>
        </p:nvSpPr>
        <p:spPr/>
        <p:txBody>
          <a:bodyPr/>
          <a:lstStyle/>
          <a:p>
            <a:fld id="{AE3E3AF4-E56C-405D-90D1-F29A6618B350}" type="slidenum">
              <a:rPr lang="vi-VN" smtClean="0"/>
              <a:pPr/>
              <a:t>‹#›</a:t>
            </a:fld>
            <a:endParaRPr lang="vi-VN" dirty="0"/>
          </a:p>
        </p:txBody>
      </p:sp>
    </p:spTree>
    <p:extLst>
      <p:ext uri="{BB962C8B-B14F-4D97-AF65-F5344CB8AC3E}">
        <p14:creationId xmlns:p14="http://schemas.microsoft.com/office/powerpoint/2010/main" val="19996506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28650" y="6356351"/>
            <a:ext cx="2057400" cy="365125"/>
          </a:xfrm>
          <a:prstGeom prst="rect">
            <a:avLst/>
          </a:prstGeom>
        </p:spPr>
        <p:txBody>
          <a:bodyPr/>
          <a:lstStyle/>
          <a:p>
            <a:fld id="{C764DE79-268F-4C1A-8933-263129D2AF90}" type="datetimeFigureOut">
              <a:rPr lang="en-US" dirty="0"/>
              <a:t>5/31/2026</a:t>
            </a:fld>
            <a:endParaRPr lang="en-US" dirty="0"/>
          </a:p>
        </p:txBody>
      </p:sp>
      <p:sp>
        <p:nvSpPr>
          <p:cNvPr id="3" name="Footer Placeholder 2"/>
          <p:cNvSpPr>
            <a:spLocks noGrp="1"/>
          </p:cNvSpPr>
          <p:nvPr>
            <p:ph type="ftr" sz="quarter" idx="11"/>
          </p:nvPr>
        </p:nvSpPr>
        <p:spPr>
          <a:xfrm>
            <a:off x="3028950" y="6356351"/>
            <a:ext cx="3086100" cy="365125"/>
          </a:xfrm>
          <a:prstGeom prst="rect">
            <a:avLst/>
          </a:prstGeom>
        </p:spPr>
        <p:txBody>
          <a:bodyPr/>
          <a:lstStyle/>
          <a:p>
            <a:endParaRPr lang="en-US" dirty="0"/>
          </a:p>
        </p:txBody>
      </p:sp>
      <p:sp>
        <p:nvSpPr>
          <p:cNvPr id="4" name="Slide Number Placeholder 3"/>
          <p:cNvSpPr>
            <a:spLocks noGrp="1"/>
          </p:cNvSpPr>
          <p:nvPr>
            <p:ph type="sldNum" sz="quarter" idx="12"/>
          </p:nvPr>
        </p:nvSpPr>
        <p:spPr/>
        <p:txBody>
          <a:bodyPr/>
          <a:lstStyle/>
          <a:p>
            <a:fld id="{AE3E3AF4-E56C-405D-90D1-F29A6618B350}" type="slidenum">
              <a:rPr lang="vi-VN" smtClean="0"/>
              <a:pPr/>
              <a:t>‹#›</a:t>
            </a:fld>
            <a:endParaRPr lang="vi-VN" dirty="0"/>
          </a:p>
        </p:txBody>
      </p:sp>
    </p:spTree>
    <p:extLst>
      <p:ext uri="{BB962C8B-B14F-4D97-AF65-F5344CB8AC3E}">
        <p14:creationId xmlns:p14="http://schemas.microsoft.com/office/powerpoint/2010/main" val="6682738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29841" y="457200"/>
            <a:ext cx="2949178"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C764DE79-268F-4C1A-8933-263129D2AF90}" type="datetimeFigureOut">
              <a:rPr lang="en-US" dirty="0"/>
              <a:t>5/31/2026</a:t>
            </a:fld>
            <a:endParaRPr lang="en-US" dirty="0"/>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AE3E3AF4-E56C-405D-90D1-F29A6618B350}" type="slidenum">
              <a:rPr lang="vi-VN" smtClean="0"/>
              <a:pPr/>
              <a:t>‹#›</a:t>
            </a:fld>
            <a:endParaRPr lang="vi-VN" dirty="0"/>
          </a:p>
        </p:txBody>
      </p:sp>
    </p:spTree>
    <p:extLst>
      <p:ext uri="{BB962C8B-B14F-4D97-AF65-F5344CB8AC3E}">
        <p14:creationId xmlns:p14="http://schemas.microsoft.com/office/powerpoint/2010/main" val="41427216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29841" y="457200"/>
            <a:ext cx="2949178"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C764DE79-268F-4C1A-8933-263129D2AF90}" type="datetimeFigureOut">
              <a:rPr lang="en-US" dirty="0"/>
              <a:t>5/31/2026</a:t>
            </a:fld>
            <a:endParaRPr lang="en-US" dirty="0"/>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AE3E3AF4-E56C-405D-90D1-F29A6618B350}" type="slidenum">
              <a:rPr lang="vi-VN" smtClean="0"/>
              <a:pPr/>
              <a:t>‹#›</a:t>
            </a:fld>
            <a:endParaRPr lang="vi-VN" dirty="0"/>
          </a:p>
        </p:txBody>
      </p:sp>
    </p:spTree>
    <p:extLst>
      <p:ext uri="{BB962C8B-B14F-4D97-AF65-F5344CB8AC3E}">
        <p14:creationId xmlns:p14="http://schemas.microsoft.com/office/powerpoint/2010/main" val="41130188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C764DE79-268F-4C1A-8933-263129D2AF90}" type="datetimeFigureOut">
              <a:rPr lang="en-US" dirty="0"/>
              <a:t>5/31/2026</a:t>
            </a:fld>
            <a:endParaRPr lang="en-US" dirty="0"/>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AE3E3AF4-E56C-405D-90D1-F29A6618B350}" type="slidenum">
              <a:rPr lang="vi-VN" smtClean="0"/>
              <a:pPr/>
              <a:t>‹#›</a:t>
            </a:fld>
            <a:endParaRPr lang="vi-VN" dirty="0"/>
          </a:p>
        </p:txBody>
      </p:sp>
    </p:spTree>
    <p:extLst>
      <p:ext uri="{BB962C8B-B14F-4D97-AF65-F5344CB8AC3E}">
        <p14:creationId xmlns:p14="http://schemas.microsoft.com/office/powerpoint/2010/main" val="9690397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6543675" y="365125"/>
            <a:ext cx="1971675"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C764DE79-268F-4C1A-8933-263129D2AF90}" type="datetimeFigureOut">
              <a:rPr lang="en-US" dirty="0"/>
              <a:t>5/31/2026</a:t>
            </a:fld>
            <a:endParaRPr lang="en-US" dirty="0"/>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AE3E3AF4-E56C-405D-90D1-F29A6618B350}" type="slidenum">
              <a:rPr lang="vi-VN" smtClean="0"/>
              <a:pPr/>
              <a:t>‹#›</a:t>
            </a:fld>
            <a:endParaRPr lang="vi-VN" dirty="0"/>
          </a:p>
        </p:txBody>
      </p:sp>
    </p:spTree>
    <p:extLst>
      <p:ext uri="{BB962C8B-B14F-4D97-AF65-F5344CB8AC3E}">
        <p14:creationId xmlns:p14="http://schemas.microsoft.com/office/powerpoint/2010/main" val="13361784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951EEB35-B028-DD94-7115-BF97257B3EA6}"/>
              </a:ext>
            </a:extLst>
          </p:cNvPr>
          <p:cNvSpPr/>
          <p:nvPr userDrawn="1"/>
        </p:nvSpPr>
        <p:spPr>
          <a:xfrm>
            <a:off x="0" y="6510757"/>
            <a:ext cx="9144000" cy="365125"/>
          </a:xfrm>
          <a:prstGeom prst="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sp>
        <p:nvSpPr>
          <p:cNvPr id="2" name="Title Placeholder 1"/>
          <p:cNvSpPr>
            <a:spLocks noGrp="1"/>
          </p:cNvSpPr>
          <p:nvPr>
            <p:ph type="title"/>
          </p:nvPr>
        </p:nvSpPr>
        <p:spPr>
          <a:xfrm>
            <a:off x="628650" y="0"/>
            <a:ext cx="78867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4"/>
          </p:nvPr>
        </p:nvSpPr>
        <p:spPr>
          <a:xfrm>
            <a:off x="8439849" y="6510757"/>
            <a:ext cx="562062" cy="365125"/>
          </a:xfrm>
          <a:prstGeom prst="rect">
            <a:avLst/>
          </a:prstGeom>
          <a:solidFill>
            <a:schemeClr val="tx2">
              <a:lumMod val="90000"/>
              <a:lumOff val="10000"/>
            </a:schemeClr>
          </a:solidFill>
        </p:spPr>
        <p:txBody>
          <a:bodyPr vert="horz" lIns="91440" tIns="45720" rIns="91440" bIns="45720" rtlCol="0" anchor="ctr"/>
          <a:lstStyle>
            <a:lvl1pPr algn="r">
              <a:defRPr sz="2000" b="1">
                <a:solidFill>
                  <a:schemeClr val="bg1"/>
                </a:solidFill>
              </a:defRPr>
            </a:lvl1pPr>
          </a:lstStyle>
          <a:p>
            <a:fld id="{AE3E3AF4-E56C-405D-90D1-F29A6618B350}" type="slidenum">
              <a:rPr lang="vi-VN" smtClean="0"/>
              <a:pPr/>
              <a:t>‹#›</a:t>
            </a:fld>
            <a:endParaRPr lang="vi-VN" dirty="0"/>
          </a:p>
        </p:txBody>
      </p:sp>
      <p:pic>
        <p:nvPicPr>
          <p:cNvPr id="9" name="Picture 8" descr="A blue and black logo&#10;&#10;AI-generated content may be incorrect.">
            <a:extLst>
              <a:ext uri="{FF2B5EF4-FFF2-40B4-BE49-F238E27FC236}">
                <a16:creationId xmlns:a16="http://schemas.microsoft.com/office/drawing/2014/main" id="{4715C387-0FC5-4295-FD0A-28A1AB64C10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8028788" y="185738"/>
            <a:ext cx="973123" cy="407242"/>
          </a:xfrm>
          <a:prstGeom prst="rect">
            <a:avLst/>
          </a:prstGeom>
        </p:spPr>
      </p:pic>
    </p:spTree>
    <p:extLst>
      <p:ext uri="{BB962C8B-B14F-4D97-AF65-F5344CB8AC3E}">
        <p14:creationId xmlns:p14="http://schemas.microsoft.com/office/powerpoint/2010/main" val="19724322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3200" b="1" kern="1200">
          <a:solidFill>
            <a:schemeClr val="tx2">
              <a:lumMod val="90000"/>
              <a:lumOff val="1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8.jpe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BC0FB-F627-2006-D630-1B619F914356}"/>
              </a:ext>
            </a:extLst>
          </p:cNvPr>
          <p:cNvSpPr>
            <a:spLocks noGrp="1"/>
          </p:cNvSpPr>
          <p:nvPr>
            <p:ph type="ctrTitle"/>
          </p:nvPr>
        </p:nvSpPr>
        <p:spPr>
          <a:xfrm>
            <a:off x="460772" y="2172335"/>
            <a:ext cx="8222456" cy="1324004"/>
          </a:xfrm>
        </p:spPr>
        <p:txBody>
          <a:bodyPr anchor="b">
            <a:normAutofit/>
          </a:bodyPr>
          <a:lstStyle/>
          <a:p>
            <a:pPr>
              <a:lnSpc>
                <a:spcPct val="100000"/>
              </a:lnSpc>
              <a:spcBef>
                <a:spcPts val="0"/>
              </a:spcBef>
              <a:defRPr/>
            </a:pPr>
            <a:r>
              <a:rPr lang="vi-VN" sz="2500" dirty="0">
                <a:solidFill>
                  <a:schemeClr val="accent1">
                    <a:lumMod val="50000"/>
                  </a:schemeClr>
                </a:solidFill>
                <a:latin typeface="+mn-lt"/>
                <a:ea typeface="+mn-ea"/>
                <a:cs typeface="+mn-cs"/>
              </a:rPr>
              <a:t>CÂN BẰNG CHẤT LƯỢNG ĐA NGƯỜI DÙNG CHO DỊCH VỤ TRUYỀN VIDEO SVC QUA KÊNH CR-RSMA ĐƯỜNG LÊN</a:t>
            </a:r>
          </a:p>
        </p:txBody>
      </p:sp>
      <p:sp>
        <p:nvSpPr>
          <p:cNvPr id="17" name="TextBox 16">
            <a:extLst>
              <a:ext uri="{FF2B5EF4-FFF2-40B4-BE49-F238E27FC236}">
                <a16:creationId xmlns:a16="http://schemas.microsoft.com/office/drawing/2014/main" id="{7DBBA261-10CC-2E82-2258-F0A398FCFD58}"/>
              </a:ext>
            </a:extLst>
          </p:cNvPr>
          <p:cNvSpPr txBox="1"/>
          <p:nvPr/>
        </p:nvSpPr>
        <p:spPr>
          <a:xfrm>
            <a:off x="1448566" y="134035"/>
            <a:ext cx="6525361" cy="646331"/>
          </a:xfrm>
          <a:prstGeom prst="rect">
            <a:avLst/>
          </a:prstGeom>
          <a:noFill/>
        </p:spPr>
        <p:txBody>
          <a:bodyPr wrap="square" rtlCol="0">
            <a:spAutoFit/>
          </a:bodyPr>
          <a:lstStyle/>
          <a:p>
            <a:pPr algn="ctr"/>
            <a:r>
              <a:rPr lang="en-US" b="1" dirty="0">
                <a:solidFill>
                  <a:schemeClr val="tx2">
                    <a:lumMod val="90000"/>
                    <a:lumOff val="10000"/>
                  </a:schemeClr>
                </a:solidFill>
                <a:cs typeface="Arial" panose="020B0604020202020204" pitchFamily="34" charset="0"/>
              </a:rPr>
              <a:t>KHOA ĐIỆN TỬ VIỄN THÔNG</a:t>
            </a:r>
          </a:p>
          <a:p>
            <a:pPr algn="ctr"/>
            <a:r>
              <a:rPr lang="en-US" b="1" dirty="0">
                <a:solidFill>
                  <a:schemeClr val="tx2">
                    <a:lumMod val="90000"/>
                    <a:lumOff val="10000"/>
                  </a:schemeClr>
                </a:solidFill>
                <a:cs typeface="Arial" panose="020B0604020202020204" pitchFamily="34" charset="0"/>
              </a:rPr>
              <a:t>TRƯỜNG ĐẠI HỌC CÔNG NGHỆ - ĐẠI HỌC QUỐC GIA HÀ NỘI</a:t>
            </a:r>
            <a:endParaRPr lang="vi-VN" b="1" dirty="0">
              <a:solidFill>
                <a:schemeClr val="tx2">
                  <a:lumMod val="90000"/>
                  <a:lumOff val="10000"/>
                </a:schemeClr>
              </a:solidFill>
              <a:cs typeface="Arial" panose="020B0604020202020204" pitchFamily="34" charset="0"/>
            </a:endParaRPr>
          </a:p>
        </p:txBody>
      </p:sp>
      <p:pic>
        <p:nvPicPr>
          <p:cNvPr id="1026" name="Picture 2" descr="Trường Đại học Công nghệ, ĐHQGHN - VNU- University of Engineering and  Technology">
            <a:extLst>
              <a:ext uri="{FF2B5EF4-FFF2-40B4-BE49-F238E27FC236}">
                <a16:creationId xmlns:a16="http://schemas.microsoft.com/office/drawing/2014/main" id="{8DDBF34F-E1AE-71EA-C043-83C92251F6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8493" y="136691"/>
            <a:ext cx="643675" cy="643675"/>
          </a:xfrm>
          <a:prstGeom prst="rect">
            <a:avLst/>
          </a:prstGeom>
          <a:noFill/>
          <a:extLst>
            <a:ext uri="{909E8E84-426E-40DD-AFC4-6F175D3DCCD1}">
              <a14:hiddenFill xmlns:a14="http://schemas.microsoft.com/office/drawing/2010/main">
                <a:solidFill>
                  <a:srgbClr val="FFFFFF"/>
                </a:solidFill>
              </a14:hiddenFill>
            </a:ext>
          </a:extLst>
        </p:spPr>
      </p:pic>
      <p:sp>
        <p:nvSpPr>
          <p:cNvPr id="12" name="Slide Number Placeholder 9">
            <a:extLst>
              <a:ext uri="{FF2B5EF4-FFF2-40B4-BE49-F238E27FC236}">
                <a16:creationId xmlns:a16="http://schemas.microsoft.com/office/drawing/2014/main" id="{2A2CBD80-5093-179A-89FB-AFEFAD4B4780}"/>
              </a:ext>
            </a:extLst>
          </p:cNvPr>
          <p:cNvSpPr>
            <a:spLocks noGrp="1"/>
          </p:cNvSpPr>
          <p:nvPr>
            <p:ph type="sldNum" sz="quarter" idx="12"/>
          </p:nvPr>
        </p:nvSpPr>
        <p:spPr>
          <a:xfrm>
            <a:off x="8439849" y="6510757"/>
            <a:ext cx="562062" cy="365125"/>
          </a:xfrm>
        </p:spPr>
        <p:txBody>
          <a:bodyPr/>
          <a:lstStyle/>
          <a:p>
            <a:fld id="{AE3E3AF4-E56C-405D-90D1-F29A6618B350}" type="slidenum">
              <a:rPr lang="vi-VN" smtClean="0"/>
              <a:t>1</a:t>
            </a:fld>
            <a:endParaRPr lang="vi-VN" dirty="0"/>
          </a:p>
        </p:txBody>
      </p:sp>
      <p:graphicFrame>
        <p:nvGraphicFramePr>
          <p:cNvPr id="13" name="Table 12">
            <a:extLst>
              <a:ext uri="{FF2B5EF4-FFF2-40B4-BE49-F238E27FC236}">
                <a16:creationId xmlns:a16="http://schemas.microsoft.com/office/drawing/2014/main" id="{3586CCC8-A4C9-AA23-D11A-DA2BCC9C513A}"/>
              </a:ext>
            </a:extLst>
          </p:cNvPr>
          <p:cNvGraphicFramePr>
            <a:graphicFrameLocks noGrp="1"/>
          </p:cNvGraphicFramePr>
          <p:nvPr>
            <p:extLst>
              <p:ext uri="{D42A27DB-BD31-4B8C-83A1-F6EECF244321}">
                <p14:modId xmlns:p14="http://schemas.microsoft.com/office/powerpoint/2010/main" val="1279236424"/>
              </p:ext>
            </p:extLst>
          </p:nvPr>
        </p:nvGraphicFramePr>
        <p:xfrm>
          <a:off x="1657879" y="4495230"/>
          <a:ext cx="6106736" cy="792480"/>
        </p:xfrm>
        <a:graphic>
          <a:graphicData uri="http://schemas.openxmlformats.org/drawingml/2006/table">
            <a:tbl>
              <a:tblPr firstRow="1" bandRow="1">
                <a:tableStyleId>{2D5ABB26-0587-4C30-8999-92F81FD0307C}</a:tableStyleId>
              </a:tblPr>
              <a:tblGrid>
                <a:gridCol w="3053368">
                  <a:extLst>
                    <a:ext uri="{9D8B030D-6E8A-4147-A177-3AD203B41FA5}">
                      <a16:colId xmlns:a16="http://schemas.microsoft.com/office/drawing/2014/main" val="4159455956"/>
                    </a:ext>
                  </a:extLst>
                </a:gridCol>
                <a:gridCol w="3053368">
                  <a:extLst>
                    <a:ext uri="{9D8B030D-6E8A-4147-A177-3AD203B41FA5}">
                      <a16:colId xmlns:a16="http://schemas.microsoft.com/office/drawing/2014/main" val="1117164186"/>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solidFill>
                            <a:schemeClr val="accent1">
                              <a:lumMod val="50000"/>
                            </a:schemeClr>
                          </a:solidFill>
                          <a:latin typeface="Times New Roman" panose="02020603050405020304" pitchFamily="18" charset="0"/>
                          <a:cs typeface="Times New Roman" panose="02020603050405020304" pitchFamily="18" charset="0"/>
                        </a:rPr>
                        <a:t>Sinh </a:t>
                      </a:r>
                      <a:r>
                        <a:rPr lang="en-US" sz="2000" dirty="0" err="1">
                          <a:solidFill>
                            <a:schemeClr val="accent1">
                              <a:lumMod val="50000"/>
                            </a:schemeClr>
                          </a:solidFill>
                          <a:latin typeface="Times New Roman" panose="02020603050405020304" pitchFamily="18" charset="0"/>
                          <a:cs typeface="Times New Roman" panose="02020603050405020304" pitchFamily="18" charset="0"/>
                        </a:rPr>
                        <a:t>viên</a:t>
                      </a:r>
                      <a:r>
                        <a:rPr lang="en-US" sz="2000" dirty="0">
                          <a:solidFill>
                            <a:schemeClr val="accent1">
                              <a:lumMod val="50000"/>
                            </a:schemeClr>
                          </a:solidFill>
                          <a:latin typeface="Times New Roman" panose="02020603050405020304" pitchFamily="18" charset="0"/>
                          <a:cs typeface="Times New Roman" panose="02020603050405020304" pitchFamily="18" charset="0"/>
                        </a:rPr>
                        <a:t>:</a:t>
                      </a:r>
                    </a:p>
                  </a:txBody>
                  <a:tcPr/>
                </a:tc>
                <a:tc>
                  <a:txBody>
                    <a:bodyPr/>
                    <a:lstStyle/>
                    <a:p>
                      <a:r>
                        <a:rPr lang="vi-VN" sz="2000" dirty="0">
                          <a:solidFill>
                            <a:schemeClr val="accent1">
                              <a:lumMod val="50000"/>
                            </a:schemeClr>
                          </a:solidFill>
                          <a:latin typeface="Times New Roman" panose="02020603050405020304" pitchFamily="18" charset="0"/>
                          <a:cs typeface="Times New Roman" panose="02020603050405020304" pitchFamily="18" charset="0"/>
                        </a:rPr>
                        <a:t>Nguyễn Thành Vinh</a:t>
                      </a:r>
                      <a:endParaRPr lang="vi-VN" sz="2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886713973"/>
                  </a:ext>
                </a:extLst>
              </a:tr>
              <a:tr h="370840">
                <a:tc>
                  <a:txBody>
                    <a:bodyPr/>
                    <a:lstStyle/>
                    <a:p>
                      <a:r>
                        <a:rPr lang="en-US" sz="2000" dirty="0" err="1">
                          <a:solidFill>
                            <a:schemeClr val="accent1">
                              <a:lumMod val="50000"/>
                            </a:schemeClr>
                          </a:solidFill>
                          <a:latin typeface="Times New Roman" panose="02020603050405020304" pitchFamily="18" charset="0"/>
                          <a:cs typeface="Times New Roman" panose="02020603050405020304" pitchFamily="18" charset="0"/>
                        </a:rPr>
                        <a:t>Giáo</a:t>
                      </a:r>
                      <a:r>
                        <a:rPr lang="en-US" sz="2000" dirty="0">
                          <a:solidFill>
                            <a:schemeClr val="accent1">
                              <a:lumMod val="50000"/>
                            </a:schemeClr>
                          </a:solidFill>
                          <a:latin typeface="Times New Roman" panose="02020603050405020304" pitchFamily="18" charset="0"/>
                          <a:cs typeface="Times New Roman" panose="02020603050405020304" pitchFamily="18" charset="0"/>
                        </a:rPr>
                        <a:t> </a:t>
                      </a:r>
                      <a:r>
                        <a:rPr lang="en-US" sz="2000" dirty="0" err="1">
                          <a:solidFill>
                            <a:schemeClr val="accent1">
                              <a:lumMod val="50000"/>
                            </a:schemeClr>
                          </a:solidFill>
                          <a:latin typeface="Times New Roman" panose="02020603050405020304" pitchFamily="18" charset="0"/>
                          <a:cs typeface="Times New Roman" panose="02020603050405020304" pitchFamily="18" charset="0"/>
                        </a:rPr>
                        <a:t>viên</a:t>
                      </a:r>
                      <a:r>
                        <a:rPr lang="en-US" sz="2000" dirty="0">
                          <a:solidFill>
                            <a:schemeClr val="accent1">
                              <a:lumMod val="50000"/>
                            </a:schemeClr>
                          </a:solidFill>
                          <a:latin typeface="Times New Roman" panose="02020603050405020304" pitchFamily="18" charset="0"/>
                          <a:cs typeface="Times New Roman" panose="02020603050405020304" pitchFamily="18" charset="0"/>
                        </a:rPr>
                        <a:t> </a:t>
                      </a:r>
                      <a:r>
                        <a:rPr lang="en-US" sz="2000" dirty="0" err="1">
                          <a:solidFill>
                            <a:schemeClr val="accent1">
                              <a:lumMod val="50000"/>
                            </a:schemeClr>
                          </a:solidFill>
                          <a:latin typeface="Times New Roman" panose="02020603050405020304" pitchFamily="18" charset="0"/>
                          <a:cs typeface="Times New Roman" panose="02020603050405020304" pitchFamily="18" charset="0"/>
                        </a:rPr>
                        <a:t>hướng</a:t>
                      </a:r>
                      <a:r>
                        <a:rPr lang="en-US" sz="2000" dirty="0">
                          <a:solidFill>
                            <a:schemeClr val="accent1">
                              <a:lumMod val="50000"/>
                            </a:schemeClr>
                          </a:solidFill>
                          <a:latin typeface="Times New Roman" panose="02020603050405020304" pitchFamily="18" charset="0"/>
                          <a:cs typeface="Times New Roman" panose="02020603050405020304" pitchFamily="18" charset="0"/>
                        </a:rPr>
                        <a:t> </a:t>
                      </a:r>
                      <a:r>
                        <a:rPr lang="en-US" sz="2000" dirty="0" err="1">
                          <a:solidFill>
                            <a:schemeClr val="accent1">
                              <a:lumMod val="50000"/>
                            </a:schemeClr>
                          </a:solidFill>
                          <a:latin typeface="Times New Roman" panose="02020603050405020304" pitchFamily="18" charset="0"/>
                          <a:cs typeface="Times New Roman" panose="02020603050405020304" pitchFamily="18" charset="0"/>
                        </a:rPr>
                        <a:t>dẫn</a:t>
                      </a:r>
                      <a:r>
                        <a:rPr lang="en-US" sz="2000" dirty="0">
                          <a:solidFill>
                            <a:schemeClr val="accent1">
                              <a:lumMod val="50000"/>
                            </a:schemeClr>
                          </a:solidFill>
                          <a:latin typeface="Times New Roman" panose="02020603050405020304" pitchFamily="18" charset="0"/>
                          <a:cs typeface="Times New Roman" panose="02020603050405020304" pitchFamily="18" charset="0"/>
                        </a:rPr>
                        <a:t>:</a:t>
                      </a:r>
                      <a:endParaRPr lang="vi-VN" sz="2000" dirty="0">
                        <a:latin typeface="Times New Roman" panose="02020603050405020304" pitchFamily="18" charset="0"/>
                        <a:cs typeface="Times New Roman" panose="02020603050405020304" pitchFamily="18"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solidFill>
                            <a:schemeClr val="accent1">
                              <a:lumMod val="50000"/>
                            </a:schemeClr>
                          </a:solidFill>
                          <a:latin typeface="Times New Roman" panose="02020603050405020304" pitchFamily="18" charset="0"/>
                          <a:cs typeface="Times New Roman" panose="02020603050405020304" pitchFamily="18" charset="0"/>
                        </a:rPr>
                        <a:t>TS. Đinh </a:t>
                      </a:r>
                      <a:r>
                        <a:rPr lang="en-US" sz="2000" dirty="0" err="1">
                          <a:solidFill>
                            <a:schemeClr val="accent1">
                              <a:lumMod val="50000"/>
                            </a:schemeClr>
                          </a:solidFill>
                          <a:latin typeface="Times New Roman" panose="02020603050405020304" pitchFamily="18" charset="0"/>
                          <a:cs typeface="Times New Roman" panose="02020603050405020304" pitchFamily="18" charset="0"/>
                        </a:rPr>
                        <a:t>Triều</a:t>
                      </a:r>
                      <a:r>
                        <a:rPr lang="en-US" sz="2000" dirty="0">
                          <a:solidFill>
                            <a:schemeClr val="accent1">
                              <a:lumMod val="50000"/>
                            </a:schemeClr>
                          </a:solidFill>
                          <a:latin typeface="Times New Roman" panose="02020603050405020304" pitchFamily="18" charset="0"/>
                          <a:cs typeface="Times New Roman" panose="02020603050405020304" pitchFamily="18" charset="0"/>
                        </a:rPr>
                        <a:t> Dương</a:t>
                      </a:r>
                      <a:endParaRPr lang="vi-VN" sz="2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757048313"/>
                  </a:ext>
                </a:extLst>
              </a:tr>
            </a:tbl>
          </a:graphicData>
        </a:graphic>
      </p:graphicFrame>
    </p:spTree>
    <p:extLst>
      <p:ext uri="{BB962C8B-B14F-4D97-AF65-F5344CB8AC3E}">
        <p14:creationId xmlns:p14="http://schemas.microsoft.com/office/powerpoint/2010/main" val="2989156424"/>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07078-A8E6-7336-6641-86B512761002}"/>
              </a:ext>
            </a:extLst>
          </p:cNvPr>
          <p:cNvSpPr>
            <a:spLocks noGrp="1"/>
          </p:cNvSpPr>
          <p:nvPr>
            <p:ph type="title"/>
          </p:nvPr>
        </p:nvSpPr>
        <p:spPr>
          <a:xfrm>
            <a:off x="628650" y="765810"/>
            <a:ext cx="2114550" cy="559753"/>
          </a:xfrm>
        </p:spPr>
        <p:txBody>
          <a:bodyPr>
            <a:noAutofit/>
          </a:bodyPr>
          <a:lstStyle/>
          <a:p>
            <a:r>
              <a:rPr lang="en-US" sz="3000" dirty="0">
                <a:latin typeface="+mn-lt"/>
              </a:rPr>
              <a:t>MỤC LỤC</a:t>
            </a:r>
            <a:endParaRPr lang="vi-VN" sz="3000" dirty="0">
              <a:latin typeface="+mn-lt"/>
            </a:endParaRPr>
          </a:p>
        </p:txBody>
      </p:sp>
      <p:sp>
        <p:nvSpPr>
          <p:cNvPr id="4" name="Slide Number Placeholder 3">
            <a:extLst>
              <a:ext uri="{FF2B5EF4-FFF2-40B4-BE49-F238E27FC236}">
                <a16:creationId xmlns:a16="http://schemas.microsoft.com/office/drawing/2014/main" id="{686F98E5-9A89-8F6D-C8F3-ED79C33F671E}"/>
              </a:ext>
            </a:extLst>
          </p:cNvPr>
          <p:cNvSpPr>
            <a:spLocks noGrp="1"/>
          </p:cNvSpPr>
          <p:nvPr>
            <p:ph type="sldNum" sz="quarter" idx="12"/>
          </p:nvPr>
        </p:nvSpPr>
        <p:spPr/>
        <p:txBody>
          <a:bodyPr/>
          <a:lstStyle/>
          <a:p>
            <a:fld id="{AE3E3AF4-E56C-405D-90D1-F29A6618B350}" type="slidenum">
              <a:rPr lang="vi-VN" smtClean="0"/>
              <a:pPr/>
              <a:t>2</a:t>
            </a:fld>
            <a:endParaRPr lang="vi-VN" dirty="0"/>
          </a:p>
        </p:txBody>
      </p:sp>
      <p:graphicFrame>
        <p:nvGraphicFramePr>
          <p:cNvPr id="5" name="Content Placeholder 2">
            <a:extLst>
              <a:ext uri="{FF2B5EF4-FFF2-40B4-BE49-F238E27FC236}">
                <a16:creationId xmlns:a16="http://schemas.microsoft.com/office/drawing/2014/main" id="{090D744A-0065-F93A-3721-5832D1B14FE9}"/>
              </a:ext>
            </a:extLst>
          </p:cNvPr>
          <p:cNvGraphicFramePr>
            <a:graphicFrameLocks noGrp="1"/>
          </p:cNvGraphicFramePr>
          <p:nvPr>
            <p:ph idx="1"/>
            <p:extLst>
              <p:ext uri="{D42A27DB-BD31-4B8C-83A1-F6EECF244321}">
                <p14:modId xmlns:p14="http://schemas.microsoft.com/office/powerpoint/2010/main" val="893166577"/>
              </p:ext>
            </p:extLst>
          </p:nvPr>
        </p:nvGraphicFramePr>
        <p:xfrm>
          <a:off x="628651" y="1874519"/>
          <a:ext cx="7132320" cy="384048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77376029"/>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9A77C-B2DE-897F-F480-9ADF3C2B6C1F}"/>
              </a:ext>
            </a:extLst>
          </p:cNvPr>
          <p:cNvSpPr>
            <a:spLocks noGrp="1"/>
          </p:cNvSpPr>
          <p:nvPr>
            <p:ph type="title"/>
          </p:nvPr>
        </p:nvSpPr>
        <p:spPr>
          <a:xfrm>
            <a:off x="628650" y="681037"/>
            <a:ext cx="4926330" cy="644526"/>
          </a:xfrm>
        </p:spPr>
        <p:txBody>
          <a:bodyPr>
            <a:normAutofit/>
          </a:bodyPr>
          <a:lstStyle/>
          <a:p>
            <a:r>
              <a:rPr lang="vi-VN" sz="3000" b="1" dirty="0">
                <a:solidFill>
                  <a:schemeClr val="accent1">
                    <a:lumMod val="75000"/>
                  </a:schemeClr>
                </a:solidFill>
                <a:latin typeface="Aptos" panose="020B0004020202020204" pitchFamily="34" charset="0"/>
              </a:rPr>
              <a:t>ĐỘNG LỰC NGHIÊN CỨU</a:t>
            </a:r>
          </a:p>
        </p:txBody>
      </p:sp>
      <p:sp>
        <p:nvSpPr>
          <p:cNvPr id="6" name="Content Placeholder 2">
            <a:extLst>
              <a:ext uri="{FF2B5EF4-FFF2-40B4-BE49-F238E27FC236}">
                <a16:creationId xmlns:a16="http://schemas.microsoft.com/office/drawing/2014/main" id="{1D275F09-799E-319F-E7C9-0D9676286CAB}"/>
              </a:ext>
            </a:extLst>
          </p:cNvPr>
          <p:cNvSpPr txBox="1">
            <a:spLocks noGrp="1"/>
          </p:cNvSpPr>
          <p:nvPr>
            <p:ph idx="1"/>
          </p:nvPr>
        </p:nvSpPr>
        <p:spPr>
          <a:xfrm>
            <a:off x="628650" y="2878156"/>
            <a:ext cx="2960370" cy="999363"/>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vi-VN" sz="1500" dirty="0">
                <a:latin typeface="Times New Roman" panose="02020603050405020304" pitchFamily="18" charset="0"/>
                <a:cs typeface="Times New Roman" panose="02020603050405020304" pitchFamily="18" charset="0"/>
              </a:rPr>
              <a:t>Lưu lượng </a:t>
            </a:r>
            <a:r>
              <a:rPr lang="vi-VN" sz="1500" dirty="0" err="1">
                <a:latin typeface="Times New Roman" panose="02020603050405020304" pitchFamily="18" charset="0"/>
                <a:cs typeface="Times New Roman" panose="02020603050405020304" pitchFamily="18" charset="0"/>
              </a:rPr>
              <a:t>video</a:t>
            </a:r>
            <a:r>
              <a:rPr lang="vi-VN" sz="1500" dirty="0">
                <a:latin typeface="Times New Roman" panose="02020603050405020304" pitchFamily="18" charset="0"/>
                <a:cs typeface="Times New Roman" panose="02020603050405020304" pitchFamily="18" charset="0"/>
              </a:rPr>
              <a:t> hiện chiếm tỷ trọng lớn trong các mạng không dây hiện đại, trong khi tài nguyên phổ tần ngày càng khan hiếm. </a:t>
            </a:r>
            <a:endParaRPr lang="en-US" sz="1500" dirty="0">
              <a:latin typeface="Times New Roman" panose="02020603050405020304" pitchFamily="18" charset="0"/>
              <a:cs typeface="Times New Roman" panose="02020603050405020304" pitchFamily="18" charset="0"/>
            </a:endParaRPr>
          </a:p>
        </p:txBody>
      </p:sp>
      <p:sp>
        <p:nvSpPr>
          <p:cNvPr id="10" name="Slide Number Placeholder 9">
            <a:extLst>
              <a:ext uri="{FF2B5EF4-FFF2-40B4-BE49-F238E27FC236}">
                <a16:creationId xmlns:a16="http://schemas.microsoft.com/office/drawing/2014/main" id="{9EF19480-07C5-FBF6-E5BA-6E1C8222F7BC}"/>
              </a:ext>
            </a:extLst>
          </p:cNvPr>
          <p:cNvSpPr>
            <a:spLocks noGrp="1"/>
          </p:cNvSpPr>
          <p:nvPr>
            <p:ph type="sldNum" sz="quarter" idx="12"/>
          </p:nvPr>
        </p:nvSpPr>
        <p:spPr/>
        <p:txBody>
          <a:bodyPr/>
          <a:lstStyle/>
          <a:p>
            <a:fld id="{AE3E3AF4-E56C-405D-90D1-F29A6618B350}" type="slidenum">
              <a:rPr lang="vi-VN" smtClean="0"/>
              <a:t>3</a:t>
            </a:fld>
            <a:endParaRPr lang="vi-VN" dirty="0"/>
          </a:p>
        </p:txBody>
      </p:sp>
      <p:sp>
        <p:nvSpPr>
          <p:cNvPr id="3" name="Title 1">
            <a:extLst>
              <a:ext uri="{FF2B5EF4-FFF2-40B4-BE49-F238E27FC236}">
                <a16:creationId xmlns:a16="http://schemas.microsoft.com/office/drawing/2014/main" id="{BCE9201C-AE29-2EC1-C884-301E31F4925C}"/>
              </a:ext>
            </a:extLst>
          </p:cNvPr>
          <p:cNvSpPr txBox="1">
            <a:spLocks/>
          </p:cNvSpPr>
          <p:nvPr/>
        </p:nvSpPr>
        <p:spPr>
          <a:xfrm>
            <a:off x="628650" y="1325563"/>
            <a:ext cx="5086350" cy="41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200" b="1" kern="1200">
                <a:solidFill>
                  <a:schemeClr val="tx2">
                    <a:lumMod val="90000"/>
                    <a:lumOff val="10000"/>
                  </a:schemeClr>
                </a:solidFill>
                <a:latin typeface="+mj-lt"/>
                <a:ea typeface="+mj-ea"/>
                <a:cs typeface="+mj-cs"/>
              </a:defRPr>
            </a:lvl1pPr>
          </a:lstStyle>
          <a:p>
            <a:r>
              <a:rPr lang="vi-VN" sz="2000" dirty="0">
                <a:latin typeface="Aptos" panose="020B0004020202020204" pitchFamily="34" charset="0"/>
              </a:rPr>
              <a:t>Bùng nổ dữ liệu </a:t>
            </a:r>
            <a:r>
              <a:rPr lang="vi-VN" sz="2000" dirty="0" err="1">
                <a:latin typeface="Aptos" panose="020B0004020202020204" pitchFamily="34" charset="0"/>
              </a:rPr>
              <a:t>video</a:t>
            </a:r>
            <a:r>
              <a:rPr lang="vi-VN" sz="2000" dirty="0">
                <a:latin typeface="Aptos" panose="020B0004020202020204" pitchFamily="34" charset="0"/>
              </a:rPr>
              <a:t> &amp; Khan hiếm phổ tần</a:t>
            </a:r>
            <a:endParaRPr lang="vi-VN" sz="2000" dirty="0">
              <a:solidFill>
                <a:schemeClr val="accent1">
                  <a:lumMod val="50000"/>
                </a:schemeClr>
              </a:solidFill>
              <a:latin typeface="Aptos" panose="020B0004020202020204" pitchFamily="34" charset="0"/>
            </a:endParaRPr>
          </a:p>
        </p:txBody>
      </p:sp>
      <p:sp>
        <p:nvSpPr>
          <p:cNvPr id="7" name="Content Placeholder 2">
            <a:extLst>
              <a:ext uri="{FF2B5EF4-FFF2-40B4-BE49-F238E27FC236}">
                <a16:creationId xmlns:a16="http://schemas.microsoft.com/office/drawing/2014/main" id="{AEB00312-582A-C148-91E2-704C7017497C}"/>
              </a:ext>
            </a:extLst>
          </p:cNvPr>
          <p:cNvSpPr txBox="1">
            <a:spLocks/>
          </p:cNvSpPr>
          <p:nvPr/>
        </p:nvSpPr>
        <p:spPr>
          <a:xfrm>
            <a:off x="5462081" y="5120641"/>
            <a:ext cx="1816667" cy="26368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vi-VN" sz="1500" i="1" dirty="0"/>
              <a:t>Nguồn: </a:t>
            </a:r>
            <a:r>
              <a:rPr lang="vi-VN" sz="1500" i="1" dirty="0" err="1"/>
              <a:t>Cisco</a:t>
            </a:r>
            <a:r>
              <a:rPr lang="vi-VN" sz="1500" i="1" dirty="0"/>
              <a:t> VNI </a:t>
            </a:r>
            <a:endParaRPr lang="en-US" sz="1500" i="1" dirty="0">
              <a:cs typeface="Times New Roman" panose="02020603050405020304" pitchFamily="18" charset="0"/>
            </a:endParaRPr>
          </a:p>
        </p:txBody>
      </p:sp>
      <p:pic>
        <p:nvPicPr>
          <p:cNvPr id="11" name="Picture 10" descr="Cisco: Online video to account for 82% of all Internet traffic by 2021! –  IEEE ComSoc Technology Blog">
            <a:extLst>
              <a:ext uri="{FF2B5EF4-FFF2-40B4-BE49-F238E27FC236}">
                <a16:creationId xmlns:a16="http://schemas.microsoft.com/office/drawing/2014/main" id="{95A74B83-AF2E-385C-33AF-828013380C7D}"/>
              </a:ext>
            </a:extLst>
          </p:cNvPr>
          <p:cNvPicPr>
            <a:picLocks noChangeAspect="1"/>
          </p:cNvPicPr>
          <p:nvPr/>
        </p:nvPicPr>
        <p:blipFill>
          <a:blip r:embed="rId3"/>
          <a:stretch>
            <a:fillRect/>
          </a:stretch>
        </p:blipFill>
        <p:spPr>
          <a:xfrm>
            <a:off x="3931335" y="2362837"/>
            <a:ext cx="5065558" cy="2659418"/>
          </a:xfrm>
          <a:prstGeom prst="rect">
            <a:avLst/>
          </a:prstGeom>
        </p:spPr>
      </p:pic>
    </p:spTree>
    <p:extLst>
      <p:ext uri="{BB962C8B-B14F-4D97-AF65-F5344CB8AC3E}">
        <p14:creationId xmlns:p14="http://schemas.microsoft.com/office/powerpoint/2010/main" val="957117538"/>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5E9C1-0D00-4575-2ADA-B078F176B9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57BE3E-A35A-150A-023D-02D18D84E4E7}"/>
              </a:ext>
            </a:extLst>
          </p:cNvPr>
          <p:cNvSpPr>
            <a:spLocks noGrp="1"/>
          </p:cNvSpPr>
          <p:nvPr>
            <p:ph type="title"/>
          </p:nvPr>
        </p:nvSpPr>
        <p:spPr>
          <a:xfrm>
            <a:off x="628650" y="246697"/>
            <a:ext cx="4926330" cy="644526"/>
          </a:xfrm>
        </p:spPr>
        <p:txBody>
          <a:bodyPr>
            <a:normAutofit/>
          </a:bodyPr>
          <a:lstStyle/>
          <a:p>
            <a:r>
              <a:rPr lang="vi-VN" sz="3000" b="1" dirty="0">
                <a:solidFill>
                  <a:schemeClr val="accent1">
                    <a:lumMod val="75000"/>
                  </a:schemeClr>
                </a:solidFill>
                <a:latin typeface="Aptos" panose="020B0004020202020204" pitchFamily="34" charset="0"/>
              </a:rPr>
              <a:t>ĐỘNG LỰC NGHIÊN CỨU</a:t>
            </a:r>
          </a:p>
        </p:txBody>
      </p:sp>
      <p:sp>
        <p:nvSpPr>
          <p:cNvPr id="10" name="Slide Number Placeholder 9">
            <a:extLst>
              <a:ext uri="{FF2B5EF4-FFF2-40B4-BE49-F238E27FC236}">
                <a16:creationId xmlns:a16="http://schemas.microsoft.com/office/drawing/2014/main" id="{E54D5ABB-F714-6423-B604-335E1D301FBC}"/>
              </a:ext>
            </a:extLst>
          </p:cNvPr>
          <p:cNvSpPr>
            <a:spLocks noGrp="1"/>
          </p:cNvSpPr>
          <p:nvPr>
            <p:ph type="sldNum" sz="quarter" idx="12"/>
          </p:nvPr>
        </p:nvSpPr>
        <p:spPr/>
        <p:txBody>
          <a:bodyPr/>
          <a:lstStyle/>
          <a:p>
            <a:fld id="{AE3E3AF4-E56C-405D-90D1-F29A6618B350}" type="slidenum">
              <a:rPr lang="vi-VN" smtClean="0"/>
              <a:t>4</a:t>
            </a:fld>
            <a:endParaRPr lang="vi-VN" dirty="0"/>
          </a:p>
        </p:txBody>
      </p:sp>
      <p:sp>
        <p:nvSpPr>
          <p:cNvPr id="3" name="Title 1">
            <a:extLst>
              <a:ext uri="{FF2B5EF4-FFF2-40B4-BE49-F238E27FC236}">
                <a16:creationId xmlns:a16="http://schemas.microsoft.com/office/drawing/2014/main" id="{3522BB30-8B1C-5665-DFD8-0B70213CD876}"/>
              </a:ext>
            </a:extLst>
          </p:cNvPr>
          <p:cNvSpPr txBox="1">
            <a:spLocks/>
          </p:cNvSpPr>
          <p:nvPr/>
        </p:nvSpPr>
        <p:spPr>
          <a:xfrm>
            <a:off x="628650" y="799544"/>
            <a:ext cx="3302685" cy="411797"/>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3200" b="1" kern="1200">
                <a:solidFill>
                  <a:schemeClr val="tx2">
                    <a:lumMod val="90000"/>
                    <a:lumOff val="10000"/>
                  </a:schemeClr>
                </a:solidFill>
                <a:latin typeface="+mj-lt"/>
                <a:ea typeface="+mj-ea"/>
                <a:cs typeface="+mj-cs"/>
              </a:defRPr>
            </a:lvl1pPr>
          </a:lstStyle>
          <a:p>
            <a:pPr>
              <a:lnSpc>
                <a:spcPct val="110000"/>
              </a:lnSpc>
            </a:pPr>
            <a:r>
              <a:rPr lang="vi-VN" sz="2000" dirty="0">
                <a:latin typeface="Aptos" panose="020B0004020202020204" pitchFamily="34" charset="0"/>
              </a:rPr>
              <a:t>Mục tiêu nghiên cứu:</a:t>
            </a:r>
          </a:p>
        </p:txBody>
      </p:sp>
      <p:sp>
        <p:nvSpPr>
          <p:cNvPr id="5" name="TextBox 4">
            <a:extLst>
              <a:ext uri="{FF2B5EF4-FFF2-40B4-BE49-F238E27FC236}">
                <a16:creationId xmlns:a16="http://schemas.microsoft.com/office/drawing/2014/main" id="{68458523-4EE1-8698-6835-C4B13664AAD7}"/>
              </a:ext>
            </a:extLst>
          </p:cNvPr>
          <p:cNvSpPr txBox="1"/>
          <p:nvPr/>
        </p:nvSpPr>
        <p:spPr>
          <a:xfrm>
            <a:off x="628650" y="1211341"/>
            <a:ext cx="3429000" cy="4478149"/>
          </a:xfrm>
          <a:prstGeom prst="rect">
            <a:avLst/>
          </a:prstGeom>
          <a:noFill/>
        </p:spPr>
        <p:txBody>
          <a:bodyPr wrap="square">
            <a:spAutoFit/>
          </a:bodyPr>
          <a:lstStyle/>
          <a:p>
            <a:pPr algn="just"/>
            <a:r>
              <a:rPr lang="vi-VN" sz="1500" dirty="0">
                <a:latin typeface="Times New Roman" panose="02020603050405020304" pitchFamily="18" charset="0"/>
                <a:cs typeface="Times New Roman" panose="02020603050405020304" pitchFamily="18" charset="0"/>
              </a:rPr>
              <a:t>Trong mạng </a:t>
            </a:r>
            <a:r>
              <a:rPr lang="vi-VN" sz="1500" dirty="0" err="1">
                <a:latin typeface="Times New Roman" panose="02020603050405020304" pitchFamily="18" charset="0"/>
                <a:cs typeface="Times New Roman" panose="02020603050405020304" pitchFamily="18" charset="0"/>
              </a:rPr>
              <a:t>Cognitive</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Radio</a:t>
            </a:r>
            <a:r>
              <a:rPr lang="vi-VN" sz="1500" dirty="0">
                <a:latin typeface="Times New Roman" panose="02020603050405020304" pitchFamily="18" charset="0"/>
                <a:cs typeface="Times New Roman" panose="02020603050405020304" pitchFamily="18" charset="0"/>
              </a:rPr>
              <a:t>, các người dùng thứ cấp được phép truy cập phổ tần nhưng phải đảm bảo không gây nhiễu vượt ngưỡng cho người dùng sơ cấp. Điều này đặt ra yêu cầu về một kỹ thuật đa truy cập vừa hiệu quả vừa đảm bảo công bằng giữa các người dùng — đặc biệt khi ứng dụng truyền tải là </a:t>
            </a:r>
            <a:r>
              <a:rPr lang="vi-VN" sz="1500" dirty="0" err="1">
                <a:latin typeface="Times New Roman" panose="02020603050405020304" pitchFamily="18" charset="0"/>
                <a:cs typeface="Times New Roman" panose="02020603050405020304" pitchFamily="18" charset="0"/>
              </a:rPr>
              <a:t>video</a:t>
            </a:r>
            <a:r>
              <a:rPr lang="vi-VN" sz="1500" dirty="0">
                <a:latin typeface="Times New Roman" panose="02020603050405020304" pitchFamily="18" charset="0"/>
                <a:cs typeface="Times New Roman" panose="02020603050405020304" pitchFamily="18" charset="0"/>
              </a:rPr>
              <a:t> chuẩn SVC với cấu trúc phân lớp </a:t>
            </a:r>
            <a:r>
              <a:rPr lang="vi-VN" sz="1500" dirty="0" err="1">
                <a:latin typeface="Times New Roman" panose="02020603050405020304" pitchFamily="18" charset="0"/>
                <a:cs typeface="Times New Roman" panose="02020603050405020304" pitchFamily="18" charset="0"/>
              </a:rPr>
              <a:t>Base</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Layer</a:t>
            </a:r>
            <a:r>
              <a:rPr lang="vi-VN" sz="1500" dirty="0">
                <a:latin typeface="Times New Roman" panose="02020603050405020304" pitchFamily="18" charset="0"/>
                <a:cs typeface="Times New Roman" panose="02020603050405020304" pitchFamily="18" charset="0"/>
              </a:rPr>
              <a:t> và </a:t>
            </a:r>
            <a:r>
              <a:rPr lang="vi-VN" sz="1500" dirty="0" err="1">
                <a:latin typeface="Times New Roman" panose="02020603050405020304" pitchFamily="18" charset="0"/>
                <a:cs typeface="Times New Roman" panose="02020603050405020304" pitchFamily="18" charset="0"/>
              </a:rPr>
              <a:t>Enhancement</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Layer</a:t>
            </a:r>
            <a:r>
              <a:rPr lang="vi-VN" sz="1500" dirty="0">
                <a:latin typeface="Times New Roman" panose="02020603050405020304" pitchFamily="18" charset="0"/>
                <a:cs typeface="Times New Roman" panose="02020603050405020304" pitchFamily="18" charset="0"/>
              </a:rPr>
              <a:t>, trong đó mỗi người dùng cần được đảm bảo tốc độ tối thiểu để giải mã thành công lớp cơ bản. Để giải quyết bài toán này, khóa luận đề xuất ứng dụng kỹ thuật RSMA trong mạng </a:t>
            </a:r>
            <a:r>
              <a:rPr lang="vi-VN" sz="1500" dirty="0" err="1">
                <a:latin typeface="Times New Roman" panose="02020603050405020304" pitchFamily="18" charset="0"/>
                <a:cs typeface="Times New Roman" panose="02020603050405020304" pitchFamily="18" charset="0"/>
              </a:rPr>
              <a:t>Cognitive</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Radio</a:t>
            </a:r>
            <a:r>
              <a:rPr lang="vi-VN" sz="1500" dirty="0">
                <a:latin typeface="Times New Roman" panose="02020603050405020304" pitchFamily="18" charset="0"/>
                <a:cs typeface="Times New Roman" panose="02020603050405020304" pitchFamily="18" charset="0"/>
              </a:rPr>
              <a:t> đường lên, tối ưu hóa phân bổ công suất theo tiêu chí </a:t>
            </a:r>
            <a:r>
              <a:rPr lang="vi-VN" sz="1500" dirty="0" err="1">
                <a:latin typeface="Times New Roman" panose="02020603050405020304" pitchFamily="18" charset="0"/>
                <a:cs typeface="Times New Roman" panose="02020603050405020304" pitchFamily="18" charset="0"/>
              </a:rPr>
              <a:t>Max</a:t>
            </a:r>
            <a:r>
              <a:rPr lang="vi-VN" sz="1500" dirty="0">
                <a:latin typeface="Times New Roman" panose="02020603050405020304" pitchFamily="18" charset="0"/>
                <a:cs typeface="Times New Roman" panose="02020603050405020304" pitchFamily="18" charset="0"/>
              </a:rPr>
              <a:t>-Min </a:t>
            </a:r>
            <a:r>
              <a:rPr lang="vi-VN" sz="1500" dirty="0" err="1">
                <a:latin typeface="Times New Roman" panose="02020603050405020304" pitchFamily="18" charset="0"/>
                <a:cs typeface="Times New Roman" panose="02020603050405020304" pitchFamily="18" charset="0"/>
              </a:rPr>
              <a:t>Fairness</a:t>
            </a:r>
            <a:r>
              <a:rPr lang="vi-VN" sz="1500" dirty="0">
                <a:latin typeface="Times New Roman" panose="02020603050405020304" pitchFamily="18" charset="0"/>
                <a:cs typeface="Times New Roman" panose="02020603050405020304" pitchFamily="18" charset="0"/>
              </a:rPr>
              <a:t> nhằm nâng cao chất lượng </a:t>
            </a:r>
            <a:r>
              <a:rPr lang="vi-VN" sz="1500" dirty="0" err="1">
                <a:latin typeface="Times New Roman" panose="02020603050405020304" pitchFamily="18" charset="0"/>
                <a:cs typeface="Times New Roman" panose="02020603050405020304" pitchFamily="18" charset="0"/>
              </a:rPr>
              <a:t>video</a:t>
            </a:r>
            <a:r>
              <a:rPr lang="vi-VN" sz="1500" dirty="0">
                <a:latin typeface="Times New Roman" panose="02020603050405020304" pitchFamily="18" charset="0"/>
                <a:cs typeface="Times New Roman" panose="02020603050405020304" pitchFamily="18" charset="0"/>
              </a:rPr>
              <a:t> SVC và cải thiện trải nghiệm đồng đều cho tất cả người dùng.</a:t>
            </a:r>
          </a:p>
        </p:txBody>
      </p:sp>
      <p:pic>
        <p:nvPicPr>
          <p:cNvPr id="13" name="Picture 12">
            <a:extLst>
              <a:ext uri="{FF2B5EF4-FFF2-40B4-BE49-F238E27FC236}">
                <a16:creationId xmlns:a16="http://schemas.microsoft.com/office/drawing/2014/main" id="{0919437B-FFBF-EABA-4BC5-9759FEEBAA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98202" y="2046678"/>
            <a:ext cx="4903709" cy="3269139"/>
          </a:xfrm>
          <a:prstGeom prst="rect">
            <a:avLst/>
          </a:prstGeom>
        </p:spPr>
      </p:pic>
      <p:sp>
        <p:nvSpPr>
          <p:cNvPr id="16" name="Content Placeholder 2">
            <a:extLst>
              <a:ext uri="{FF2B5EF4-FFF2-40B4-BE49-F238E27FC236}">
                <a16:creationId xmlns:a16="http://schemas.microsoft.com/office/drawing/2014/main" id="{35038A20-22D2-917F-B283-6880D4672AB3}"/>
              </a:ext>
            </a:extLst>
          </p:cNvPr>
          <p:cNvSpPr txBox="1">
            <a:spLocks/>
          </p:cNvSpPr>
          <p:nvPr/>
        </p:nvSpPr>
        <p:spPr>
          <a:xfrm>
            <a:off x="4869961" y="5315817"/>
            <a:ext cx="3360189" cy="26368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Font typeface="Arial" panose="020B0604020202020204" pitchFamily="34" charset="0"/>
              <a:buNone/>
            </a:pPr>
            <a:r>
              <a:rPr lang="vi-VN" sz="1500" i="1" dirty="0"/>
              <a:t>Mô hình đa truy cập qua kênh </a:t>
            </a:r>
            <a:r>
              <a:rPr lang="vi-VN" sz="1500" i="1" dirty="0" err="1"/>
              <a:t>Uplink</a:t>
            </a:r>
            <a:endParaRPr lang="en-US" sz="1500" i="1" dirty="0">
              <a:cs typeface="Times New Roman" panose="02020603050405020304" pitchFamily="18" charset="0"/>
            </a:endParaRPr>
          </a:p>
        </p:txBody>
      </p:sp>
    </p:spTree>
    <p:extLst>
      <p:ext uri="{BB962C8B-B14F-4D97-AF65-F5344CB8AC3E}">
        <p14:creationId xmlns:p14="http://schemas.microsoft.com/office/powerpoint/2010/main" val="4043091677"/>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44F21-B676-EA70-C2C9-F7BD8CFDF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3E9771-B58F-42CC-437E-DC75596DD600}"/>
              </a:ext>
            </a:extLst>
          </p:cNvPr>
          <p:cNvSpPr>
            <a:spLocks noGrp="1"/>
          </p:cNvSpPr>
          <p:nvPr>
            <p:ph type="title"/>
          </p:nvPr>
        </p:nvSpPr>
        <p:spPr>
          <a:xfrm>
            <a:off x="628650" y="347241"/>
            <a:ext cx="3302685" cy="644526"/>
          </a:xfrm>
        </p:spPr>
        <p:txBody>
          <a:bodyPr>
            <a:normAutofit/>
          </a:bodyPr>
          <a:lstStyle/>
          <a:p>
            <a:r>
              <a:rPr lang="vi-VN" sz="3000" b="1" dirty="0">
                <a:solidFill>
                  <a:schemeClr val="accent1">
                    <a:lumMod val="75000"/>
                  </a:schemeClr>
                </a:solidFill>
                <a:latin typeface="Aptos" panose="020B0004020202020204" pitchFamily="34" charset="0"/>
              </a:rPr>
              <a:t>CƠ SỞ LÝ THUYẾT</a:t>
            </a:r>
          </a:p>
        </p:txBody>
      </p:sp>
      <p:sp>
        <p:nvSpPr>
          <p:cNvPr id="10" name="Slide Number Placeholder 9">
            <a:extLst>
              <a:ext uri="{FF2B5EF4-FFF2-40B4-BE49-F238E27FC236}">
                <a16:creationId xmlns:a16="http://schemas.microsoft.com/office/drawing/2014/main" id="{C4B7D621-CB2E-4B99-C5E7-6BA5D41855AA}"/>
              </a:ext>
            </a:extLst>
          </p:cNvPr>
          <p:cNvSpPr>
            <a:spLocks noGrp="1"/>
          </p:cNvSpPr>
          <p:nvPr>
            <p:ph type="sldNum" sz="quarter" idx="12"/>
          </p:nvPr>
        </p:nvSpPr>
        <p:spPr/>
        <p:txBody>
          <a:bodyPr/>
          <a:lstStyle/>
          <a:p>
            <a:fld id="{AE3E3AF4-E56C-405D-90D1-F29A6618B350}" type="slidenum">
              <a:rPr lang="vi-VN" smtClean="0"/>
              <a:t>5</a:t>
            </a:fld>
            <a:endParaRPr lang="vi-VN" dirty="0"/>
          </a:p>
        </p:txBody>
      </p:sp>
      <p:sp>
        <p:nvSpPr>
          <p:cNvPr id="3" name="Title 1">
            <a:extLst>
              <a:ext uri="{FF2B5EF4-FFF2-40B4-BE49-F238E27FC236}">
                <a16:creationId xmlns:a16="http://schemas.microsoft.com/office/drawing/2014/main" id="{2A6B2D3F-7FB3-5900-B583-2360950EFE58}"/>
              </a:ext>
            </a:extLst>
          </p:cNvPr>
          <p:cNvSpPr txBox="1">
            <a:spLocks/>
          </p:cNvSpPr>
          <p:nvPr/>
        </p:nvSpPr>
        <p:spPr>
          <a:xfrm>
            <a:off x="628650" y="900088"/>
            <a:ext cx="6186678" cy="411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200" b="1" kern="1200">
                <a:solidFill>
                  <a:schemeClr val="tx2">
                    <a:lumMod val="90000"/>
                    <a:lumOff val="10000"/>
                  </a:schemeClr>
                </a:solidFill>
                <a:latin typeface="+mj-lt"/>
                <a:ea typeface="+mj-ea"/>
                <a:cs typeface="+mj-cs"/>
              </a:defRPr>
            </a:lvl1pPr>
          </a:lstStyle>
          <a:p>
            <a:pPr>
              <a:lnSpc>
                <a:spcPct val="110000"/>
              </a:lnSpc>
            </a:pPr>
            <a:r>
              <a:rPr lang="vi-VN" sz="2000" dirty="0">
                <a:latin typeface="Aptos" panose="020B0004020202020204" pitchFamily="34" charset="0"/>
              </a:rPr>
              <a:t>Giới thiệu về </a:t>
            </a:r>
            <a:r>
              <a:rPr lang="vi-VN" sz="2000" dirty="0" err="1">
                <a:latin typeface="Aptos" panose="020B0004020202020204" pitchFamily="34" charset="0"/>
              </a:rPr>
              <a:t>Rate-Splitting</a:t>
            </a:r>
            <a:r>
              <a:rPr lang="vi-VN" sz="2000" dirty="0">
                <a:latin typeface="Aptos" panose="020B0004020202020204" pitchFamily="34" charset="0"/>
              </a:rPr>
              <a:t> </a:t>
            </a:r>
            <a:r>
              <a:rPr lang="vi-VN" sz="2000" dirty="0" err="1">
                <a:latin typeface="Aptos" panose="020B0004020202020204" pitchFamily="34" charset="0"/>
              </a:rPr>
              <a:t>Multiple</a:t>
            </a:r>
            <a:r>
              <a:rPr lang="vi-VN" sz="2000" dirty="0">
                <a:latin typeface="Aptos" panose="020B0004020202020204" pitchFamily="34" charset="0"/>
              </a:rPr>
              <a:t> Access </a:t>
            </a:r>
            <a:r>
              <a:rPr lang="vi-VN" sz="2000" dirty="0"/>
              <a:t>(</a:t>
            </a:r>
            <a:r>
              <a:rPr lang="vi-VN" sz="2000" dirty="0">
                <a:latin typeface="Aptos" panose="020B0004020202020204" pitchFamily="34" charset="0"/>
              </a:rPr>
              <a:t>RSMA):</a:t>
            </a:r>
          </a:p>
        </p:txBody>
      </p:sp>
      <p:sp>
        <p:nvSpPr>
          <p:cNvPr id="5" name="TextBox 4">
            <a:extLst>
              <a:ext uri="{FF2B5EF4-FFF2-40B4-BE49-F238E27FC236}">
                <a16:creationId xmlns:a16="http://schemas.microsoft.com/office/drawing/2014/main" id="{F23C0857-2006-3619-B9BB-18B1580DE67E}"/>
              </a:ext>
            </a:extLst>
          </p:cNvPr>
          <p:cNvSpPr txBox="1"/>
          <p:nvPr/>
        </p:nvSpPr>
        <p:spPr>
          <a:xfrm>
            <a:off x="655202" y="1466624"/>
            <a:ext cx="3562350" cy="2862322"/>
          </a:xfrm>
          <a:prstGeom prst="rect">
            <a:avLst/>
          </a:prstGeom>
          <a:noFill/>
        </p:spPr>
        <p:txBody>
          <a:bodyPr wrap="square">
            <a:spAutoFit/>
          </a:bodyPr>
          <a:lstStyle/>
          <a:p>
            <a:pPr algn="just"/>
            <a:r>
              <a:rPr lang="vi-VN" sz="1500" dirty="0">
                <a:latin typeface="Times New Roman" panose="02020603050405020304" pitchFamily="18" charset="0"/>
                <a:cs typeface="Times New Roman" panose="02020603050405020304" pitchFamily="18" charset="0"/>
              </a:rPr>
              <a:t>RSMA là kỹ thuật đa truy cập thế hệ mới cho phép mỗi người dùng chia bản tin thành hai phần gồm </a:t>
            </a:r>
            <a:r>
              <a:rPr lang="vi-VN" sz="1500" dirty="0" err="1">
                <a:latin typeface="Times New Roman" panose="02020603050405020304" pitchFamily="18" charset="0"/>
                <a:cs typeface="Times New Roman" panose="02020603050405020304" pitchFamily="18" charset="0"/>
              </a:rPr>
              <a:t>Common</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Stream</a:t>
            </a:r>
            <a:r>
              <a:rPr lang="vi-VN" sz="1500" dirty="0">
                <a:latin typeface="Times New Roman" panose="02020603050405020304" pitchFamily="18" charset="0"/>
                <a:cs typeface="Times New Roman" panose="02020603050405020304" pitchFamily="18" charset="0"/>
              </a:rPr>
              <a:t> và </a:t>
            </a:r>
            <a:r>
              <a:rPr lang="vi-VN" sz="1500" dirty="0" err="1">
                <a:latin typeface="Times New Roman" panose="02020603050405020304" pitchFamily="18" charset="0"/>
                <a:cs typeface="Times New Roman" panose="02020603050405020304" pitchFamily="18" charset="0"/>
              </a:rPr>
              <a:t>Private</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Stream</a:t>
            </a:r>
            <a:r>
              <a:rPr lang="vi-VN" sz="1500" dirty="0">
                <a:latin typeface="Times New Roman" panose="02020603050405020304" pitchFamily="18" charset="0"/>
                <a:cs typeface="Times New Roman" panose="02020603050405020304" pitchFamily="18" charset="0"/>
              </a:rPr>
              <a:t> trước khi truyền, trong đó công suất phát được phân bổ linh hoạt giữa hai luồng này. Về bản chất, RSMA tổng quát hóa cả hai chiến lược xử lý giao thoa: </a:t>
            </a:r>
            <a:r>
              <a:rPr lang="vi-VN" sz="1500" dirty="0" err="1">
                <a:latin typeface="Times New Roman" panose="02020603050405020304" pitchFamily="18" charset="0"/>
                <a:cs typeface="Times New Roman" panose="02020603050405020304" pitchFamily="18" charset="0"/>
              </a:rPr>
              <a:t>Private</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Stream</a:t>
            </a:r>
            <a:r>
              <a:rPr lang="vi-VN" sz="1500" dirty="0">
                <a:latin typeface="Times New Roman" panose="02020603050405020304" pitchFamily="18" charset="0"/>
                <a:cs typeface="Times New Roman" panose="02020603050405020304" pitchFamily="18" charset="0"/>
              </a:rPr>
              <a:t> được xử lý theo hướng coi nhiễu như tạp âm (</a:t>
            </a:r>
            <a:r>
              <a:rPr lang="vi-VN" sz="1500" dirty="0" err="1">
                <a:latin typeface="Times New Roman" panose="02020603050405020304" pitchFamily="18" charset="0"/>
                <a:cs typeface="Times New Roman" panose="02020603050405020304" pitchFamily="18" charset="0"/>
              </a:rPr>
              <a:t>Treat</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Interference</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as</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Noise</a:t>
            </a:r>
            <a:r>
              <a:rPr lang="vi-VN" sz="1500" dirty="0">
                <a:latin typeface="Times New Roman" panose="02020603050405020304" pitchFamily="18" charset="0"/>
                <a:cs typeface="Times New Roman" panose="02020603050405020304" pitchFamily="18" charset="0"/>
              </a:rPr>
              <a:t>), trong khi </a:t>
            </a:r>
            <a:r>
              <a:rPr lang="vi-VN" sz="1500" dirty="0" err="1">
                <a:latin typeface="Times New Roman" panose="02020603050405020304" pitchFamily="18" charset="0"/>
                <a:cs typeface="Times New Roman" panose="02020603050405020304" pitchFamily="18" charset="0"/>
              </a:rPr>
              <a:t>Common</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Stream</a:t>
            </a:r>
            <a:r>
              <a:rPr lang="vi-VN" sz="1500" dirty="0">
                <a:latin typeface="Times New Roman" panose="02020603050405020304" pitchFamily="18" charset="0"/>
                <a:cs typeface="Times New Roman" panose="02020603050405020304" pitchFamily="18" charset="0"/>
              </a:rPr>
              <a:t> được giải mã hoàn toàn thông qua SIC (</a:t>
            </a:r>
            <a:r>
              <a:rPr lang="vi-VN" sz="1500" dirty="0" err="1">
                <a:latin typeface="Times New Roman" panose="02020603050405020304" pitchFamily="18" charset="0"/>
                <a:cs typeface="Times New Roman" panose="02020603050405020304" pitchFamily="18" charset="0"/>
              </a:rPr>
              <a:t>Decode</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Interference</a:t>
            </a:r>
            <a:r>
              <a:rPr lang="vi-VN" sz="1500" dirty="0">
                <a:latin typeface="Times New Roman" panose="02020603050405020304" pitchFamily="18" charset="0"/>
                <a:cs typeface="Times New Roman" panose="02020603050405020304" pitchFamily="18" charset="0"/>
              </a:rPr>
              <a:t>). </a:t>
            </a:r>
          </a:p>
        </p:txBody>
      </p:sp>
      <p:pic>
        <p:nvPicPr>
          <p:cNvPr id="4" name="Picture 3">
            <a:extLst>
              <a:ext uri="{FF2B5EF4-FFF2-40B4-BE49-F238E27FC236}">
                <a16:creationId xmlns:a16="http://schemas.microsoft.com/office/drawing/2014/main" id="{1872D358-21E0-DCCA-8B67-8C36C0924B7A}"/>
              </a:ext>
            </a:extLst>
          </p:cNvPr>
          <p:cNvPicPr>
            <a:picLocks noChangeAspect="1"/>
          </p:cNvPicPr>
          <p:nvPr/>
        </p:nvPicPr>
        <p:blipFill>
          <a:blip r:embed="rId3"/>
          <a:stretch>
            <a:fillRect/>
          </a:stretch>
        </p:blipFill>
        <p:spPr>
          <a:xfrm>
            <a:off x="4351445" y="1466624"/>
            <a:ext cx="4506595" cy="2466340"/>
          </a:xfrm>
          <a:prstGeom prst="rect">
            <a:avLst/>
          </a:prstGeom>
        </p:spPr>
      </p:pic>
      <p:pic>
        <p:nvPicPr>
          <p:cNvPr id="6" name="Picture 5">
            <a:extLst>
              <a:ext uri="{FF2B5EF4-FFF2-40B4-BE49-F238E27FC236}">
                <a16:creationId xmlns:a16="http://schemas.microsoft.com/office/drawing/2014/main" id="{D2F1EE57-A932-D894-51E5-F5C2404CFDD5}"/>
              </a:ext>
            </a:extLst>
          </p:cNvPr>
          <p:cNvPicPr>
            <a:picLocks noChangeAspect="1"/>
          </p:cNvPicPr>
          <p:nvPr/>
        </p:nvPicPr>
        <p:blipFill rotWithShape="1">
          <a:blip r:embed="rId4"/>
          <a:srcRect b="27207"/>
          <a:stretch>
            <a:fillRect/>
          </a:stretch>
        </p:blipFill>
        <p:spPr bwMode="auto">
          <a:xfrm>
            <a:off x="4926449" y="4087703"/>
            <a:ext cx="3777757" cy="1894585"/>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532897916"/>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55426-DED7-11BB-8325-5D5096010A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C87452-FC33-5A52-447D-10D5233AF824}"/>
              </a:ext>
            </a:extLst>
          </p:cNvPr>
          <p:cNvSpPr>
            <a:spLocks noGrp="1"/>
          </p:cNvSpPr>
          <p:nvPr>
            <p:ph type="title"/>
          </p:nvPr>
        </p:nvSpPr>
        <p:spPr>
          <a:xfrm>
            <a:off x="628650" y="160337"/>
            <a:ext cx="3302685" cy="644526"/>
          </a:xfrm>
        </p:spPr>
        <p:txBody>
          <a:bodyPr>
            <a:normAutofit/>
          </a:bodyPr>
          <a:lstStyle/>
          <a:p>
            <a:r>
              <a:rPr lang="vi-VN" sz="3000" b="1" dirty="0">
                <a:solidFill>
                  <a:schemeClr val="accent1">
                    <a:lumMod val="75000"/>
                  </a:schemeClr>
                </a:solidFill>
                <a:latin typeface="Aptos" panose="020B0004020202020204" pitchFamily="34" charset="0"/>
              </a:rPr>
              <a:t>CƠ SỞ LÝ THUYẾT</a:t>
            </a:r>
          </a:p>
        </p:txBody>
      </p:sp>
      <p:sp>
        <p:nvSpPr>
          <p:cNvPr id="10" name="Slide Number Placeholder 9">
            <a:extLst>
              <a:ext uri="{FF2B5EF4-FFF2-40B4-BE49-F238E27FC236}">
                <a16:creationId xmlns:a16="http://schemas.microsoft.com/office/drawing/2014/main" id="{6A3E97BC-8FF7-7591-6584-37EF6232107D}"/>
              </a:ext>
            </a:extLst>
          </p:cNvPr>
          <p:cNvSpPr>
            <a:spLocks noGrp="1"/>
          </p:cNvSpPr>
          <p:nvPr>
            <p:ph type="sldNum" sz="quarter" idx="12"/>
          </p:nvPr>
        </p:nvSpPr>
        <p:spPr/>
        <p:txBody>
          <a:bodyPr/>
          <a:lstStyle/>
          <a:p>
            <a:fld id="{AE3E3AF4-E56C-405D-90D1-F29A6618B350}" type="slidenum">
              <a:rPr lang="vi-VN" sz="1500" smtClean="0"/>
              <a:pPr/>
              <a:t>6</a:t>
            </a:fld>
            <a:endParaRPr lang="vi-VN" sz="1500" dirty="0"/>
          </a:p>
        </p:txBody>
      </p:sp>
      <p:sp>
        <p:nvSpPr>
          <p:cNvPr id="3" name="Title 1">
            <a:extLst>
              <a:ext uri="{FF2B5EF4-FFF2-40B4-BE49-F238E27FC236}">
                <a16:creationId xmlns:a16="http://schemas.microsoft.com/office/drawing/2014/main" id="{8C85E5D5-49DE-DEDE-3EEC-20D177DBBA86}"/>
              </a:ext>
            </a:extLst>
          </p:cNvPr>
          <p:cNvSpPr txBox="1">
            <a:spLocks/>
          </p:cNvSpPr>
          <p:nvPr/>
        </p:nvSpPr>
        <p:spPr>
          <a:xfrm>
            <a:off x="628650" y="713184"/>
            <a:ext cx="5875020" cy="411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200" b="1" kern="1200">
                <a:solidFill>
                  <a:schemeClr val="tx2">
                    <a:lumMod val="90000"/>
                    <a:lumOff val="10000"/>
                  </a:schemeClr>
                </a:solidFill>
                <a:latin typeface="+mj-lt"/>
                <a:ea typeface="+mj-ea"/>
                <a:cs typeface="+mj-cs"/>
              </a:defRPr>
            </a:lvl1pPr>
          </a:lstStyle>
          <a:p>
            <a:pPr>
              <a:lnSpc>
                <a:spcPct val="110000"/>
              </a:lnSpc>
            </a:pPr>
            <a:r>
              <a:rPr lang="vi-VN" sz="2000" dirty="0">
                <a:latin typeface="Aptos" panose="020B0004020202020204" pitchFamily="34" charset="0"/>
              </a:rPr>
              <a:t>Giới thiệu về </a:t>
            </a:r>
            <a:r>
              <a:rPr lang="vi-VN" sz="2000" dirty="0" err="1">
                <a:latin typeface="Aptos" panose="020B0004020202020204" pitchFamily="34" charset="0"/>
              </a:rPr>
              <a:t>Cognitive</a:t>
            </a:r>
            <a:r>
              <a:rPr lang="vi-VN" sz="2000" dirty="0">
                <a:latin typeface="Aptos" panose="020B0004020202020204" pitchFamily="34" charset="0"/>
              </a:rPr>
              <a:t> </a:t>
            </a:r>
            <a:r>
              <a:rPr lang="vi-VN" sz="2000" dirty="0" err="1">
                <a:latin typeface="Aptos" panose="020B0004020202020204" pitchFamily="34" charset="0"/>
              </a:rPr>
              <a:t>Radio</a:t>
            </a:r>
            <a:r>
              <a:rPr lang="vi-VN" sz="2000" dirty="0">
                <a:latin typeface="Aptos" panose="020B0004020202020204" pitchFamily="34" charset="0"/>
              </a:rPr>
              <a:t> – Mô hình </a:t>
            </a:r>
            <a:r>
              <a:rPr lang="vi-VN" sz="2000" dirty="0" err="1">
                <a:latin typeface="Aptos" panose="020B0004020202020204" pitchFamily="34" charset="0"/>
              </a:rPr>
              <a:t>Underlay</a:t>
            </a:r>
            <a:r>
              <a:rPr lang="vi-VN" sz="2000" dirty="0">
                <a:latin typeface="Aptos" panose="020B0004020202020204" pitchFamily="34" charset="0"/>
              </a:rPr>
              <a:t>:</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C6D8B26F-5B42-85FB-D300-40626D0E7340}"/>
                  </a:ext>
                </a:extLst>
              </p:cNvPr>
              <p:cNvSpPr txBox="1"/>
              <p:nvPr/>
            </p:nvSpPr>
            <p:spPr>
              <a:xfrm>
                <a:off x="711836" y="1124981"/>
                <a:ext cx="4637404" cy="5214120"/>
              </a:xfrm>
              <a:prstGeom prst="rect">
                <a:avLst/>
              </a:prstGeom>
              <a:noFill/>
            </p:spPr>
            <p:txBody>
              <a:bodyPr wrap="square">
                <a:spAutoFit/>
              </a:bodyPr>
              <a:lstStyle/>
              <a:p>
                <a:pPr marL="285750" indent="-285750" algn="just">
                  <a:buFont typeface="Arial" panose="020B0604020202020204" pitchFamily="34" charset="0"/>
                  <a:buChar char="•"/>
                </a:pPr>
                <a:r>
                  <a:rPr lang="vi-VN" sz="1500" b="1" dirty="0" err="1">
                    <a:latin typeface="Times New Roman" panose="02020603050405020304" pitchFamily="18" charset="0"/>
                    <a:cs typeface="Times New Roman" panose="02020603050405020304" pitchFamily="18" charset="0"/>
                  </a:rPr>
                  <a:t>Cognitive</a:t>
                </a:r>
                <a:r>
                  <a:rPr lang="vi-VN" sz="1500" b="1" dirty="0">
                    <a:latin typeface="Times New Roman" panose="02020603050405020304" pitchFamily="18" charset="0"/>
                    <a:cs typeface="Times New Roman" panose="02020603050405020304" pitchFamily="18" charset="0"/>
                  </a:rPr>
                  <a:t> </a:t>
                </a:r>
                <a:r>
                  <a:rPr lang="vi-VN" sz="1500" b="1" dirty="0" err="1">
                    <a:latin typeface="Times New Roman" panose="02020603050405020304" pitchFamily="18" charset="0"/>
                    <a:cs typeface="Times New Roman" panose="02020603050405020304" pitchFamily="18" charset="0"/>
                  </a:rPr>
                  <a:t>Radio</a:t>
                </a:r>
                <a:r>
                  <a:rPr lang="vi-VN" sz="1500" b="1" dirty="0">
                    <a:latin typeface="Times New Roman" panose="02020603050405020304" pitchFamily="18" charset="0"/>
                    <a:cs typeface="Times New Roman" panose="02020603050405020304" pitchFamily="18" charset="0"/>
                  </a:rPr>
                  <a:t> (CR)</a:t>
                </a:r>
              </a:p>
              <a:p>
                <a:pPr algn="just"/>
                <a:r>
                  <a:rPr lang="vi-VN" sz="1500" dirty="0" err="1">
                    <a:latin typeface="Times New Roman" panose="02020603050405020304" pitchFamily="18" charset="0"/>
                    <a:cs typeface="Times New Roman" panose="02020603050405020304" pitchFamily="18" charset="0"/>
                  </a:rPr>
                  <a:t>Cognitive</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Radio</a:t>
                </a:r>
                <a:r>
                  <a:rPr lang="vi-VN" sz="1500" dirty="0">
                    <a:latin typeface="Times New Roman" panose="02020603050405020304" pitchFamily="18" charset="0"/>
                    <a:cs typeface="Times New Roman" panose="02020603050405020304" pitchFamily="18" charset="0"/>
                  </a:rPr>
                  <a:t> được đề xuất nhằm nâng cao hiệu quả sử dụng phổ tần vô tuyến. Trong hệ thống này, các </a:t>
                </a:r>
                <a:r>
                  <a:rPr lang="vi-VN" sz="1500" b="1" dirty="0" err="1">
                    <a:latin typeface="Times New Roman" panose="02020603050405020304" pitchFamily="18" charset="0"/>
                    <a:cs typeface="Times New Roman" panose="02020603050405020304" pitchFamily="18" charset="0"/>
                  </a:rPr>
                  <a:t>Secondary</a:t>
                </a:r>
                <a:r>
                  <a:rPr lang="vi-VN" sz="1500" b="1" dirty="0">
                    <a:latin typeface="Times New Roman" panose="02020603050405020304" pitchFamily="18" charset="0"/>
                    <a:cs typeface="Times New Roman" panose="02020603050405020304" pitchFamily="18" charset="0"/>
                  </a:rPr>
                  <a:t> </a:t>
                </a:r>
                <a:r>
                  <a:rPr lang="vi-VN" sz="1500" b="1" dirty="0" err="1">
                    <a:latin typeface="Times New Roman" panose="02020603050405020304" pitchFamily="18" charset="0"/>
                    <a:cs typeface="Times New Roman" panose="02020603050405020304" pitchFamily="18" charset="0"/>
                  </a:rPr>
                  <a:t>Users</a:t>
                </a:r>
                <a:r>
                  <a:rPr lang="vi-VN" sz="1500" b="1" dirty="0">
                    <a:latin typeface="Times New Roman" panose="02020603050405020304" pitchFamily="18" charset="0"/>
                    <a:cs typeface="Times New Roman" panose="02020603050405020304" pitchFamily="18" charset="0"/>
                  </a:rPr>
                  <a:t> (</a:t>
                </a:r>
                <a:r>
                  <a:rPr lang="vi-VN" sz="1500" b="1" dirty="0" err="1">
                    <a:latin typeface="Times New Roman" panose="02020603050405020304" pitchFamily="18" charset="0"/>
                    <a:cs typeface="Times New Roman" panose="02020603050405020304" pitchFamily="18" charset="0"/>
                  </a:rPr>
                  <a:t>SUs</a:t>
                </a:r>
                <a:r>
                  <a:rPr lang="vi-VN" sz="1500" b="1" dirty="0">
                    <a:latin typeface="Times New Roman" panose="02020603050405020304" pitchFamily="18" charset="0"/>
                    <a:cs typeface="Times New Roman" panose="02020603050405020304" pitchFamily="18" charset="0"/>
                  </a:rPr>
                  <a:t>)</a:t>
                </a:r>
                <a:r>
                  <a:rPr lang="vi-VN" sz="1500" dirty="0">
                    <a:latin typeface="Times New Roman" panose="02020603050405020304" pitchFamily="18" charset="0"/>
                    <a:cs typeface="Times New Roman" panose="02020603050405020304" pitchFamily="18" charset="0"/>
                  </a:rPr>
                  <a:t> được phép khai thác phổ tần đã được cấp phép cho </a:t>
                </a:r>
                <a:r>
                  <a:rPr lang="vi-VN" sz="1500" b="1" dirty="0" err="1">
                    <a:latin typeface="Times New Roman" panose="02020603050405020304" pitchFamily="18" charset="0"/>
                    <a:cs typeface="Times New Roman" panose="02020603050405020304" pitchFamily="18" charset="0"/>
                  </a:rPr>
                  <a:t>Primary</a:t>
                </a:r>
                <a:r>
                  <a:rPr lang="vi-VN" sz="1500" b="1" dirty="0">
                    <a:latin typeface="Times New Roman" panose="02020603050405020304" pitchFamily="18" charset="0"/>
                    <a:cs typeface="Times New Roman" panose="02020603050405020304" pitchFamily="18" charset="0"/>
                  </a:rPr>
                  <a:t> </a:t>
                </a:r>
                <a:r>
                  <a:rPr lang="vi-VN" sz="1500" b="1" dirty="0" err="1">
                    <a:latin typeface="Times New Roman" panose="02020603050405020304" pitchFamily="18" charset="0"/>
                    <a:cs typeface="Times New Roman" panose="02020603050405020304" pitchFamily="18" charset="0"/>
                  </a:rPr>
                  <a:t>Users</a:t>
                </a:r>
                <a:r>
                  <a:rPr lang="vi-VN" sz="1500" b="1" dirty="0">
                    <a:latin typeface="Times New Roman" panose="02020603050405020304" pitchFamily="18" charset="0"/>
                    <a:cs typeface="Times New Roman" panose="02020603050405020304" pitchFamily="18" charset="0"/>
                  </a:rPr>
                  <a:t> (</a:t>
                </a:r>
                <a:r>
                  <a:rPr lang="vi-VN" sz="1500" b="1" dirty="0" err="1">
                    <a:latin typeface="Times New Roman" panose="02020603050405020304" pitchFamily="18" charset="0"/>
                    <a:cs typeface="Times New Roman" panose="02020603050405020304" pitchFamily="18" charset="0"/>
                  </a:rPr>
                  <a:t>PUs</a:t>
                </a:r>
                <a:r>
                  <a:rPr lang="vi-VN" sz="1500" b="1" dirty="0">
                    <a:latin typeface="Times New Roman" panose="02020603050405020304" pitchFamily="18" charset="0"/>
                    <a:cs typeface="Times New Roman" panose="02020603050405020304" pitchFamily="18" charset="0"/>
                  </a:rPr>
                  <a:t>)</a:t>
                </a:r>
                <a:r>
                  <a:rPr lang="vi-VN" sz="1500" dirty="0">
                    <a:latin typeface="Times New Roman" panose="02020603050405020304" pitchFamily="18" charset="0"/>
                    <a:cs typeface="Times New Roman" panose="02020603050405020304" pitchFamily="18" charset="0"/>
                  </a:rPr>
                  <a:t>, miễn là không làm ảnh hưởng đáng kể đến hoạt động của hệ thống sơ cấp.</a:t>
                </a:r>
              </a:p>
              <a:p>
                <a:pPr algn="just"/>
                <a:endParaRPr lang="vi-VN" sz="1500" dirty="0">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r>
                  <a:rPr lang="vi-VN" sz="1500" b="1" dirty="0">
                    <a:latin typeface="Times New Roman" panose="02020603050405020304" pitchFamily="18" charset="0"/>
                    <a:cs typeface="Times New Roman" panose="02020603050405020304" pitchFamily="18" charset="0"/>
                  </a:rPr>
                  <a:t>Các mô hình chia sẻ phổ trong CR</a:t>
                </a:r>
              </a:p>
              <a:p>
                <a:pPr algn="just"/>
                <a:r>
                  <a:rPr lang="vi-VN" sz="1500" dirty="0" err="1">
                    <a:latin typeface="Times New Roman" panose="02020603050405020304" pitchFamily="18" charset="0"/>
                    <a:cs typeface="Times New Roman" panose="02020603050405020304" pitchFamily="18" charset="0"/>
                  </a:rPr>
                  <a:t>Cognitive</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Radio</a:t>
                </a:r>
                <a:r>
                  <a:rPr lang="vi-VN" sz="1500" dirty="0">
                    <a:latin typeface="Times New Roman" panose="02020603050405020304" pitchFamily="18" charset="0"/>
                    <a:cs typeface="Times New Roman" panose="02020603050405020304" pitchFamily="18" charset="0"/>
                  </a:rPr>
                  <a:t> hỗ trợ ba mô hình truy cập phổ chính gồm </a:t>
                </a:r>
                <a:r>
                  <a:rPr lang="vi-VN" sz="1500" b="1" dirty="0" err="1">
                    <a:latin typeface="Times New Roman" panose="02020603050405020304" pitchFamily="18" charset="0"/>
                    <a:cs typeface="Times New Roman" panose="02020603050405020304" pitchFamily="18" charset="0"/>
                  </a:rPr>
                  <a:t>Interweave</a:t>
                </a:r>
                <a:r>
                  <a:rPr lang="vi-VN" sz="1500" dirty="0">
                    <a:latin typeface="Times New Roman" panose="02020603050405020304" pitchFamily="18" charset="0"/>
                    <a:cs typeface="Times New Roman" panose="02020603050405020304" pitchFamily="18" charset="0"/>
                  </a:rPr>
                  <a:t>, </a:t>
                </a:r>
                <a:r>
                  <a:rPr lang="vi-VN" sz="1500" b="1" dirty="0" err="1">
                    <a:latin typeface="Times New Roman" panose="02020603050405020304" pitchFamily="18" charset="0"/>
                    <a:cs typeface="Times New Roman" panose="02020603050405020304" pitchFamily="18" charset="0"/>
                  </a:rPr>
                  <a:t>Overlay</a:t>
                </a:r>
                <a:r>
                  <a:rPr lang="vi-VN" sz="1500" dirty="0">
                    <a:latin typeface="Times New Roman" panose="02020603050405020304" pitchFamily="18" charset="0"/>
                    <a:cs typeface="Times New Roman" panose="02020603050405020304" pitchFamily="18" charset="0"/>
                  </a:rPr>
                  <a:t> và </a:t>
                </a:r>
                <a:r>
                  <a:rPr lang="vi-VN" sz="1500" b="1" dirty="0" err="1">
                    <a:latin typeface="Times New Roman" panose="02020603050405020304" pitchFamily="18" charset="0"/>
                    <a:cs typeface="Times New Roman" panose="02020603050405020304" pitchFamily="18" charset="0"/>
                  </a:rPr>
                  <a:t>Underlay</a:t>
                </a:r>
                <a:r>
                  <a:rPr lang="vi-VN" sz="1500" dirty="0">
                    <a:latin typeface="Times New Roman" panose="02020603050405020304" pitchFamily="18" charset="0"/>
                    <a:cs typeface="Times New Roman" panose="02020603050405020304" pitchFamily="18" charset="0"/>
                  </a:rPr>
                  <a:t>. Mỗi mô hình có cơ chế khai thác phổ và quản lý giao thoa khác nhau giữa PU và SU.</a:t>
                </a:r>
              </a:p>
              <a:p>
                <a:pPr algn="just"/>
                <a:endParaRPr lang="vi-VN" sz="15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vi-VN" sz="1500" b="1" dirty="0">
                    <a:latin typeface="Times New Roman" panose="02020603050405020304" pitchFamily="18" charset="0"/>
                    <a:cs typeface="Times New Roman" panose="02020603050405020304" pitchFamily="18" charset="0"/>
                  </a:rPr>
                  <a:t>Ngưỡng nhiễu </a:t>
                </a:r>
                <a14:m>
                  <m:oMath xmlns:m="http://schemas.openxmlformats.org/officeDocument/2006/math">
                    <m:sSub>
                      <m:sSubPr>
                        <m:ctrlPr>
                          <a:rPr lang="ar-AE" sz="1500"/>
                        </m:ctrlPr>
                      </m:sSubPr>
                      <m:e>
                        <m:r>
                          <a:rPr lang="ar-AE" sz="1500" i="1"/>
                          <m:t>𝐼</m:t>
                        </m:r>
                      </m:e>
                      <m:sub>
                        <m:r>
                          <a:rPr lang="ar-AE" sz="1500" i="1"/>
                          <m:t>𝑡</m:t>
                        </m:r>
                        <m:r>
                          <a:rPr lang="ar-AE" sz="1500" i="1"/>
                          <m:t>h</m:t>
                        </m:r>
                      </m:sub>
                    </m:sSub>
                  </m:oMath>
                </a14:m>
                <a:endParaRPr lang="ar-AE" sz="1500" b="1" dirty="0">
                  <a:latin typeface="Times New Roman" panose="02020603050405020304" pitchFamily="18" charset="0"/>
                  <a:cs typeface="Times New Roman" panose="02020603050405020304" pitchFamily="18" charset="0"/>
                </a:endParaRPr>
              </a:p>
              <a:p>
                <a:r>
                  <a:rPr lang="vi-VN" sz="1500" dirty="0">
                    <a:latin typeface="Times New Roman" panose="02020603050405020304" pitchFamily="18" charset="0"/>
                    <a:cs typeface="Times New Roman" panose="02020603050405020304" pitchFamily="18" charset="0"/>
                  </a:rPr>
                  <a:t>Để bảo vệ PU, tổng nhiễu từ các SU đến bộ thu của PU phải luôn nhỏ hơn ngưỡng cho phép </a:t>
                </a:r>
                <a14:m>
                  <m:oMath xmlns:m="http://schemas.openxmlformats.org/officeDocument/2006/math">
                    <m:sSub>
                      <m:sSubPr>
                        <m:ctrlPr>
                          <a:rPr lang="ar-AE" sz="1500"/>
                        </m:ctrlPr>
                      </m:sSubPr>
                      <m:e>
                        <m:r>
                          <a:rPr lang="ar-AE" sz="1500" i="1"/>
                          <m:t>𝐼</m:t>
                        </m:r>
                      </m:e>
                      <m:sub>
                        <m:r>
                          <a:rPr lang="ar-AE" sz="1500" i="1"/>
                          <m:t>𝑡</m:t>
                        </m:r>
                        <m:r>
                          <a:rPr lang="ar-AE" sz="1500" i="1"/>
                          <m:t>h</m:t>
                        </m:r>
                      </m:sub>
                    </m:sSub>
                  </m:oMath>
                </a14:m>
                <a:r>
                  <a:rPr lang="ar-AE" sz="1500" dirty="0">
                    <a:latin typeface="Times New Roman" panose="02020603050405020304" pitchFamily="18" charset="0"/>
                    <a:cs typeface="Times New Roman" panose="02020603050405020304" pitchFamily="18" charset="0"/>
                  </a:rPr>
                  <a:t>. </a:t>
                </a:r>
                <a:r>
                  <a:rPr lang="vi-VN" sz="1500" dirty="0">
                    <a:latin typeface="Times New Roman" panose="02020603050405020304" pitchFamily="18" charset="0"/>
                    <a:cs typeface="Times New Roman" panose="02020603050405020304" pitchFamily="18" charset="0"/>
                  </a:rPr>
                  <a:t>Giá trị </a:t>
                </a:r>
                <a14:m>
                  <m:oMath xmlns:m="http://schemas.openxmlformats.org/officeDocument/2006/math">
                    <m:sSub>
                      <m:sSubPr>
                        <m:ctrlPr>
                          <a:rPr lang="ar-AE" sz="1500"/>
                        </m:ctrlPr>
                      </m:sSubPr>
                      <m:e>
                        <m:r>
                          <a:rPr lang="ar-AE" sz="1500" i="1"/>
                          <m:t>𝐼</m:t>
                        </m:r>
                      </m:e>
                      <m:sub>
                        <m:r>
                          <a:rPr lang="ar-AE" sz="1500" i="1"/>
                          <m:t>𝑡</m:t>
                        </m:r>
                        <m:r>
                          <a:rPr lang="ar-AE" sz="1500" i="1"/>
                          <m:t>h</m:t>
                        </m:r>
                      </m:sub>
                    </m:sSub>
                  </m:oMath>
                </a14:m>
                <a:r>
                  <a:rPr lang="vi-VN" sz="1500" dirty="0">
                    <a:latin typeface="Times New Roman" panose="02020603050405020304" pitchFamily="18" charset="0"/>
                    <a:cs typeface="Times New Roman" panose="02020603050405020304" pitchFamily="18" charset="0"/>
                  </a:rPr>
                  <a:t>càng nhỏ thì công suất phát của SU càng bị hạn chế, làm giảm MMF </a:t>
                </a:r>
                <a:r>
                  <a:rPr lang="vi-VN" sz="1500" dirty="0" err="1">
                    <a:latin typeface="Times New Roman" panose="02020603050405020304" pitchFamily="18" charset="0"/>
                    <a:cs typeface="Times New Roman" panose="02020603050405020304" pitchFamily="18" charset="0"/>
                  </a:rPr>
                  <a:t>Rate</a:t>
                </a:r>
                <a:r>
                  <a:rPr lang="vi-VN" sz="1500" dirty="0">
                    <a:latin typeface="Times New Roman" panose="02020603050405020304" pitchFamily="18" charset="0"/>
                    <a:cs typeface="Times New Roman" panose="02020603050405020304" pitchFamily="18" charset="0"/>
                  </a:rPr>
                  <a:t>. Ngược lại, khi </a:t>
                </a:r>
                <a14:m>
                  <m:oMath xmlns:m="http://schemas.openxmlformats.org/officeDocument/2006/math">
                    <m:sSub>
                      <m:sSubPr>
                        <m:ctrlPr>
                          <a:rPr lang="ar-AE" sz="1500"/>
                        </m:ctrlPr>
                      </m:sSubPr>
                      <m:e>
                        <m:r>
                          <a:rPr lang="ar-AE" sz="1500" i="1"/>
                          <m:t>𝐼</m:t>
                        </m:r>
                      </m:e>
                      <m:sub>
                        <m:r>
                          <a:rPr lang="ar-AE" sz="1500" i="1"/>
                          <m:t>𝑡</m:t>
                        </m:r>
                        <m:r>
                          <a:rPr lang="ar-AE" sz="1500" i="1"/>
                          <m:t>h</m:t>
                        </m:r>
                      </m:sub>
                    </m:sSub>
                  </m:oMath>
                </a14:m>
                <a:r>
                  <a:rPr lang="vi-VN" sz="1500" dirty="0">
                    <a:latin typeface="Times New Roman" panose="02020603050405020304" pitchFamily="18" charset="0"/>
                    <a:cs typeface="Times New Roman" panose="02020603050405020304" pitchFamily="18" charset="0"/>
                  </a:rPr>
                  <a:t>tăng, hệ thống có nhiều tự do hơn trong việc phân bổ công suất và cải thiện hiệu năng truyền dẫn.</a:t>
                </a:r>
              </a:p>
              <a:p>
                <a:pPr algn="just"/>
                <a:endParaRPr lang="vi-VN" sz="1500" dirty="0">
                  <a:latin typeface="Times New Roman" panose="02020603050405020304" pitchFamily="18" charset="0"/>
                  <a:cs typeface="Times New Roman" panose="02020603050405020304" pitchFamily="18" charset="0"/>
                </a:endParaRPr>
              </a:p>
            </p:txBody>
          </p:sp>
        </mc:Choice>
        <mc:Fallback>
          <p:sp>
            <p:nvSpPr>
              <p:cNvPr id="5" name="TextBox 4">
                <a:extLst>
                  <a:ext uri="{FF2B5EF4-FFF2-40B4-BE49-F238E27FC236}">
                    <a16:creationId xmlns:a16="http://schemas.microsoft.com/office/drawing/2014/main" id="{C6D8B26F-5B42-85FB-D300-40626D0E7340}"/>
                  </a:ext>
                </a:extLst>
              </p:cNvPr>
              <p:cNvSpPr txBox="1">
                <a:spLocks noRot="1" noChangeAspect="1" noMove="1" noResize="1" noEditPoints="1" noAdjustHandles="1" noChangeArrowheads="1" noChangeShapeType="1" noTextEdit="1"/>
              </p:cNvSpPr>
              <p:nvPr/>
            </p:nvSpPr>
            <p:spPr>
              <a:xfrm>
                <a:off x="711836" y="1124981"/>
                <a:ext cx="4637404" cy="5214120"/>
              </a:xfrm>
              <a:prstGeom prst="rect">
                <a:avLst/>
              </a:prstGeom>
              <a:blipFill>
                <a:blip r:embed="rId3"/>
                <a:stretch>
                  <a:fillRect l="-526" t="-351" r="-394"/>
                </a:stretch>
              </a:blipFill>
            </p:spPr>
            <p:txBody>
              <a:bodyPr/>
              <a:lstStyle/>
              <a:p>
                <a:r>
                  <a:rPr lang="vi-VN">
                    <a:noFill/>
                  </a:rPr>
                  <a:t> </a:t>
                </a:r>
              </a:p>
            </p:txBody>
          </p:sp>
        </mc:Fallback>
      </mc:AlternateContent>
      <p:pic>
        <p:nvPicPr>
          <p:cNvPr id="4" name="Picture 3">
            <a:extLst>
              <a:ext uri="{FF2B5EF4-FFF2-40B4-BE49-F238E27FC236}">
                <a16:creationId xmlns:a16="http://schemas.microsoft.com/office/drawing/2014/main" id="{B0DF8120-7FBD-9E62-846F-24CA7E88188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5746901" y="2133600"/>
            <a:ext cx="3255010" cy="2590800"/>
          </a:xfrm>
          <a:prstGeom prst="rect">
            <a:avLst/>
          </a:prstGeom>
          <a:noFill/>
          <a:ln>
            <a:noFill/>
          </a:ln>
        </p:spPr>
      </p:pic>
    </p:spTree>
    <p:extLst>
      <p:ext uri="{BB962C8B-B14F-4D97-AF65-F5344CB8AC3E}">
        <p14:creationId xmlns:p14="http://schemas.microsoft.com/office/powerpoint/2010/main" val="3245333179"/>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0D00B-9F60-70F8-B749-61383D99F8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FB3D0-B8A4-BED4-DD03-E28173C07609}"/>
              </a:ext>
            </a:extLst>
          </p:cNvPr>
          <p:cNvSpPr>
            <a:spLocks noGrp="1"/>
          </p:cNvSpPr>
          <p:nvPr>
            <p:ph type="title"/>
          </p:nvPr>
        </p:nvSpPr>
        <p:spPr>
          <a:xfrm>
            <a:off x="628650" y="160337"/>
            <a:ext cx="3302685" cy="644526"/>
          </a:xfrm>
        </p:spPr>
        <p:txBody>
          <a:bodyPr>
            <a:normAutofit/>
          </a:bodyPr>
          <a:lstStyle/>
          <a:p>
            <a:r>
              <a:rPr lang="vi-VN" sz="3000" b="1" dirty="0">
                <a:solidFill>
                  <a:schemeClr val="accent1">
                    <a:lumMod val="75000"/>
                  </a:schemeClr>
                </a:solidFill>
                <a:latin typeface="Aptos" panose="020B0004020202020204" pitchFamily="34" charset="0"/>
              </a:rPr>
              <a:t>CƠ SỞ LÝ THUYẾT</a:t>
            </a:r>
          </a:p>
        </p:txBody>
      </p:sp>
      <p:sp>
        <p:nvSpPr>
          <p:cNvPr id="10" name="Slide Number Placeholder 9">
            <a:extLst>
              <a:ext uri="{FF2B5EF4-FFF2-40B4-BE49-F238E27FC236}">
                <a16:creationId xmlns:a16="http://schemas.microsoft.com/office/drawing/2014/main" id="{258CC336-3F32-BDA2-5AE8-1FD7375ECDE2}"/>
              </a:ext>
            </a:extLst>
          </p:cNvPr>
          <p:cNvSpPr>
            <a:spLocks noGrp="1"/>
          </p:cNvSpPr>
          <p:nvPr>
            <p:ph type="sldNum" sz="quarter" idx="12"/>
          </p:nvPr>
        </p:nvSpPr>
        <p:spPr/>
        <p:txBody>
          <a:bodyPr/>
          <a:lstStyle/>
          <a:p>
            <a:fld id="{AE3E3AF4-E56C-405D-90D1-F29A6618B350}" type="slidenum">
              <a:rPr lang="vi-VN" sz="1500" smtClean="0"/>
              <a:pPr/>
              <a:t>7</a:t>
            </a:fld>
            <a:endParaRPr lang="vi-VN" sz="1500" dirty="0"/>
          </a:p>
        </p:txBody>
      </p:sp>
      <p:sp>
        <p:nvSpPr>
          <p:cNvPr id="3" name="Title 1">
            <a:extLst>
              <a:ext uri="{FF2B5EF4-FFF2-40B4-BE49-F238E27FC236}">
                <a16:creationId xmlns:a16="http://schemas.microsoft.com/office/drawing/2014/main" id="{D6433EAD-6E33-70FA-EE8A-1668A6582321}"/>
              </a:ext>
            </a:extLst>
          </p:cNvPr>
          <p:cNvSpPr txBox="1">
            <a:spLocks/>
          </p:cNvSpPr>
          <p:nvPr/>
        </p:nvSpPr>
        <p:spPr>
          <a:xfrm>
            <a:off x="628650" y="713184"/>
            <a:ext cx="5875020" cy="411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200" b="1" kern="1200">
                <a:solidFill>
                  <a:schemeClr val="tx2">
                    <a:lumMod val="90000"/>
                    <a:lumOff val="10000"/>
                  </a:schemeClr>
                </a:solidFill>
                <a:latin typeface="+mj-lt"/>
                <a:ea typeface="+mj-ea"/>
                <a:cs typeface="+mj-cs"/>
              </a:defRPr>
            </a:lvl1pPr>
          </a:lstStyle>
          <a:p>
            <a:pPr>
              <a:lnSpc>
                <a:spcPct val="110000"/>
              </a:lnSpc>
            </a:pPr>
            <a:r>
              <a:rPr lang="vi-VN" sz="2000" dirty="0">
                <a:latin typeface="Aptos" panose="020B0004020202020204" pitchFamily="34" charset="0"/>
              </a:rPr>
              <a:t>CR-RSMA</a:t>
            </a:r>
          </a:p>
        </p:txBody>
      </p:sp>
      <p:pic>
        <p:nvPicPr>
          <p:cNvPr id="7" name="Picture 6">
            <a:extLst>
              <a:ext uri="{FF2B5EF4-FFF2-40B4-BE49-F238E27FC236}">
                <a16:creationId xmlns:a16="http://schemas.microsoft.com/office/drawing/2014/main" id="{5E30567A-8194-AB84-BA25-6F14D8443D70}"/>
              </a:ext>
            </a:extLst>
          </p:cNvPr>
          <p:cNvPicPr>
            <a:picLocks noChangeAspect="1"/>
          </p:cNvPicPr>
          <p:nvPr/>
        </p:nvPicPr>
        <p:blipFill>
          <a:blip r:embed="rId3">
            <a:extLst>
              <a:ext uri="{28A0092B-C50C-407E-A947-70E740481C1C}">
                <a14:useLocalDpi xmlns:a14="http://schemas.microsoft.com/office/drawing/2010/main" val="0"/>
              </a:ext>
            </a:extLst>
          </a:blip>
          <a:srcRect t="9479"/>
          <a:stretch>
            <a:fillRect/>
          </a:stretch>
        </p:blipFill>
        <p:spPr>
          <a:xfrm>
            <a:off x="691515" y="1124981"/>
            <a:ext cx="7760970" cy="4683520"/>
          </a:xfrm>
          <a:prstGeom prst="rect">
            <a:avLst/>
          </a:prstGeom>
        </p:spPr>
      </p:pic>
    </p:spTree>
    <p:extLst>
      <p:ext uri="{BB962C8B-B14F-4D97-AF65-F5344CB8AC3E}">
        <p14:creationId xmlns:p14="http://schemas.microsoft.com/office/powerpoint/2010/main" val="3441070995"/>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FBDB4-B38E-138B-D8F0-78ED6A08F2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CC4667-9D39-8155-911B-E2583F603A7A}"/>
              </a:ext>
            </a:extLst>
          </p:cNvPr>
          <p:cNvSpPr>
            <a:spLocks noGrp="1"/>
          </p:cNvSpPr>
          <p:nvPr>
            <p:ph type="title"/>
          </p:nvPr>
        </p:nvSpPr>
        <p:spPr>
          <a:xfrm>
            <a:off x="628650" y="611749"/>
            <a:ext cx="3302685" cy="644526"/>
          </a:xfrm>
        </p:spPr>
        <p:txBody>
          <a:bodyPr>
            <a:normAutofit/>
          </a:bodyPr>
          <a:lstStyle/>
          <a:p>
            <a:r>
              <a:rPr lang="vi-VN" sz="3000" b="1" dirty="0">
                <a:solidFill>
                  <a:schemeClr val="accent1">
                    <a:lumMod val="75000"/>
                  </a:schemeClr>
                </a:solidFill>
                <a:latin typeface="Aptos" panose="020B0004020202020204" pitchFamily="34" charset="0"/>
              </a:rPr>
              <a:t>CƠ SỞ LÝ THUYẾT</a:t>
            </a:r>
          </a:p>
        </p:txBody>
      </p:sp>
      <p:sp>
        <p:nvSpPr>
          <p:cNvPr id="10" name="Slide Number Placeholder 9">
            <a:extLst>
              <a:ext uri="{FF2B5EF4-FFF2-40B4-BE49-F238E27FC236}">
                <a16:creationId xmlns:a16="http://schemas.microsoft.com/office/drawing/2014/main" id="{80D81953-50EA-19CB-849F-4579F43D82ED}"/>
              </a:ext>
            </a:extLst>
          </p:cNvPr>
          <p:cNvSpPr>
            <a:spLocks noGrp="1"/>
          </p:cNvSpPr>
          <p:nvPr>
            <p:ph type="sldNum" sz="quarter" idx="12"/>
          </p:nvPr>
        </p:nvSpPr>
        <p:spPr/>
        <p:txBody>
          <a:bodyPr/>
          <a:lstStyle/>
          <a:p>
            <a:fld id="{AE3E3AF4-E56C-405D-90D1-F29A6618B350}" type="slidenum">
              <a:rPr lang="vi-VN" sz="1500" smtClean="0"/>
              <a:pPr/>
              <a:t>8</a:t>
            </a:fld>
            <a:endParaRPr lang="vi-VN" sz="1500" dirty="0"/>
          </a:p>
        </p:txBody>
      </p:sp>
      <p:sp>
        <p:nvSpPr>
          <p:cNvPr id="3" name="Title 1">
            <a:extLst>
              <a:ext uri="{FF2B5EF4-FFF2-40B4-BE49-F238E27FC236}">
                <a16:creationId xmlns:a16="http://schemas.microsoft.com/office/drawing/2014/main" id="{CD8D1D9C-4A7C-B4C4-E047-E92C97BF6430}"/>
              </a:ext>
            </a:extLst>
          </p:cNvPr>
          <p:cNvSpPr txBox="1">
            <a:spLocks/>
          </p:cNvSpPr>
          <p:nvPr/>
        </p:nvSpPr>
        <p:spPr>
          <a:xfrm>
            <a:off x="628650" y="1164596"/>
            <a:ext cx="5875020" cy="411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200" b="1" kern="1200">
                <a:solidFill>
                  <a:schemeClr val="tx2">
                    <a:lumMod val="90000"/>
                    <a:lumOff val="10000"/>
                  </a:schemeClr>
                </a:solidFill>
                <a:latin typeface="+mj-lt"/>
                <a:ea typeface="+mj-ea"/>
                <a:cs typeface="+mj-cs"/>
              </a:defRPr>
            </a:lvl1pPr>
          </a:lstStyle>
          <a:p>
            <a:pPr>
              <a:lnSpc>
                <a:spcPct val="110000"/>
              </a:lnSpc>
            </a:pPr>
            <a:r>
              <a:rPr lang="vi-VN" sz="2000" dirty="0">
                <a:latin typeface="Aptos" panose="020B0004020202020204" pitchFamily="34" charset="0"/>
              </a:rPr>
              <a:t>Giới thiệu về </a:t>
            </a:r>
            <a:r>
              <a:rPr lang="vi-VN" sz="2000" dirty="0" err="1">
                <a:latin typeface="Aptos" panose="020B0004020202020204" pitchFamily="34" charset="0"/>
              </a:rPr>
              <a:t>Scalable</a:t>
            </a:r>
            <a:r>
              <a:rPr lang="vi-VN" sz="2000" dirty="0">
                <a:latin typeface="Aptos" panose="020B0004020202020204" pitchFamily="34" charset="0"/>
              </a:rPr>
              <a:t> </a:t>
            </a:r>
            <a:r>
              <a:rPr lang="vi-VN" sz="2000" dirty="0" err="1">
                <a:latin typeface="Aptos" panose="020B0004020202020204" pitchFamily="34" charset="0"/>
              </a:rPr>
              <a:t>Video</a:t>
            </a:r>
            <a:r>
              <a:rPr lang="vi-VN" sz="2000" dirty="0">
                <a:latin typeface="Aptos" panose="020B0004020202020204" pitchFamily="34" charset="0"/>
              </a:rPr>
              <a:t> </a:t>
            </a:r>
            <a:r>
              <a:rPr lang="vi-VN" sz="2000" dirty="0" err="1">
                <a:latin typeface="Aptos" panose="020B0004020202020204" pitchFamily="34" charset="0"/>
              </a:rPr>
              <a:t>Coding</a:t>
            </a:r>
            <a:r>
              <a:rPr lang="vi-VN" sz="2000" dirty="0">
                <a:latin typeface="Aptos" panose="020B0004020202020204" pitchFamily="34" charset="0"/>
              </a:rPr>
              <a:t>:</a:t>
            </a:r>
          </a:p>
        </p:txBody>
      </p:sp>
      <p:pic>
        <p:nvPicPr>
          <p:cNvPr id="6" name="Picture 5">
            <a:extLst>
              <a:ext uri="{FF2B5EF4-FFF2-40B4-BE49-F238E27FC236}">
                <a16:creationId xmlns:a16="http://schemas.microsoft.com/office/drawing/2014/main" id="{A55CC5C1-4986-BCBD-D9B1-AA2DF9D9FEAD}"/>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37238"/>
          <a:stretch>
            <a:fillRect/>
          </a:stretch>
        </p:blipFill>
        <p:spPr bwMode="auto">
          <a:xfrm>
            <a:off x="628649" y="2091872"/>
            <a:ext cx="8135778" cy="28736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457337775"/>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8C99832-CD45-5E29-2E86-62B4E922DC64}"/>
              </a:ext>
            </a:extLst>
          </p:cNvPr>
          <p:cNvSpPr>
            <a:spLocks noGrp="1"/>
          </p:cNvSpPr>
          <p:nvPr>
            <p:ph type="sldNum" sz="quarter" idx="12"/>
          </p:nvPr>
        </p:nvSpPr>
        <p:spPr/>
        <p:txBody>
          <a:bodyPr/>
          <a:lstStyle/>
          <a:p>
            <a:fld id="{AE3E3AF4-E56C-405D-90D1-F29A6618B350}" type="slidenum">
              <a:rPr lang="vi-VN" smtClean="0"/>
              <a:pPr/>
              <a:t>9</a:t>
            </a:fld>
            <a:endParaRPr lang="vi-VN" dirty="0"/>
          </a:p>
        </p:txBody>
      </p:sp>
      <p:sp>
        <p:nvSpPr>
          <p:cNvPr id="6" name="Title 1">
            <a:extLst>
              <a:ext uri="{FF2B5EF4-FFF2-40B4-BE49-F238E27FC236}">
                <a16:creationId xmlns:a16="http://schemas.microsoft.com/office/drawing/2014/main" id="{D3555C40-1E6C-4705-1D21-B844FDABEA96}"/>
              </a:ext>
            </a:extLst>
          </p:cNvPr>
          <p:cNvSpPr>
            <a:spLocks noGrp="1"/>
          </p:cNvSpPr>
          <p:nvPr>
            <p:ph type="title"/>
          </p:nvPr>
        </p:nvSpPr>
        <p:spPr>
          <a:xfrm>
            <a:off x="628649" y="301048"/>
            <a:ext cx="4575527" cy="594541"/>
          </a:xfrm>
        </p:spPr>
        <p:txBody>
          <a:bodyPr>
            <a:noAutofit/>
          </a:bodyPr>
          <a:lstStyle/>
          <a:p>
            <a:r>
              <a:rPr lang="vi-VN" sz="3000" dirty="0">
                <a:latin typeface="Aptos" panose="020B0004020202020204" pitchFamily="34" charset="0"/>
              </a:rPr>
              <a:t>MÔ HÌNH VÀ GIẢI THUẬT</a:t>
            </a:r>
          </a:p>
        </p:txBody>
      </p:sp>
      <p:sp>
        <p:nvSpPr>
          <p:cNvPr id="7" name="TextBox 6">
            <a:extLst>
              <a:ext uri="{FF2B5EF4-FFF2-40B4-BE49-F238E27FC236}">
                <a16:creationId xmlns:a16="http://schemas.microsoft.com/office/drawing/2014/main" id="{77EF3E31-8C48-0333-F4CA-EADD8743D2FD}"/>
              </a:ext>
            </a:extLst>
          </p:cNvPr>
          <p:cNvSpPr txBox="1"/>
          <p:nvPr/>
        </p:nvSpPr>
        <p:spPr>
          <a:xfrm>
            <a:off x="628651" y="895589"/>
            <a:ext cx="3630834" cy="41729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defTabSz="914400">
              <a:lnSpc>
                <a:spcPct val="110000"/>
              </a:lnSpc>
              <a:spcBef>
                <a:spcPct val="0"/>
              </a:spcBef>
            </a:pPr>
            <a:r>
              <a:rPr lang="vi-VN" sz="2000" b="1" dirty="0">
                <a:solidFill>
                  <a:schemeClr val="tx2">
                    <a:lumMod val="90000"/>
                    <a:lumOff val="10000"/>
                  </a:schemeClr>
                </a:solidFill>
                <a:latin typeface="Aptos" panose="020B0004020202020204" pitchFamily="34" charset="0"/>
                <a:ea typeface="+mj-ea"/>
                <a:cs typeface="+mj-cs"/>
              </a:rPr>
              <a:t>Mô hình CR-RSMA </a:t>
            </a:r>
            <a:r>
              <a:rPr lang="vi-VN" sz="2000" b="1" dirty="0" err="1">
                <a:solidFill>
                  <a:schemeClr val="tx2">
                    <a:lumMod val="90000"/>
                    <a:lumOff val="10000"/>
                  </a:schemeClr>
                </a:solidFill>
                <a:latin typeface="Aptos" panose="020B0004020202020204" pitchFamily="34" charset="0"/>
                <a:ea typeface="+mj-ea"/>
                <a:cs typeface="+mj-cs"/>
              </a:rPr>
              <a:t>Uplink</a:t>
            </a:r>
            <a:r>
              <a:rPr lang="vi-VN" sz="2000" b="1" dirty="0">
                <a:solidFill>
                  <a:schemeClr val="tx2">
                    <a:lumMod val="90000"/>
                    <a:lumOff val="10000"/>
                  </a:schemeClr>
                </a:solidFill>
                <a:latin typeface="Aptos" panose="020B0004020202020204" pitchFamily="34" charset="0"/>
                <a:ea typeface="+mj-ea"/>
                <a:cs typeface="+mj-cs"/>
              </a:rPr>
              <a:t> SVC</a:t>
            </a:r>
            <a:endParaRPr lang="en-US" sz="2000" b="1" dirty="0">
              <a:solidFill>
                <a:schemeClr val="tx2">
                  <a:lumMod val="90000"/>
                  <a:lumOff val="10000"/>
                </a:schemeClr>
              </a:solidFill>
              <a:latin typeface="Aptos" panose="020B0004020202020204" pitchFamily="34" charset="0"/>
              <a:ea typeface="+mj-ea"/>
              <a:cs typeface="+mj-cs"/>
            </a:endParaRPr>
          </a:p>
        </p:txBody>
      </p:sp>
      <p:pic>
        <p:nvPicPr>
          <p:cNvPr id="2" name="Picture 1">
            <a:extLst>
              <a:ext uri="{FF2B5EF4-FFF2-40B4-BE49-F238E27FC236}">
                <a16:creationId xmlns:a16="http://schemas.microsoft.com/office/drawing/2014/main" id="{6977AFD6-43C7-25B8-A846-3FB16F2866E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8649" y="1490130"/>
            <a:ext cx="7989571" cy="4308309"/>
          </a:xfrm>
          <a:prstGeom prst="rect">
            <a:avLst/>
          </a:prstGeom>
        </p:spPr>
      </p:pic>
    </p:spTree>
    <p:extLst>
      <p:ext uri="{BB962C8B-B14F-4D97-AF65-F5344CB8AC3E}">
        <p14:creationId xmlns:p14="http://schemas.microsoft.com/office/powerpoint/2010/main" val="1090163989"/>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47531-1BE5-A1D1-B3CA-CC12A377D15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243876E-D123-2A7E-9319-FF946A4F888B}"/>
              </a:ext>
            </a:extLst>
          </p:cNvPr>
          <p:cNvSpPr>
            <a:spLocks noGrp="1"/>
          </p:cNvSpPr>
          <p:nvPr>
            <p:ph type="sldNum" sz="quarter" idx="12"/>
          </p:nvPr>
        </p:nvSpPr>
        <p:spPr/>
        <p:txBody>
          <a:bodyPr/>
          <a:lstStyle/>
          <a:p>
            <a:fld id="{AE3E3AF4-E56C-405D-90D1-F29A6618B350}" type="slidenum">
              <a:rPr lang="vi-VN" smtClean="0"/>
              <a:pPr/>
              <a:t>10</a:t>
            </a:fld>
            <a:endParaRPr lang="vi-VN" dirty="0"/>
          </a:p>
        </p:txBody>
      </p:sp>
      <p:sp>
        <p:nvSpPr>
          <p:cNvPr id="6" name="Title 1">
            <a:extLst>
              <a:ext uri="{FF2B5EF4-FFF2-40B4-BE49-F238E27FC236}">
                <a16:creationId xmlns:a16="http://schemas.microsoft.com/office/drawing/2014/main" id="{A8804D57-95DA-F0A9-332A-7B743D0314EE}"/>
              </a:ext>
            </a:extLst>
          </p:cNvPr>
          <p:cNvSpPr>
            <a:spLocks noGrp="1"/>
          </p:cNvSpPr>
          <p:nvPr>
            <p:ph type="title"/>
          </p:nvPr>
        </p:nvSpPr>
        <p:spPr>
          <a:xfrm>
            <a:off x="628649" y="301048"/>
            <a:ext cx="4575527" cy="594541"/>
          </a:xfrm>
        </p:spPr>
        <p:txBody>
          <a:bodyPr>
            <a:noAutofit/>
          </a:bodyPr>
          <a:lstStyle/>
          <a:p>
            <a:r>
              <a:rPr lang="vi-VN" sz="3000" dirty="0">
                <a:latin typeface="Aptos" panose="020B0004020202020204" pitchFamily="34" charset="0"/>
              </a:rPr>
              <a:t>MÔ HÌNH VÀ GIẢI THUẬT</a:t>
            </a:r>
          </a:p>
        </p:txBody>
      </p:sp>
      <p:sp>
        <p:nvSpPr>
          <p:cNvPr id="7" name="TextBox 6">
            <a:extLst>
              <a:ext uri="{FF2B5EF4-FFF2-40B4-BE49-F238E27FC236}">
                <a16:creationId xmlns:a16="http://schemas.microsoft.com/office/drawing/2014/main" id="{9D47DBBF-DD3E-E365-E441-11BAA703A302}"/>
              </a:ext>
            </a:extLst>
          </p:cNvPr>
          <p:cNvSpPr txBox="1"/>
          <p:nvPr/>
        </p:nvSpPr>
        <p:spPr>
          <a:xfrm>
            <a:off x="628650" y="895589"/>
            <a:ext cx="3943349" cy="41729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defTabSz="914400">
              <a:lnSpc>
                <a:spcPct val="110000"/>
              </a:lnSpc>
              <a:spcBef>
                <a:spcPct val="0"/>
              </a:spcBef>
            </a:pPr>
            <a:r>
              <a:rPr lang="vi-VN" sz="2000" b="1" dirty="0">
                <a:solidFill>
                  <a:schemeClr val="tx2">
                    <a:lumMod val="90000"/>
                    <a:lumOff val="10000"/>
                  </a:schemeClr>
                </a:solidFill>
                <a:latin typeface="Aptos" panose="020B0004020202020204" pitchFamily="34" charset="0"/>
                <a:ea typeface="+mj-ea"/>
                <a:cs typeface="+mj-cs"/>
              </a:rPr>
              <a:t>Bài toán tối ưu </a:t>
            </a:r>
            <a:r>
              <a:rPr lang="vi-VN" sz="2000" b="1" dirty="0" err="1">
                <a:solidFill>
                  <a:schemeClr val="tx2">
                    <a:lumMod val="90000"/>
                    <a:lumOff val="10000"/>
                  </a:schemeClr>
                </a:solidFill>
                <a:latin typeface="Aptos" panose="020B0004020202020204" pitchFamily="34" charset="0"/>
                <a:ea typeface="+mj-ea"/>
                <a:cs typeface="+mj-cs"/>
              </a:rPr>
              <a:t>Max</a:t>
            </a:r>
            <a:r>
              <a:rPr lang="vi-VN" sz="2000" b="1" dirty="0">
                <a:solidFill>
                  <a:schemeClr val="tx2">
                    <a:lumMod val="90000"/>
                    <a:lumOff val="10000"/>
                  </a:schemeClr>
                </a:solidFill>
                <a:latin typeface="Aptos" panose="020B0004020202020204" pitchFamily="34" charset="0"/>
                <a:ea typeface="+mj-ea"/>
                <a:cs typeface="+mj-cs"/>
              </a:rPr>
              <a:t>-min </a:t>
            </a:r>
            <a:r>
              <a:rPr lang="vi-VN" sz="2000" b="1" dirty="0" err="1">
                <a:solidFill>
                  <a:schemeClr val="tx2">
                    <a:lumMod val="90000"/>
                    <a:lumOff val="10000"/>
                  </a:schemeClr>
                </a:solidFill>
                <a:latin typeface="Aptos" panose="020B0004020202020204" pitchFamily="34" charset="0"/>
                <a:ea typeface="+mj-ea"/>
                <a:cs typeface="+mj-cs"/>
              </a:rPr>
              <a:t>Fairness</a:t>
            </a:r>
            <a:endParaRPr lang="en-US" sz="2000" b="1" dirty="0">
              <a:solidFill>
                <a:schemeClr val="tx2">
                  <a:lumMod val="90000"/>
                  <a:lumOff val="10000"/>
                </a:schemeClr>
              </a:solidFill>
              <a:latin typeface="Aptos" panose="020B0004020202020204" pitchFamily="34" charset="0"/>
              <a:ea typeface="+mj-ea"/>
              <a:cs typeface="+mj-cs"/>
            </a:endParaRPr>
          </a:p>
        </p:txBody>
      </p:sp>
      <p:sp>
        <p:nvSpPr>
          <p:cNvPr id="5" name="TextBox 4">
            <a:extLst>
              <a:ext uri="{FF2B5EF4-FFF2-40B4-BE49-F238E27FC236}">
                <a16:creationId xmlns:a16="http://schemas.microsoft.com/office/drawing/2014/main" id="{8713E251-F7AF-A32F-4532-B1EBC07FC1B9}"/>
              </a:ext>
            </a:extLst>
          </p:cNvPr>
          <p:cNvSpPr txBox="1"/>
          <p:nvPr/>
        </p:nvSpPr>
        <p:spPr>
          <a:xfrm>
            <a:off x="624625" y="1584044"/>
            <a:ext cx="4583574" cy="1015663"/>
          </a:xfrm>
          <a:prstGeom prst="rect">
            <a:avLst/>
          </a:prstGeom>
          <a:noFill/>
        </p:spPr>
        <p:txBody>
          <a:bodyPr wrap="square">
            <a:spAutoFit/>
          </a:bodyPr>
          <a:lstStyle/>
          <a:p>
            <a:pPr algn="just" rtl="0">
              <a:buNone/>
            </a:pPr>
            <a:r>
              <a:rPr lang="vi-VN" sz="1500" b="1" i="0" u="none" strike="noStrike" dirty="0">
                <a:solidFill>
                  <a:srgbClr val="000000"/>
                </a:solidFill>
                <a:effectLst/>
                <a:latin typeface="Times New Roman" panose="02020603050405020304" pitchFamily="18" charset="0"/>
                <a:cs typeface="Times New Roman" panose="02020603050405020304" pitchFamily="18" charset="0"/>
              </a:rPr>
              <a:t>Định nghĩa:</a:t>
            </a:r>
            <a:r>
              <a:rPr lang="vi-VN" sz="1500" b="0" i="0" u="none" strike="noStrike" dirty="0">
                <a:solidFill>
                  <a:srgbClr val="000000"/>
                </a:solidFill>
                <a:effectLst/>
                <a:latin typeface="Times New Roman" panose="02020603050405020304" pitchFamily="18" charset="0"/>
                <a:cs typeface="Times New Roman" panose="02020603050405020304" pitchFamily="18" charset="0"/>
              </a:rPr>
              <a:t> Một phân bổ được gọi là </a:t>
            </a:r>
            <a:r>
              <a:rPr lang="vi-VN" sz="1500" b="0" i="0" u="none" strike="noStrike" dirty="0" err="1">
                <a:solidFill>
                  <a:srgbClr val="000000"/>
                </a:solidFill>
                <a:effectLst/>
                <a:latin typeface="Times New Roman" panose="02020603050405020304" pitchFamily="18" charset="0"/>
                <a:cs typeface="Times New Roman" panose="02020603050405020304" pitchFamily="18" charset="0"/>
              </a:rPr>
              <a:t>max</a:t>
            </a:r>
            <a:r>
              <a:rPr lang="vi-VN" sz="1500" b="0" i="0" u="none" strike="noStrike" dirty="0">
                <a:solidFill>
                  <a:srgbClr val="000000"/>
                </a:solidFill>
                <a:effectLst/>
                <a:latin typeface="Times New Roman" panose="02020603050405020304" pitchFamily="18" charset="0"/>
                <a:cs typeface="Times New Roman" panose="02020603050405020304" pitchFamily="18" charset="0"/>
              </a:rPr>
              <a:t>-min </a:t>
            </a:r>
            <a:r>
              <a:rPr lang="vi-VN" sz="1500" b="0" i="0" u="none" strike="noStrike" dirty="0" err="1">
                <a:solidFill>
                  <a:srgbClr val="000000"/>
                </a:solidFill>
                <a:effectLst/>
                <a:latin typeface="Times New Roman" panose="02020603050405020304" pitchFamily="18" charset="0"/>
                <a:cs typeface="Times New Roman" panose="02020603050405020304" pitchFamily="18" charset="0"/>
              </a:rPr>
              <a:t>fair</a:t>
            </a:r>
            <a:r>
              <a:rPr lang="vi-VN" sz="1500" b="0" i="0" u="none" strike="noStrike" dirty="0">
                <a:solidFill>
                  <a:srgbClr val="000000"/>
                </a:solidFill>
                <a:effectLst/>
                <a:latin typeface="Times New Roman" panose="02020603050405020304" pitchFamily="18" charset="0"/>
                <a:cs typeface="Times New Roman" panose="02020603050405020304" pitchFamily="18" charset="0"/>
              </a:rPr>
              <a:t> nếu bất kỳ nỗ lực tăng tài nguyên cho một người dùng nào đó đều buộc phải làm giảm tài nguyên của một người dùng khác có mức phân bổ bằng hoặc nhỏ hơn. </a:t>
            </a:r>
            <a:endParaRPr lang="vi-VN" sz="1500" b="0" dirty="0">
              <a:effectLst/>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2E317E5D-8585-80DF-44BA-957579EE4D05}"/>
              </a:ext>
            </a:extLst>
          </p:cNvPr>
          <p:cNvPicPr>
            <a:picLocks noChangeAspect="1"/>
          </p:cNvPicPr>
          <p:nvPr/>
        </p:nvPicPr>
        <p:blipFill>
          <a:blip r:embed="rId3">
            <a:extLst>
              <a:ext uri="{28A0092B-C50C-407E-A947-70E740481C1C}">
                <a14:useLocalDpi xmlns:a14="http://schemas.microsoft.com/office/drawing/2010/main" val="0"/>
              </a:ext>
            </a:extLst>
          </a:blip>
          <a:srcRect t="11414"/>
          <a:stretch>
            <a:fillRect/>
          </a:stretch>
        </p:blipFill>
        <p:spPr>
          <a:xfrm>
            <a:off x="624625" y="2794000"/>
            <a:ext cx="6290525" cy="3342142"/>
          </a:xfrm>
          <a:prstGeom prst="rect">
            <a:avLst/>
          </a:prstGeom>
        </p:spPr>
      </p:pic>
    </p:spTree>
    <p:extLst>
      <p:ext uri="{BB962C8B-B14F-4D97-AF65-F5344CB8AC3E}">
        <p14:creationId xmlns:p14="http://schemas.microsoft.com/office/powerpoint/2010/main" val="1692024277"/>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CD304-A4A1-603E-EF5B-91FD2CB2F10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FCA53AD-1A0E-CD72-EBC5-A34E42A390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364539" y="995423"/>
            <a:ext cx="4288484" cy="5360607"/>
          </a:xfrm>
          <a:prstGeom prst="rect">
            <a:avLst/>
          </a:prstGeom>
          <a:noFill/>
          <a:ln>
            <a:noFill/>
          </a:ln>
        </p:spPr>
      </p:pic>
      <p:sp>
        <p:nvSpPr>
          <p:cNvPr id="4" name="Slide Number Placeholder 3">
            <a:extLst>
              <a:ext uri="{FF2B5EF4-FFF2-40B4-BE49-F238E27FC236}">
                <a16:creationId xmlns:a16="http://schemas.microsoft.com/office/drawing/2014/main" id="{77D937B8-A40E-5F13-AF57-B17513D4830C}"/>
              </a:ext>
            </a:extLst>
          </p:cNvPr>
          <p:cNvSpPr>
            <a:spLocks noGrp="1"/>
          </p:cNvSpPr>
          <p:nvPr>
            <p:ph type="sldNum" sz="quarter" idx="12"/>
          </p:nvPr>
        </p:nvSpPr>
        <p:spPr>
          <a:xfrm>
            <a:off x="8439849" y="6510757"/>
            <a:ext cx="562062" cy="365125"/>
          </a:xfrm>
        </p:spPr>
        <p:txBody>
          <a:bodyPr vert="horz" lIns="91440" tIns="45720" rIns="91440" bIns="45720" rtlCol="0" anchor="ctr">
            <a:normAutofit/>
          </a:bodyPr>
          <a:lstStyle/>
          <a:p>
            <a:pPr>
              <a:lnSpc>
                <a:spcPct val="90000"/>
              </a:lnSpc>
              <a:spcAft>
                <a:spcPts val="600"/>
              </a:spcAft>
            </a:pPr>
            <a:fld id="{AE3E3AF4-E56C-405D-90D1-F29A6618B350}" type="slidenum">
              <a:rPr lang="vi-VN" sz="1900" smtClean="0"/>
              <a:pPr>
                <a:lnSpc>
                  <a:spcPct val="90000"/>
                </a:lnSpc>
                <a:spcAft>
                  <a:spcPts val="600"/>
                </a:spcAft>
              </a:pPr>
              <a:t>11</a:t>
            </a:fld>
            <a:endParaRPr lang="vi-VN" sz="1900"/>
          </a:p>
        </p:txBody>
      </p:sp>
      <p:sp>
        <p:nvSpPr>
          <p:cNvPr id="8" name="TextBox 7">
            <a:extLst>
              <a:ext uri="{FF2B5EF4-FFF2-40B4-BE49-F238E27FC236}">
                <a16:creationId xmlns:a16="http://schemas.microsoft.com/office/drawing/2014/main" id="{2EB5DE2D-E2DD-C407-255E-6D9BA09CC8D3}"/>
              </a:ext>
            </a:extLst>
          </p:cNvPr>
          <p:cNvSpPr txBox="1"/>
          <p:nvPr/>
        </p:nvSpPr>
        <p:spPr>
          <a:xfrm>
            <a:off x="5061993" y="2706230"/>
            <a:ext cx="3377856" cy="1938992"/>
          </a:xfrm>
          <a:prstGeom prst="rect">
            <a:avLst/>
          </a:prstGeom>
          <a:noFill/>
        </p:spPr>
        <p:txBody>
          <a:bodyPr wrap="square">
            <a:spAutoFit/>
          </a:bodyPr>
          <a:lstStyle/>
          <a:p>
            <a:pPr algn="just"/>
            <a:r>
              <a:rPr lang="vi-VN" sz="1500" dirty="0">
                <a:latin typeface="Times New Roman" panose="02020603050405020304" pitchFamily="18" charset="0"/>
                <a:cs typeface="Times New Roman" panose="02020603050405020304" pitchFamily="18" charset="0"/>
              </a:rPr>
              <a:t>Để giải bài toán phi lồi vừa nêu, khóa luận áp dụng phương pháp </a:t>
            </a:r>
            <a:r>
              <a:rPr lang="vi-VN" sz="1500" dirty="0" err="1">
                <a:latin typeface="Times New Roman" panose="02020603050405020304" pitchFamily="18" charset="0"/>
                <a:cs typeface="Times New Roman" panose="02020603050405020304" pitchFamily="18" charset="0"/>
              </a:rPr>
              <a:t>Successive</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Convex</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Approximation</a:t>
            </a:r>
            <a:r>
              <a:rPr lang="vi-VN" sz="1500" dirty="0">
                <a:latin typeface="Times New Roman" panose="02020603050405020304" pitchFamily="18" charset="0"/>
                <a:cs typeface="Times New Roman" panose="02020603050405020304" pitchFamily="18" charset="0"/>
              </a:rPr>
              <a:t> — viết tắt là SCA. Ý tưởng cốt lõi là xấp xỉ hàm mục tiêu phi lồi bằng một hàm lồi tại mỗi vòng lặp, giải bài toán lồi đó, rồi cập nhật điểm xấp xỉ và lặp lại cho đến khi hội tụ.</a:t>
            </a:r>
          </a:p>
          <a:p>
            <a:pPr algn="just"/>
            <a:endParaRPr lang="vi-VN" sz="1500" dirty="0">
              <a:latin typeface="Times New Roman" panose="02020603050405020304" pitchFamily="18" charset="0"/>
              <a:cs typeface="Times New Roman" panose="02020603050405020304" pitchFamily="18" charset="0"/>
            </a:endParaRPr>
          </a:p>
        </p:txBody>
      </p:sp>
      <p:sp>
        <p:nvSpPr>
          <p:cNvPr id="11" name="Title 1">
            <a:extLst>
              <a:ext uri="{FF2B5EF4-FFF2-40B4-BE49-F238E27FC236}">
                <a16:creationId xmlns:a16="http://schemas.microsoft.com/office/drawing/2014/main" id="{7EADADDD-0D1A-6B44-24F2-0C580C092DA9}"/>
              </a:ext>
            </a:extLst>
          </p:cNvPr>
          <p:cNvSpPr txBox="1">
            <a:spLocks/>
          </p:cNvSpPr>
          <p:nvPr/>
        </p:nvSpPr>
        <p:spPr>
          <a:xfrm>
            <a:off x="364539" y="306468"/>
            <a:ext cx="4545234" cy="6889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3200" b="1" kern="1200">
                <a:solidFill>
                  <a:schemeClr val="tx2">
                    <a:lumMod val="90000"/>
                    <a:lumOff val="10000"/>
                  </a:schemeClr>
                </a:solidFill>
                <a:latin typeface="+mj-lt"/>
                <a:ea typeface="+mj-ea"/>
                <a:cs typeface="+mj-cs"/>
              </a:defRPr>
            </a:lvl1pPr>
          </a:lstStyle>
          <a:p>
            <a:r>
              <a:rPr lang="en-US" sz="3000" dirty="0">
                <a:latin typeface="+mn-lt"/>
              </a:rPr>
              <a:t>MÔ HÌNH VÀ GIẢI THUẬT</a:t>
            </a:r>
          </a:p>
        </p:txBody>
      </p:sp>
    </p:spTree>
    <p:extLst>
      <p:ext uri="{BB962C8B-B14F-4D97-AF65-F5344CB8AC3E}">
        <p14:creationId xmlns:p14="http://schemas.microsoft.com/office/powerpoint/2010/main" val="99402845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29AE9-9130-0D00-929C-49F3AC7F5933}"/>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3D5E0593-2BC3-528B-F760-2BE0D1A80CC3}"/>
              </a:ext>
            </a:extLst>
          </p:cNvPr>
          <p:cNvSpPr>
            <a:spLocks noGrp="1"/>
          </p:cNvSpPr>
          <p:nvPr>
            <p:ph type="title"/>
          </p:nvPr>
        </p:nvSpPr>
        <p:spPr>
          <a:xfrm>
            <a:off x="364539" y="306468"/>
            <a:ext cx="4288484" cy="688955"/>
          </a:xfrm>
        </p:spPr>
        <p:txBody>
          <a:bodyPr vert="horz" lIns="91440" tIns="45720" rIns="91440" bIns="45720" rtlCol="0" anchor="ctr">
            <a:normAutofit/>
          </a:bodyPr>
          <a:lstStyle/>
          <a:p>
            <a:r>
              <a:rPr lang="vi-VN" sz="3000" b="1" kern="1200" dirty="0">
                <a:latin typeface="Aptos" panose="020B0004020202020204" pitchFamily="34" charset="0"/>
              </a:rPr>
              <a:t>KẾT QUẢ VÀ ĐÁNH GIÁ</a:t>
            </a:r>
            <a:endParaRPr lang="en-US" sz="3000" b="1" kern="1200" dirty="0">
              <a:latin typeface="Aptos" panose="020B0004020202020204" pitchFamily="34" charset="0"/>
            </a:endParaRPr>
          </a:p>
        </p:txBody>
      </p:sp>
      <p:sp>
        <p:nvSpPr>
          <p:cNvPr id="4" name="Slide Number Placeholder 3">
            <a:extLst>
              <a:ext uri="{FF2B5EF4-FFF2-40B4-BE49-F238E27FC236}">
                <a16:creationId xmlns:a16="http://schemas.microsoft.com/office/drawing/2014/main" id="{EB3E9775-4EA1-86AE-CCE2-50C596AE3F6C}"/>
              </a:ext>
            </a:extLst>
          </p:cNvPr>
          <p:cNvSpPr>
            <a:spLocks noGrp="1"/>
          </p:cNvSpPr>
          <p:nvPr>
            <p:ph type="sldNum" sz="quarter" idx="12"/>
          </p:nvPr>
        </p:nvSpPr>
        <p:spPr>
          <a:xfrm>
            <a:off x="8439849" y="6510757"/>
            <a:ext cx="562062" cy="365125"/>
          </a:xfrm>
        </p:spPr>
        <p:txBody>
          <a:bodyPr vert="horz" lIns="91440" tIns="45720" rIns="91440" bIns="45720" rtlCol="0" anchor="ctr">
            <a:normAutofit/>
          </a:bodyPr>
          <a:lstStyle/>
          <a:p>
            <a:pPr>
              <a:lnSpc>
                <a:spcPct val="90000"/>
              </a:lnSpc>
              <a:spcAft>
                <a:spcPts val="600"/>
              </a:spcAft>
            </a:pPr>
            <a:fld id="{AE3E3AF4-E56C-405D-90D1-F29A6618B350}" type="slidenum">
              <a:rPr lang="vi-VN" sz="1900" smtClean="0"/>
              <a:pPr>
                <a:lnSpc>
                  <a:spcPct val="90000"/>
                </a:lnSpc>
                <a:spcAft>
                  <a:spcPts val="600"/>
                </a:spcAft>
              </a:pPr>
              <a:t>12</a:t>
            </a:fld>
            <a:endParaRPr lang="vi-VN" sz="1900"/>
          </a:p>
        </p:txBody>
      </p:sp>
      <mc:AlternateContent xmlns:mc="http://schemas.openxmlformats.org/markup-compatibility/2006">
        <mc:Choice xmlns:a14="http://schemas.microsoft.com/office/drawing/2010/main" Requires="a14">
          <p:graphicFrame>
            <p:nvGraphicFramePr>
              <p:cNvPr id="2" name="Table 1">
                <a:extLst>
                  <a:ext uri="{FF2B5EF4-FFF2-40B4-BE49-F238E27FC236}">
                    <a16:creationId xmlns:a16="http://schemas.microsoft.com/office/drawing/2014/main" id="{CD1F7D05-4737-3C9A-52E5-6C03B7D10438}"/>
                  </a:ext>
                </a:extLst>
              </p:cNvPr>
              <p:cNvGraphicFramePr>
                <a:graphicFrameLocks noGrp="1"/>
              </p:cNvGraphicFramePr>
              <p:nvPr>
                <p:extLst>
                  <p:ext uri="{D42A27DB-BD31-4B8C-83A1-F6EECF244321}">
                    <p14:modId xmlns:p14="http://schemas.microsoft.com/office/powerpoint/2010/main" val="2402116375"/>
                  </p:ext>
                </p:extLst>
              </p:nvPr>
            </p:nvGraphicFramePr>
            <p:xfrm>
              <a:off x="364539" y="1546444"/>
              <a:ext cx="8075311" cy="4317144"/>
            </p:xfrm>
            <a:graphic>
              <a:graphicData uri="http://schemas.openxmlformats.org/drawingml/2006/table">
                <a:tbl>
                  <a:tblPr firstRow="1" firstCol="1" bandRow="1">
                    <a:tableStyleId>{5C22544A-7EE6-4342-B048-85BDC9FD1C3A}</a:tableStyleId>
                  </a:tblPr>
                  <a:tblGrid>
                    <a:gridCol w="3194499">
                      <a:extLst>
                        <a:ext uri="{9D8B030D-6E8A-4147-A177-3AD203B41FA5}">
                          <a16:colId xmlns:a16="http://schemas.microsoft.com/office/drawing/2014/main" val="2309778301"/>
                        </a:ext>
                      </a:extLst>
                    </a:gridCol>
                    <a:gridCol w="2172766">
                      <a:extLst>
                        <a:ext uri="{9D8B030D-6E8A-4147-A177-3AD203B41FA5}">
                          <a16:colId xmlns:a16="http://schemas.microsoft.com/office/drawing/2014/main" val="3623473566"/>
                        </a:ext>
                      </a:extLst>
                    </a:gridCol>
                    <a:gridCol w="2708046">
                      <a:extLst>
                        <a:ext uri="{9D8B030D-6E8A-4147-A177-3AD203B41FA5}">
                          <a16:colId xmlns:a16="http://schemas.microsoft.com/office/drawing/2014/main" val="3243695736"/>
                        </a:ext>
                      </a:extLst>
                    </a:gridCol>
                  </a:tblGrid>
                  <a:tr h="258445">
                    <a:tc>
                      <a:txBody>
                        <a:bodyPr/>
                        <a:lstStyle/>
                        <a:p>
                          <a:pPr algn="ctr">
                            <a:buNone/>
                          </a:pPr>
                          <a:r>
                            <a:rPr lang="en-US" sz="1500" dirty="0">
                              <a:effectLst/>
                              <a:latin typeface="Times New Roman" panose="02020603050405020304" pitchFamily="18" charset="0"/>
                              <a:cs typeface="Times New Roman" panose="02020603050405020304" pitchFamily="18" charset="0"/>
                            </a:rPr>
                            <a:t>Thông </a:t>
                          </a:r>
                          <a:r>
                            <a:rPr lang="en-US" sz="1500" dirty="0" err="1">
                              <a:effectLst/>
                              <a:latin typeface="Times New Roman" panose="02020603050405020304" pitchFamily="18" charset="0"/>
                              <a:cs typeface="Times New Roman" panose="02020603050405020304" pitchFamily="18" charset="0"/>
                            </a:rPr>
                            <a:t>số</a:t>
                          </a:r>
                          <a:endParaRPr lang="vi-VN" sz="1500" dirty="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vi-VN" sz="1500">
                              <a:effectLst/>
                              <a:latin typeface="Times New Roman" panose="02020603050405020304" pitchFamily="18" charset="0"/>
                              <a:cs typeface="Times New Roman" panose="02020603050405020304" pitchFamily="18" charset="0"/>
                            </a:rPr>
                            <a:t>Giá trị</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Ghi chú</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1695431140"/>
                      </a:ext>
                    </a:extLst>
                  </a:tr>
                  <a:tr h="506311">
                    <a:tc>
                      <a:txBody>
                        <a:bodyPr/>
                        <a:lstStyle/>
                        <a:p>
                          <a:pPr algn="ctr">
                            <a:buNone/>
                          </a:pPr>
                          <a:r>
                            <a:rPr lang="en-US" sz="1500" dirty="0" err="1">
                              <a:effectLst/>
                              <a:latin typeface="Times New Roman" panose="02020603050405020304" pitchFamily="18" charset="0"/>
                              <a:cs typeface="Times New Roman" panose="02020603050405020304" pitchFamily="18" charset="0"/>
                            </a:rPr>
                            <a:t>Băng</a:t>
                          </a:r>
                          <a:r>
                            <a:rPr lang="en-US" sz="1500" dirty="0">
                              <a:effectLst/>
                              <a:latin typeface="Times New Roman" panose="02020603050405020304" pitchFamily="18" charset="0"/>
                              <a:cs typeface="Times New Roman" panose="02020603050405020304" pitchFamily="18" charset="0"/>
                            </a:rPr>
                            <a:t> </a:t>
                          </a:r>
                          <a:r>
                            <a:rPr lang="en-US" sz="1500" dirty="0" err="1">
                              <a:effectLst/>
                              <a:latin typeface="Times New Roman" panose="02020603050405020304" pitchFamily="18" charset="0"/>
                              <a:cs typeface="Times New Roman" panose="02020603050405020304" pitchFamily="18" charset="0"/>
                            </a:rPr>
                            <a:t>thông</a:t>
                          </a:r>
                          <a:r>
                            <a:rPr lang="en-US" sz="1500" dirty="0">
                              <a:effectLst/>
                              <a:latin typeface="Times New Roman" panose="02020603050405020304" pitchFamily="18" charset="0"/>
                              <a:cs typeface="Times New Roman" panose="02020603050405020304" pitchFamily="18" charset="0"/>
                            </a:rPr>
                            <a:t> </a:t>
                          </a:r>
                          <a:r>
                            <a:rPr lang="en-US" sz="1500" dirty="0" err="1">
                              <a:effectLst/>
                              <a:latin typeface="Times New Roman" panose="02020603050405020304" pitchFamily="18" charset="0"/>
                              <a:cs typeface="Times New Roman" panose="02020603050405020304" pitchFamily="18" charset="0"/>
                            </a:rPr>
                            <a:t>hệ</a:t>
                          </a:r>
                          <a:r>
                            <a:rPr lang="en-US" sz="1500" dirty="0">
                              <a:effectLst/>
                              <a:latin typeface="Times New Roman" panose="02020603050405020304" pitchFamily="18" charset="0"/>
                              <a:cs typeface="Times New Roman" panose="02020603050405020304" pitchFamily="18" charset="0"/>
                            </a:rPr>
                            <a:t> </a:t>
                          </a:r>
                          <a:r>
                            <a:rPr lang="en-US" sz="1500" dirty="0" err="1">
                              <a:effectLst/>
                              <a:latin typeface="Times New Roman" panose="02020603050405020304" pitchFamily="18" charset="0"/>
                              <a:cs typeface="Times New Roman" panose="02020603050405020304" pitchFamily="18" charset="0"/>
                            </a:rPr>
                            <a:t>thống</a:t>
                          </a:r>
                          <a:r>
                            <a:rPr lang="en-US" sz="1500" dirty="0">
                              <a:effectLst/>
                              <a:latin typeface="Times New Roman" panose="02020603050405020304" pitchFamily="18" charset="0"/>
                              <a:cs typeface="Times New Roman" panose="02020603050405020304" pitchFamily="18" charset="0"/>
                            </a:rPr>
                            <a:t> B</a:t>
                          </a:r>
                          <a:endParaRPr lang="vi-VN" sz="1500" dirty="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140 kHz</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dirty="0">
                              <a:effectLst/>
                              <a:latin typeface="Times New Roman" panose="02020603050405020304" pitchFamily="18" charset="0"/>
                              <a:cs typeface="Times New Roman" panose="02020603050405020304" pitchFamily="18" charset="0"/>
                            </a:rPr>
                            <a:t>QCIF SVC</a:t>
                          </a:r>
                          <a:endParaRPr lang="vi-VN" sz="1500" dirty="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4190168805"/>
                      </a:ext>
                    </a:extLst>
                  </a:tr>
                  <a:tr h="482779">
                    <a:tc>
                      <a:txBody>
                        <a:bodyPr/>
                        <a:lstStyle/>
                        <a:p>
                          <a:pPr algn="ctr">
                            <a:buNone/>
                          </a:pPr>
                          <a:r>
                            <a:rPr lang="en-US" sz="1500" dirty="0">
                              <a:effectLst/>
                              <a:latin typeface="Times New Roman" panose="02020603050405020304" pitchFamily="18" charset="0"/>
                              <a:cs typeface="Times New Roman" panose="02020603050405020304" pitchFamily="18" charset="0"/>
                            </a:rPr>
                            <a:t>Công </a:t>
                          </a:r>
                          <a:r>
                            <a:rPr lang="en-US" sz="1500" dirty="0" err="1">
                              <a:effectLst/>
                              <a:latin typeface="Times New Roman" panose="02020603050405020304" pitchFamily="18" charset="0"/>
                              <a:cs typeface="Times New Roman" panose="02020603050405020304" pitchFamily="18" charset="0"/>
                            </a:rPr>
                            <a:t>suất</a:t>
                          </a:r>
                          <a:r>
                            <a:rPr lang="en-US" sz="1500" dirty="0">
                              <a:effectLst/>
                              <a:latin typeface="Times New Roman" panose="02020603050405020304" pitchFamily="18" charset="0"/>
                              <a:cs typeface="Times New Roman" panose="02020603050405020304" pitchFamily="18" charset="0"/>
                            </a:rPr>
                            <a:t> </a:t>
                          </a:r>
                          <a:r>
                            <a:rPr lang="en-US" sz="1500" dirty="0" err="1">
                              <a:effectLst/>
                              <a:latin typeface="Times New Roman" panose="02020603050405020304" pitchFamily="18" charset="0"/>
                              <a:cs typeface="Times New Roman" panose="02020603050405020304" pitchFamily="18" charset="0"/>
                            </a:rPr>
                            <a:t>tối</a:t>
                          </a:r>
                          <a:r>
                            <a:rPr lang="en-US" sz="1500" dirty="0">
                              <a:effectLst/>
                              <a:latin typeface="Times New Roman" panose="02020603050405020304" pitchFamily="18" charset="0"/>
                              <a:cs typeface="Times New Roman" panose="02020603050405020304" pitchFamily="18" charset="0"/>
                            </a:rPr>
                            <a:t> </a:t>
                          </a:r>
                          <a:r>
                            <a:rPr lang="en-US" sz="1500" dirty="0" err="1">
                              <a:effectLst/>
                              <a:latin typeface="Times New Roman" panose="02020603050405020304" pitchFamily="18" charset="0"/>
                              <a:cs typeface="Times New Roman" panose="02020603050405020304" pitchFamily="18" charset="0"/>
                            </a:rPr>
                            <a:t>đa</a:t>
                          </a:r>
                          <a:r>
                            <a:rPr lang="en-US" sz="1500" dirty="0">
                              <a:effectLst/>
                              <a:latin typeface="Times New Roman" panose="02020603050405020304" pitchFamily="18" charset="0"/>
                              <a:cs typeface="Times New Roman" panose="02020603050405020304" pitchFamily="18" charset="0"/>
                            </a:rPr>
                            <a:t> </a:t>
                          </a:r>
                          <a:br>
                            <a:rPr lang="vi-VN" sz="1500" dirty="0">
                              <a:effectLst/>
                              <a:latin typeface="Times New Roman" panose="02020603050405020304" pitchFamily="18" charset="0"/>
                              <a:cs typeface="Times New Roman" panose="02020603050405020304" pitchFamily="18" charset="0"/>
                            </a:rPr>
                          </a:br>
                          <a14:m>
                            <m:oMath xmlns:m="http://schemas.openxmlformats.org/officeDocument/2006/math">
                              <m:sSub>
                                <m:sSubPr>
                                  <m:ctrlPr>
                                    <a:rPr lang="vi-VN" sz="1500">
                                      <a:effectLst/>
                                    </a:rPr>
                                  </m:ctrlPr>
                                </m:sSubPr>
                                <m:e>
                                  <m:r>
                                    <a:rPr lang="vi-VN" sz="1500">
                                      <a:effectLst/>
                                    </a:rPr>
                                    <m:t>𝑃</m:t>
                                  </m:r>
                                </m:e>
                                <m:sub>
                                  <m:r>
                                    <a:rPr lang="vi-VN" sz="1500">
                                      <a:effectLst/>
                                    </a:rPr>
                                    <m:t>𝑠</m:t>
                                  </m:r>
                                  <m:r>
                                    <a:rPr lang="vi-VN" sz="1500">
                                      <a:effectLst/>
                                    </a:rPr>
                                    <m:t>,</m:t>
                                  </m:r>
                                  <m:r>
                                    <m:rPr>
                                      <m:sty m:val="p"/>
                                    </m:rPr>
                                    <a:rPr lang="vi-VN" sz="1500">
                                      <a:effectLst/>
                                    </a:rPr>
                                    <m:t>max</m:t>
                                  </m:r>
                                </m:sub>
                              </m:sSub>
                            </m:oMath>
                          </a14:m>
                          <a:r>
                            <a:rPr lang="en-US" sz="1500" dirty="0">
                              <a:effectLst/>
                              <a:latin typeface="Times New Roman" panose="02020603050405020304" pitchFamily="18" charset="0"/>
                              <a:cs typeface="Times New Roman" panose="02020603050405020304" pitchFamily="18" charset="0"/>
                            </a:rPr>
                            <a:t>, </a:t>
                          </a:r>
                          <a14:m>
                            <m:oMath xmlns:m="http://schemas.openxmlformats.org/officeDocument/2006/math">
                              <m:sSub>
                                <m:sSubPr>
                                  <m:ctrlPr>
                                    <a:rPr lang="vi-VN" sz="1500">
                                      <a:effectLst/>
                                    </a:rPr>
                                  </m:ctrlPr>
                                </m:sSubPr>
                                <m:e>
                                  <m:r>
                                    <a:rPr lang="vi-VN" sz="1500">
                                      <a:effectLst/>
                                    </a:rPr>
                                    <m:t>𝑃</m:t>
                                  </m:r>
                                </m:e>
                                <m:sub>
                                  <m:r>
                                    <a:rPr lang="vi-VN" sz="1500">
                                      <a:effectLst/>
                                    </a:rPr>
                                    <m:t>𝑝</m:t>
                                  </m:r>
                                  <m:r>
                                    <a:rPr lang="vi-VN" sz="1500">
                                      <a:effectLst/>
                                    </a:rPr>
                                    <m:t>,</m:t>
                                  </m:r>
                                  <m:r>
                                    <m:rPr>
                                      <m:sty m:val="p"/>
                                    </m:rPr>
                                    <a:rPr lang="vi-VN" sz="1500">
                                      <a:effectLst/>
                                    </a:rPr>
                                    <m:t>max</m:t>
                                  </m:r>
                                </m:sub>
                              </m:sSub>
                            </m:oMath>
                          </a14:m>
                          <a:endParaRPr lang="vi-VN" sz="1500" dirty="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1 W (0 dBW)</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Chuẩn hóa</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3861652125"/>
                      </a:ext>
                    </a:extLst>
                  </a:tr>
                  <a:tr h="506311">
                    <a:tc>
                      <a:txBody>
                        <a:bodyPr/>
                        <a:lstStyle/>
                        <a:p>
                          <a:pPr algn="ctr">
                            <a:buNone/>
                          </a:pPr>
                          <a:r>
                            <a:rPr lang="en-US" sz="1500" dirty="0">
                              <a:effectLst/>
                              <a:latin typeface="Times New Roman" panose="02020603050405020304" pitchFamily="18" charset="0"/>
                              <a:cs typeface="Times New Roman" panose="02020603050405020304" pitchFamily="18" charset="0"/>
                            </a:rPr>
                            <a:t>SNR range</a:t>
                          </a:r>
                          <a:endParaRPr lang="vi-VN" sz="1500" dirty="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dirty="0">
                              <a:effectLst/>
                              <a:latin typeface="Times New Roman" panose="02020603050405020304" pitchFamily="18" charset="0"/>
                              <a:cs typeface="Times New Roman" panose="02020603050405020304" pitchFamily="18" charset="0"/>
                            </a:rPr>
                            <a:t>0 – 30 dB, </a:t>
                          </a:r>
                          <a:r>
                            <a:rPr lang="en-US" sz="1500" dirty="0" err="1">
                              <a:effectLst/>
                              <a:latin typeface="Times New Roman" panose="02020603050405020304" pitchFamily="18" charset="0"/>
                              <a:cs typeface="Times New Roman" panose="02020603050405020304" pitchFamily="18" charset="0"/>
                            </a:rPr>
                            <a:t>bước</a:t>
                          </a:r>
                          <a:r>
                            <a:rPr lang="en-US" sz="1500" dirty="0">
                              <a:effectLst/>
                              <a:latin typeface="Times New Roman" panose="02020603050405020304" pitchFamily="18" charset="0"/>
                              <a:cs typeface="Times New Roman" panose="02020603050405020304" pitchFamily="18" charset="0"/>
                            </a:rPr>
                            <a:t> 2 dB</a:t>
                          </a:r>
                          <a:endParaRPr lang="vi-VN" sz="1500" dirty="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16 điểm</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2254201156"/>
                      </a:ext>
                    </a:extLst>
                  </a:tr>
                  <a:tr h="516892">
                    <a:tc>
                      <a:txBody>
                        <a:bodyPr/>
                        <a:lstStyle/>
                        <a:p>
                          <a:pPr algn="ctr">
                            <a:buNone/>
                          </a:pPr>
                          <a14:m>
                            <m:oMath xmlns:m="http://schemas.openxmlformats.org/officeDocument/2006/math">
                              <m:sSub>
                                <m:sSubPr>
                                  <m:ctrlPr>
                                    <a:rPr lang="vi-VN" sz="1500">
                                      <a:effectLst/>
                                    </a:rPr>
                                  </m:ctrlPr>
                                </m:sSubPr>
                                <m:e>
                                  <m:r>
                                    <a:rPr lang="vi-VN" sz="1500">
                                      <a:effectLst/>
                                    </a:rPr>
                                    <m:t>𝐼</m:t>
                                  </m:r>
                                </m:e>
                                <m:sub>
                                  <m:r>
                                    <m:rPr>
                                      <m:nor/>
                                    </m:rPr>
                                    <a:rPr lang="vi-VN" sz="1500">
                                      <a:effectLst/>
                                      <a:latin typeface="Times New Roman" panose="02020603050405020304" pitchFamily="18" charset="0"/>
                                      <a:cs typeface="Times New Roman" panose="02020603050405020304" pitchFamily="18" charset="0"/>
                                    </a:rPr>
                                    <m:t>th</m:t>
                                  </m:r>
                                </m:sub>
                              </m:sSub>
                            </m:oMath>
                          </a14:m>
                          <a:r>
                            <a:rPr lang="en-US" sz="1500">
                              <a:effectLst/>
                              <a:latin typeface="Times New Roman" panose="02020603050405020304" pitchFamily="18" charset="0"/>
                              <a:cs typeface="Times New Roman" panose="02020603050405020304" pitchFamily="18" charset="0"/>
                            </a:rPr>
                            <a:t> range</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0.05 – 1.0 W, 15 điểm</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SNR cố định 20 dB</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3054997291"/>
                      </a:ext>
                    </a:extLst>
                  </a:tr>
                  <a:tr h="516892">
                    <a:tc>
                      <a:txBody>
                        <a:bodyPr/>
                        <a:lstStyle/>
                        <a:p>
                          <a:pPr algn="ctr">
                            <a:buNone/>
                          </a:pPr>
                          <a:r>
                            <a:rPr lang="en-US" sz="1500">
                              <a:effectLst/>
                              <a:latin typeface="Times New Roman" panose="02020603050405020304" pitchFamily="18" charset="0"/>
                              <a:cs typeface="Times New Roman" panose="02020603050405020304" pitchFamily="18" charset="0"/>
                            </a:rPr>
                            <a:t>K range</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K = {2, 3, 4, 5, 6}</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SNR = 20 dB</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2823245537"/>
                      </a:ext>
                    </a:extLst>
                  </a:tr>
                  <a:tr h="506311">
                    <a:tc>
                      <a:txBody>
                        <a:bodyPr/>
                        <a:lstStyle/>
                        <a:p>
                          <a:pPr algn="ctr">
                            <a:buNone/>
                          </a:pPr>
                          <a:r>
                            <a:rPr lang="en-US" sz="1500">
                              <a:effectLst/>
                              <a:latin typeface="Times New Roman" panose="02020603050405020304" pitchFamily="18" charset="0"/>
                              <a:cs typeface="Times New Roman" panose="02020603050405020304" pitchFamily="18" charset="0"/>
                            </a:rPr>
                            <a:t>Số thực hiện Monte Carlo</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N_real = 200</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Seed ngẫu nhiên</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101654292"/>
                      </a:ext>
                    </a:extLst>
                  </a:tr>
                  <a:tr h="516892">
                    <a:tc>
                      <a:txBody>
                        <a:bodyPr/>
                        <a:lstStyle/>
                        <a:p>
                          <a:pPr algn="ctr">
                            <a:buNone/>
                          </a:pPr>
                          <a:r>
                            <a:rPr lang="en-US" sz="1500">
                              <a:effectLst/>
                              <a:latin typeface="Times New Roman" panose="02020603050405020304" pitchFamily="18" charset="0"/>
                              <a:cs typeface="Times New Roman" panose="02020603050405020304" pitchFamily="18" charset="0"/>
                            </a:rPr>
                            <a:t>Cấu hình SVC</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4 lớp: BL+EL1+EL2+EL3</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QP={40,34,28,22}</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263629090"/>
                      </a:ext>
                    </a:extLst>
                  </a:tr>
                  <a:tr h="506311">
                    <a:tc>
                      <a:txBody>
                        <a:bodyPr/>
                        <a:lstStyle/>
                        <a:p>
                          <a:pPr algn="ctr">
                            <a:buNone/>
                          </a:pPr>
                          <a:r>
                            <a:rPr lang="en-US" sz="1500">
                              <a:effectLst/>
                              <a:latin typeface="Times New Roman" panose="02020603050405020304" pitchFamily="18" charset="0"/>
                              <a:cs typeface="Times New Roman" panose="02020603050405020304" pitchFamily="18" charset="0"/>
                            </a:rPr>
                            <a:t>Phương pháp so sánh</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CR-RSMA vs CR-NOMA</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dirty="0" err="1">
                              <a:effectLst/>
                              <a:latin typeface="Times New Roman" panose="02020603050405020304" pitchFamily="18" charset="0"/>
                              <a:cs typeface="Times New Roman" panose="02020603050405020304" pitchFamily="18" charset="0"/>
                            </a:rPr>
                            <a:t>Cùng</a:t>
                          </a:r>
                          <a:r>
                            <a:rPr lang="en-US" sz="1500" dirty="0">
                              <a:effectLst/>
                              <a:latin typeface="Times New Roman" panose="02020603050405020304" pitchFamily="18" charset="0"/>
                              <a:cs typeface="Times New Roman" panose="02020603050405020304" pitchFamily="18" charset="0"/>
                            </a:rPr>
                            <a:t> </a:t>
                          </a:r>
                          <a:r>
                            <a:rPr lang="en-US" sz="1500" dirty="0" err="1">
                              <a:effectLst/>
                              <a:latin typeface="Times New Roman" panose="02020603050405020304" pitchFamily="18" charset="0"/>
                              <a:cs typeface="Times New Roman" panose="02020603050405020304" pitchFamily="18" charset="0"/>
                            </a:rPr>
                            <a:t>điều</a:t>
                          </a:r>
                          <a:r>
                            <a:rPr lang="en-US" sz="1500" dirty="0">
                              <a:effectLst/>
                              <a:latin typeface="Times New Roman" panose="02020603050405020304" pitchFamily="18" charset="0"/>
                              <a:cs typeface="Times New Roman" panose="02020603050405020304" pitchFamily="18" charset="0"/>
                            </a:rPr>
                            <a:t> </a:t>
                          </a:r>
                          <a:r>
                            <a:rPr lang="en-US" sz="1500" dirty="0" err="1">
                              <a:effectLst/>
                              <a:latin typeface="Times New Roman" panose="02020603050405020304" pitchFamily="18" charset="0"/>
                              <a:cs typeface="Times New Roman" panose="02020603050405020304" pitchFamily="18" charset="0"/>
                            </a:rPr>
                            <a:t>kiện</a:t>
                          </a:r>
                          <a:r>
                            <a:rPr lang="en-US" sz="1500" dirty="0">
                              <a:effectLst/>
                              <a:latin typeface="Times New Roman" panose="02020603050405020304" pitchFamily="18" charset="0"/>
                              <a:cs typeface="Times New Roman" panose="02020603050405020304" pitchFamily="18" charset="0"/>
                            </a:rPr>
                            <a:t> </a:t>
                          </a:r>
                          <a:r>
                            <a:rPr lang="en-US" sz="1500" dirty="0" err="1">
                              <a:effectLst/>
                              <a:latin typeface="Times New Roman" panose="02020603050405020304" pitchFamily="18" charset="0"/>
                              <a:cs typeface="Times New Roman" panose="02020603050405020304" pitchFamily="18" charset="0"/>
                            </a:rPr>
                            <a:t>kênh</a:t>
                          </a:r>
                          <a:endParaRPr lang="vi-VN" sz="1500" dirty="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4052602311"/>
                      </a:ext>
                    </a:extLst>
                  </a:tr>
                </a:tbl>
              </a:graphicData>
            </a:graphic>
          </p:graphicFrame>
        </mc:Choice>
        <mc:Fallback>
          <p:graphicFrame>
            <p:nvGraphicFramePr>
              <p:cNvPr id="2" name="Table 1">
                <a:extLst>
                  <a:ext uri="{FF2B5EF4-FFF2-40B4-BE49-F238E27FC236}">
                    <a16:creationId xmlns:a16="http://schemas.microsoft.com/office/drawing/2014/main" id="{CD1F7D05-4737-3C9A-52E5-6C03B7D10438}"/>
                  </a:ext>
                </a:extLst>
              </p:cNvPr>
              <p:cNvGraphicFramePr>
                <a:graphicFrameLocks noGrp="1"/>
              </p:cNvGraphicFramePr>
              <p:nvPr>
                <p:extLst>
                  <p:ext uri="{D42A27DB-BD31-4B8C-83A1-F6EECF244321}">
                    <p14:modId xmlns:p14="http://schemas.microsoft.com/office/powerpoint/2010/main" val="2402116375"/>
                  </p:ext>
                </p:extLst>
              </p:nvPr>
            </p:nvGraphicFramePr>
            <p:xfrm>
              <a:off x="364539" y="1546444"/>
              <a:ext cx="8075311" cy="4317144"/>
            </p:xfrm>
            <a:graphic>
              <a:graphicData uri="http://schemas.openxmlformats.org/drawingml/2006/table">
                <a:tbl>
                  <a:tblPr firstRow="1" firstCol="1" bandRow="1">
                    <a:tableStyleId>{5C22544A-7EE6-4342-B048-85BDC9FD1C3A}</a:tableStyleId>
                  </a:tblPr>
                  <a:tblGrid>
                    <a:gridCol w="3194499">
                      <a:extLst>
                        <a:ext uri="{9D8B030D-6E8A-4147-A177-3AD203B41FA5}">
                          <a16:colId xmlns:a16="http://schemas.microsoft.com/office/drawing/2014/main" val="2309778301"/>
                        </a:ext>
                      </a:extLst>
                    </a:gridCol>
                    <a:gridCol w="2172766">
                      <a:extLst>
                        <a:ext uri="{9D8B030D-6E8A-4147-A177-3AD203B41FA5}">
                          <a16:colId xmlns:a16="http://schemas.microsoft.com/office/drawing/2014/main" val="3623473566"/>
                        </a:ext>
                      </a:extLst>
                    </a:gridCol>
                    <a:gridCol w="2708046">
                      <a:extLst>
                        <a:ext uri="{9D8B030D-6E8A-4147-A177-3AD203B41FA5}">
                          <a16:colId xmlns:a16="http://schemas.microsoft.com/office/drawing/2014/main" val="3243695736"/>
                        </a:ext>
                      </a:extLst>
                    </a:gridCol>
                  </a:tblGrid>
                  <a:tr h="258445">
                    <a:tc>
                      <a:txBody>
                        <a:bodyPr/>
                        <a:lstStyle/>
                        <a:p>
                          <a:pPr algn="ctr">
                            <a:buNone/>
                          </a:pPr>
                          <a:r>
                            <a:rPr lang="en-US" sz="1500" dirty="0">
                              <a:effectLst/>
                              <a:latin typeface="Times New Roman" panose="02020603050405020304" pitchFamily="18" charset="0"/>
                              <a:cs typeface="Times New Roman" panose="02020603050405020304" pitchFamily="18" charset="0"/>
                            </a:rPr>
                            <a:t>Thông </a:t>
                          </a:r>
                          <a:r>
                            <a:rPr lang="en-US" sz="1500" dirty="0" err="1">
                              <a:effectLst/>
                              <a:latin typeface="Times New Roman" panose="02020603050405020304" pitchFamily="18" charset="0"/>
                              <a:cs typeface="Times New Roman" panose="02020603050405020304" pitchFamily="18" charset="0"/>
                            </a:rPr>
                            <a:t>số</a:t>
                          </a:r>
                          <a:endParaRPr lang="vi-VN" sz="1500" dirty="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vi-VN" sz="1500">
                              <a:effectLst/>
                              <a:latin typeface="Times New Roman" panose="02020603050405020304" pitchFamily="18" charset="0"/>
                              <a:cs typeface="Times New Roman" panose="02020603050405020304" pitchFamily="18" charset="0"/>
                            </a:rPr>
                            <a:t>Giá trị</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Ghi chú</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1695431140"/>
                      </a:ext>
                    </a:extLst>
                  </a:tr>
                  <a:tr h="506311">
                    <a:tc>
                      <a:txBody>
                        <a:bodyPr/>
                        <a:lstStyle/>
                        <a:p>
                          <a:pPr algn="ctr">
                            <a:buNone/>
                          </a:pPr>
                          <a:r>
                            <a:rPr lang="en-US" sz="1500" dirty="0" err="1">
                              <a:effectLst/>
                              <a:latin typeface="Times New Roman" panose="02020603050405020304" pitchFamily="18" charset="0"/>
                              <a:cs typeface="Times New Roman" panose="02020603050405020304" pitchFamily="18" charset="0"/>
                            </a:rPr>
                            <a:t>Băng</a:t>
                          </a:r>
                          <a:r>
                            <a:rPr lang="en-US" sz="1500" dirty="0">
                              <a:effectLst/>
                              <a:latin typeface="Times New Roman" panose="02020603050405020304" pitchFamily="18" charset="0"/>
                              <a:cs typeface="Times New Roman" panose="02020603050405020304" pitchFamily="18" charset="0"/>
                            </a:rPr>
                            <a:t> </a:t>
                          </a:r>
                          <a:r>
                            <a:rPr lang="en-US" sz="1500" dirty="0" err="1">
                              <a:effectLst/>
                              <a:latin typeface="Times New Roman" panose="02020603050405020304" pitchFamily="18" charset="0"/>
                              <a:cs typeface="Times New Roman" panose="02020603050405020304" pitchFamily="18" charset="0"/>
                            </a:rPr>
                            <a:t>thông</a:t>
                          </a:r>
                          <a:r>
                            <a:rPr lang="en-US" sz="1500" dirty="0">
                              <a:effectLst/>
                              <a:latin typeface="Times New Roman" panose="02020603050405020304" pitchFamily="18" charset="0"/>
                              <a:cs typeface="Times New Roman" panose="02020603050405020304" pitchFamily="18" charset="0"/>
                            </a:rPr>
                            <a:t> </a:t>
                          </a:r>
                          <a:r>
                            <a:rPr lang="en-US" sz="1500" dirty="0" err="1">
                              <a:effectLst/>
                              <a:latin typeface="Times New Roman" panose="02020603050405020304" pitchFamily="18" charset="0"/>
                              <a:cs typeface="Times New Roman" panose="02020603050405020304" pitchFamily="18" charset="0"/>
                            </a:rPr>
                            <a:t>hệ</a:t>
                          </a:r>
                          <a:r>
                            <a:rPr lang="en-US" sz="1500" dirty="0">
                              <a:effectLst/>
                              <a:latin typeface="Times New Roman" panose="02020603050405020304" pitchFamily="18" charset="0"/>
                              <a:cs typeface="Times New Roman" panose="02020603050405020304" pitchFamily="18" charset="0"/>
                            </a:rPr>
                            <a:t> </a:t>
                          </a:r>
                          <a:r>
                            <a:rPr lang="en-US" sz="1500" dirty="0" err="1">
                              <a:effectLst/>
                              <a:latin typeface="Times New Roman" panose="02020603050405020304" pitchFamily="18" charset="0"/>
                              <a:cs typeface="Times New Roman" panose="02020603050405020304" pitchFamily="18" charset="0"/>
                            </a:rPr>
                            <a:t>thống</a:t>
                          </a:r>
                          <a:r>
                            <a:rPr lang="en-US" sz="1500" dirty="0">
                              <a:effectLst/>
                              <a:latin typeface="Times New Roman" panose="02020603050405020304" pitchFamily="18" charset="0"/>
                              <a:cs typeface="Times New Roman" panose="02020603050405020304" pitchFamily="18" charset="0"/>
                            </a:rPr>
                            <a:t> B</a:t>
                          </a:r>
                          <a:endParaRPr lang="vi-VN" sz="1500" dirty="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140 kHz</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dirty="0">
                              <a:effectLst/>
                              <a:latin typeface="Times New Roman" panose="02020603050405020304" pitchFamily="18" charset="0"/>
                              <a:cs typeface="Times New Roman" panose="02020603050405020304" pitchFamily="18" charset="0"/>
                            </a:rPr>
                            <a:t>QCIF SVC</a:t>
                          </a:r>
                          <a:endParaRPr lang="vi-VN" sz="1500" dirty="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4190168805"/>
                      </a:ext>
                    </a:extLst>
                  </a:tr>
                  <a:tr h="482779">
                    <a:tc>
                      <a:txBody>
                        <a:bodyPr/>
                        <a:lstStyle/>
                        <a:p>
                          <a:endParaRPr lang="vi-VN"/>
                        </a:p>
                      </a:txBody>
                      <a:tcPr marL="68580" marR="68580" marT="0" marB="0">
                        <a:blipFill>
                          <a:blip r:embed="rId3"/>
                          <a:stretch>
                            <a:fillRect l="-190" t="-170886" r="-153333" b="-640506"/>
                          </a:stretch>
                        </a:blipFill>
                      </a:tcPr>
                    </a:tc>
                    <a:tc>
                      <a:txBody>
                        <a:bodyPr/>
                        <a:lstStyle/>
                        <a:p>
                          <a:pPr algn="ctr">
                            <a:buNone/>
                          </a:pPr>
                          <a:r>
                            <a:rPr lang="en-US" sz="1500">
                              <a:effectLst/>
                              <a:latin typeface="Times New Roman" panose="02020603050405020304" pitchFamily="18" charset="0"/>
                              <a:cs typeface="Times New Roman" panose="02020603050405020304" pitchFamily="18" charset="0"/>
                            </a:rPr>
                            <a:t>1 W (0 dBW)</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Chuẩn hóa</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3861652125"/>
                      </a:ext>
                    </a:extLst>
                  </a:tr>
                  <a:tr h="506311">
                    <a:tc>
                      <a:txBody>
                        <a:bodyPr/>
                        <a:lstStyle/>
                        <a:p>
                          <a:pPr algn="ctr">
                            <a:buNone/>
                          </a:pPr>
                          <a:r>
                            <a:rPr lang="en-US" sz="1500" dirty="0">
                              <a:effectLst/>
                              <a:latin typeface="Times New Roman" panose="02020603050405020304" pitchFamily="18" charset="0"/>
                              <a:cs typeface="Times New Roman" panose="02020603050405020304" pitchFamily="18" charset="0"/>
                            </a:rPr>
                            <a:t>SNR range</a:t>
                          </a:r>
                          <a:endParaRPr lang="vi-VN" sz="1500" dirty="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dirty="0">
                              <a:effectLst/>
                              <a:latin typeface="Times New Roman" panose="02020603050405020304" pitchFamily="18" charset="0"/>
                              <a:cs typeface="Times New Roman" panose="02020603050405020304" pitchFamily="18" charset="0"/>
                            </a:rPr>
                            <a:t>0 – 30 dB, </a:t>
                          </a:r>
                          <a:r>
                            <a:rPr lang="en-US" sz="1500" dirty="0" err="1">
                              <a:effectLst/>
                              <a:latin typeface="Times New Roman" panose="02020603050405020304" pitchFamily="18" charset="0"/>
                              <a:cs typeface="Times New Roman" panose="02020603050405020304" pitchFamily="18" charset="0"/>
                            </a:rPr>
                            <a:t>bước</a:t>
                          </a:r>
                          <a:r>
                            <a:rPr lang="en-US" sz="1500" dirty="0">
                              <a:effectLst/>
                              <a:latin typeface="Times New Roman" panose="02020603050405020304" pitchFamily="18" charset="0"/>
                              <a:cs typeface="Times New Roman" panose="02020603050405020304" pitchFamily="18" charset="0"/>
                            </a:rPr>
                            <a:t> 2 dB</a:t>
                          </a:r>
                          <a:endParaRPr lang="vi-VN" sz="1500" dirty="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16 điểm</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2254201156"/>
                      </a:ext>
                    </a:extLst>
                  </a:tr>
                  <a:tr h="516892">
                    <a:tc>
                      <a:txBody>
                        <a:bodyPr/>
                        <a:lstStyle/>
                        <a:p>
                          <a:endParaRPr lang="vi-VN"/>
                        </a:p>
                      </a:txBody>
                      <a:tcPr marL="68580" marR="68580" marT="0" marB="0">
                        <a:blipFill>
                          <a:blip r:embed="rId3"/>
                          <a:stretch>
                            <a:fillRect l="-190" t="-349412" r="-153333" b="-397647"/>
                          </a:stretch>
                        </a:blipFill>
                      </a:tcPr>
                    </a:tc>
                    <a:tc>
                      <a:txBody>
                        <a:bodyPr/>
                        <a:lstStyle/>
                        <a:p>
                          <a:pPr algn="ctr">
                            <a:buNone/>
                          </a:pPr>
                          <a:r>
                            <a:rPr lang="en-US" sz="1500">
                              <a:effectLst/>
                              <a:latin typeface="Times New Roman" panose="02020603050405020304" pitchFamily="18" charset="0"/>
                              <a:cs typeface="Times New Roman" panose="02020603050405020304" pitchFamily="18" charset="0"/>
                            </a:rPr>
                            <a:t>0.05 – 1.0 W, 15 điểm</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SNR cố định 20 dB</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3054997291"/>
                      </a:ext>
                    </a:extLst>
                  </a:tr>
                  <a:tr h="516892">
                    <a:tc>
                      <a:txBody>
                        <a:bodyPr/>
                        <a:lstStyle/>
                        <a:p>
                          <a:pPr algn="ctr">
                            <a:buNone/>
                          </a:pPr>
                          <a:r>
                            <a:rPr lang="en-US" sz="1500">
                              <a:effectLst/>
                              <a:latin typeface="Times New Roman" panose="02020603050405020304" pitchFamily="18" charset="0"/>
                              <a:cs typeface="Times New Roman" panose="02020603050405020304" pitchFamily="18" charset="0"/>
                            </a:rPr>
                            <a:t>K range</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K = {2, 3, 4, 5, 6}</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SNR = 20 dB</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2823245537"/>
                      </a:ext>
                    </a:extLst>
                  </a:tr>
                  <a:tr h="506311">
                    <a:tc>
                      <a:txBody>
                        <a:bodyPr/>
                        <a:lstStyle/>
                        <a:p>
                          <a:pPr algn="ctr">
                            <a:buNone/>
                          </a:pPr>
                          <a:r>
                            <a:rPr lang="en-US" sz="1500">
                              <a:effectLst/>
                              <a:latin typeface="Times New Roman" panose="02020603050405020304" pitchFamily="18" charset="0"/>
                              <a:cs typeface="Times New Roman" panose="02020603050405020304" pitchFamily="18" charset="0"/>
                            </a:rPr>
                            <a:t>Số thực hiện Monte Carlo</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N_real = 200</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Seed ngẫu nhiên</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101654292"/>
                      </a:ext>
                    </a:extLst>
                  </a:tr>
                  <a:tr h="516892">
                    <a:tc>
                      <a:txBody>
                        <a:bodyPr/>
                        <a:lstStyle/>
                        <a:p>
                          <a:pPr algn="ctr">
                            <a:buNone/>
                          </a:pPr>
                          <a:r>
                            <a:rPr lang="en-US" sz="1500">
                              <a:effectLst/>
                              <a:latin typeface="Times New Roman" panose="02020603050405020304" pitchFamily="18" charset="0"/>
                              <a:cs typeface="Times New Roman" panose="02020603050405020304" pitchFamily="18" charset="0"/>
                            </a:rPr>
                            <a:t>Cấu hình SVC</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4 lớp: BL+EL1+EL2+EL3</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QP={40,34,28,22}</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263629090"/>
                      </a:ext>
                    </a:extLst>
                  </a:tr>
                  <a:tr h="506311">
                    <a:tc>
                      <a:txBody>
                        <a:bodyPr/>
                        <a:lstStyle/>
                        <a:p>
                          <a:pPr algn="ctr">
                            <a:buNone/>
                          </a:pPr>
                          <a:r>
                            <a:rPr lang="en-US" sz="1500">
                              <a:effectLst/>
                              <a:latin typeface="Times New Roman" panose="02020603050405020304" pitchFamily="18" charset="0"/>
                              <a:cs typeface="Times New Roman" panose="02020603050405020304" pitchFamily="18" charset="0"/>
                            </a:rPr>
                            <a:t>Phương pháp so sánh</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a:effectLst/>
                              <a:latin typeface="Times New Roman" panose="02020603050405020304" pitchFamily="18" charset="0"/>
                              <a:cs typeface="Times New Roman" panose="02020603050405020304" pitchFamily="18" charset="0"/>
                            </a:rPr>
                            <a:t>CR-RSMA vs CR-NOMA</a:t>
                          </a:r>
                          <a:endParaRPr lang="vi-VN" sz="150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tc>
                      <a:txBody>
                        <a:bodyPr/>
                        <a:lstStyle/>
                        <a:p>
                          <a:pPr algn="ctr">
                            <a:buNone/>
                          </a:pPr>
                          <a:r>
                            <a:rPr lang="en-US" sz="1500" dirty="0" err="1">
                              <a:effectLst/>
                              <a:latin typeface="Times New Roman" panose="02020603050405020304" pitchFamily="18" charset="0"/>
                              <a:cs typeface="Times New Roman" panose="02020603050405020304" pitchFamily="18" charset="0"/>
                            </a:rPr>
                            <a:t>Cùng</a:t>
                          </a:r>
                          <a:r>
                            <a:rPr lang="en-US" sz="1500" dirty="0">
                              <a:effectLst/>
                              <a:latin typeface="Times New Roman" panose="02020603050405020304" pitchFamily="18" charset="0"/>
                              <a:cs typeface="Times New Roman" panose="02020603050405020304" pitchFamily="18" charset="0"/>
                            </a:rPr>
                            <a:t> </a:t>
                          </a:r>
                          <a:r>
                            <a:rPr lang="en-US" sz="1500" dirty="0" err="1">
                              <a:effectLst/>
                              <a:latin typeface="Times New Roman" panose="02020603050405020304" pitchFamily="18" charset="0"/>
                              <a:cs typeface="Times New Roman" panose="02020603050405020304" pitchFamily="18" charset="0"/>
                            </a:rPr>
                            <a:t>điều</a:t>
                          </a:r>
                          <a:r>
                            <a:rPr lang="en-US" sz="1500" dirty="0">
                              <a:effectLst/>
                              <a:latin typeface="Times New Roman" panose="02020603050405020304" pitchFamily="18" charset="0"/>
                              <a:cs typeface="Times New Roman" panose="02020603050405020304" pitchFamily="18" charset="0"/>
                            </a:rPr>
                            <a:t> </a:t>
                          </a:r>
                          <a:r>
                            <a:rPr lang="en-US" sz="1500" dirty="0" err="1">
                              <a:effectLst/>
                              <a:latin typeface="Times New Roman" panose="02020603050405020304" pitchFamily="18" charset="0"/>
                              <a:cs typeface="Times New Roman" panose="02020603050405020304" pitchFamily="18" charset="0"/>
                            </a:rPr>
                            <a:t>kiện</a:t>
                          </a:r>
                          <a:r>
                            <a:rPr lang="en-US" sz="1500" dirty="0">
                              <a:effectLst/>
                              <a:latin typeface="Times New Roman" panose="02020603050405020304" pitchFamily="18" charset="0"/>
                              <a:cs typeface="Times New Roman" panose="02020603050405020304" pitchFamily="18" charset="0"/>
                            </a:rPr>
                            <a:t> </a:t>
                          </a:r>
                          <a:r>
                            <a:rPr lang="en-US" sz="1500" dirty="0" err="1">
                              <a:effectLst/>
                              <a:latin typeface="Times New Roman" panose="02020603050405020304" pitchFamily="18" charset="0"/>
                              <a:cs typeface="Times New Roman" panose="02020603050405020304" pitchFamily="18" charset="0"/>
                            </a:rPr>
                            <a:t>kênh</a:t>
                          </a:r>
                          <a:endParaRPr lang="vi-VN" sz="1500" dirty="0">
                            <a:effectLst/>
                            <a:latin typeface="Times New Roman" panose="02020603050405020304" pitchFamily="18" charset="0"/>
                            <a:ea typeface="SimSun" panose="02010600030101010101" pitchFamily="2" charset="-122"/>
                            <a:cs typeface="Times New Roman" panose="02020603050405020304" pitchFamily="18" charset="0"/>
                          </a:endParaRPr>
                        </a:p>
                      </a:txBody>
                      <a:tcPr marL="68580" marR="68580" marT="0" marB="0"/>
                    </a:tc>
                    <a:extLst>
                      <a:ext uri="{0D108BD9-81ED-4DB2-BD59-A6C34878D82A}">
                        <a16:rowId xmlns:a16="http://schemas.microsoft.com/office/drawing/2014/main" val="4052602311"/>
                      </a:ext>
                    </a:extLst>
                  </a:tr>
                </a:tbl>
              </a:graphicData>
            </a:graphic>
          </p:graphicFrame>
        </mc:Fallback>
      </mc:AlternateContent>
      <p:sp>
        <p:nvSpPr>
          <p:cNvPr id="5" name="TextBox 4">
            <a:extLst>
              <a:ext uri="{FF2B5EF4-FFF2-40B4-BE49-F238E27FC236}">
                <a16:creationId xmlns:a16="http://schemas.microsoft.com/office/drawing/2014/main" id="{C32D3DEA-7C3E-6D55-6367-A226BD62E8E2}"/>
              </a:ext>
            </a:extLst>
          </p:cNvPr>
          <p:cNvSpPr txBox="1"/>
          <p:nvPr/>
        </p:nvSpPr>
        <p:spPr>
          <a:xfrm>
            <a:off x="364539" y="857489"/>
            <a:ext cx="2515821" cy="41729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defTabSz="914400">
              <a:lnSpc>
                <a:spcPct val="110000"/>
              </a:lnSpc>
              <a:spcBef>
                <a:spcPct val="0"/>
              </a:spcBef>
            </a:pPr>
            <a:r>
              <a:rPr lang="vi-VN" sz="2000" b="1">
                <a:solidFill>
                  <a:schemeClr val="tx2">
                    <a:lumMod val="90000"/>
                    <a:lumOff val="10000"/>
                  </a:schemeClr>
                </a:solidFill>
                <a:latin typeface="Aptos" panose="020B0004020202020204" pitchFamily="34" charset="0"/>
                <a:ea typeface="+mj-ea"/>
                <a:cs typeface="+mj-cs"/>
              </a:rPr>
              <a:t>Thông số mô phỏng</a:t>
            </a:r>
            <a:endParaRPr lang="en-US" sz="2000" b="1" dirty="0">
              <a:solidFill>
                <a:schemeClr val="tx2">
                  <a:lumMod val="90000"/>
                  <a:lumOff val="10000"/>
                </a:schemeClr>
              </a:solidFill>
              <a:latin typeface="Aptos" panose="020B0004020202020204" pitchFamily="34" charset="0"/>
              <a:ea typeface="+mj-ea"/>
              <a:cs typeface="+mj-cs"/>
            </a:endParaRPr>
          </a:p>
        </p:txBody>
      </p:sp>
    </p:spTree>
    <p:extLst>
      <p:ext uri="{BB962C8B-B14F-4D97-AF65-F5344CB8AC3E}">
        <p14:creationId xmlns:p14="http://schemas.microsoft.com/office/powerpoint/2010/main" val="4097824757"/>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214A42-4946-826E-65F5-D68F25AD045C}"/>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5CD406C3-924C-EA45-7F86-3991185F0586}"/>
              </a:ext>
            </a:extLst>
          </p:cNvPr>
          <p:cNvSpPr>
            <a:spLocks noGrp="1"/>
          </p:cNvSpPr>
          <p:nvPr>
            <p:ph type="title"/>
          </p:nvPr>
        </p:nvSpPr>
        <p:spPr>
          <a:xfrm>
            <a:off x="364539" y="306468"/>
            <a:ext cx="4288484" cy="688955"/>
          </a:xfrm>
        </p:spPr>
        <p:txBody>
          <a:bodyPr vert="horz" lIns="91440" tIns="45720" rIns="91440" bIns="45720" rtlCol="0" anchor="ctr">
            <a:normAutofit/>
          </a:bodyPr>
          <a:lstStyle/>
          <a:p>
            <a:r>
              <a:rPr lang="vi-VN" sz="3000" b="1" kern="1200" dirty="0">
                <a:latin typeface="Aptos" panose="020B0004020202020204" pitchFamily="34" charset="0"/>
              </a:rPr>
              <a:t>KẾT QUẢ VÀ ĐÁNH GIÁ</a:t>
            </a:r>
            <a:endParaRPr lang="en-US" sz="3000" b="1" kern="1200" dirty="0">
              <a:latin typeface="Aptos" panose="020B0004020202020204" pitchFamily="34" charset="0"/>
            </a:endParaRPr>
          </a:p>
        </p:txBody>
      </p:sp>
      <p:sp>
        <p:nvSpPr>
          <p:cNvPr id="4" name="Slide Number Placeholder 3">
            <a:extLst>
              <a:ext uri="{FF2B5EF4-FFF2-40B4-BE49-F238E27FC236}">
                <a16:creationId xmlns:a16="http://schemas.microsoft.com/office/drawing/2014/main" id="{5335C298-6D01-B3F0-FFF0-C247B77591D9}"/>
              </a:ext>
            </a:extLst>
          </p:cNvPr>
          <p:cNvSpPr>
            <a:spLocks noGrp="1"/>
          </p:cNvSpPr>
          <p:nvPr>
            <p:ph type="sldNum" sz="quarter" idx="12"/>
          </p:nvPr>
        </p:nvSpPr>
        <p:spPr>
          <a:xfrm>
            <a:off x="8439849" y="6510757"/>
            <a:ext cx="562062" cy="365125"/>
          </a:xfrm>
        </p:spPr>
        <p:txBody>
          <a:bodyPr vert="horz" lIns="91440" tIns="45720" rIns="91440" bIns="45720" rtlCol="0" anchor="ctr">
            <a:normAutofit/>
          </a:bodyPr>
          <a:lstStyle/>
          <a:p>
            <a:pPr>
              <a:lnSpc>
                <a:spcPct val="90000"/>
              </a:lnSpc>
              <a:spcAft>
                <a:spcPts val="600"/>
              </a:spcAft>
            </a:pPr>
            <a:fld id="{AE3E3AF4-E56C-405D-90D1-F29A6618B350}" type="slidenum">
              <a:rPr lang="vi-VN" sz="1900" smtClean="0"/>
              <a:pPr>
                <a:lnSpc>
                  <a:spcPct val="90000"/>
                </a:lnSpc>
                <a:spcAft>
                  <a:spcPts val="600"/>
                </a:spcAft>
              </a:pPr>
              <a:t>13</a:t>
            </a:fld>
            <a:endParaRPr lang="vi-VN" sz="1900"/>
          </a:p>
        </p:txBody>
      </p:sp>
      <p:sp>
        <p:nvSpPr>
          <p:cNvPr id="5" name="TextBox 4">
            <a:extLst>
              <a:ext uri="{FF2B5EF4-FFF2-40B4-BE49-F238E27FC236}">
                <a16:creationId xmlns:a16="http://schemas.microsoft.com/office/drawing/2014/main" id="{B0A83AA9-33AD-C012-F325-9ADA737C1644}"/>
              </a:ext>
            </a:extLst>
          </p:cNvPr>
          <p:cNvSpPr txBox="1"/>
          <p:nvPr/>
        </p:nvSpPr>
        <p:spPr>
          <a:xfrm>
            <a:off x="364539" y="857489"/>
            <a:ext cx="2355801" cy="41729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defTabSz="914400">
              <a:lnSpc>
                <a:spcPct val="110000"/>
              </a:lnSpc>
              <a:spcBef>
                <a:spcPct val="0"/>
              </a:spcBef>
            </a:pPr>
            <a:r>
              <a:rPr lang="vi-VN" sz="2000" b="1">
                <a:solidFill>
                  <a:schemeClr val="tx2">
                    <a:lumMod val="90000"/>
                    <a:lumOff val="10000"/>
                  </a:schemeClr>
                </a:solidFill>
                <a:latin typeface="Aptos" panose="020B0004020202020204" pitchFamily="34" charset="0"/>
                <a:ea typeface="+mj-ea"/>
                <a:cs typeface="+mj-cs"/>
              </a:rPr>
              <a:t>Kết quả mô phỏng</a:t>
            </a:r>
            <a:endParaRPr lang="en-US" sz="2000" b="1" dirty="0">
              <a:solidFill>
                <a:schemeClr val="tx2">
                  <a:lumMod val="90000"/>
                  <a:lumOff val="10000"/>
                </a:schemeClr>
              </a:solidFill>
              <a:latin typeface="Aptos" panose="020B0004020202020204" pitchFamily="34" charset="0"/>
              <a:ea typeface="+mj-ea"/>
              <a:cs typeface="+mj-cs"/>
            </a:endParaRPr>
          </a:p>
        </p:txBody>
      </p:sp>
      <p:pic>
        <p:nvPicPr>
          <p:cNvPr id="8" name="Picture 7">
            <a:extLst>
              <a:ext uri="{FF2B5EF4-FFF2-40B4-BE49-F238E27FC236}">
                <a16:creationId xmlns:a16="http://schemas.microsoft.com/office/drawing/2014/main" id="{BF403088-8B91-4A0A-5147-CEC49D00A1B8}"/>
              </a:ext>
            </a:extLst>
          </p:cNvPr>
          <p:cNvPicPr>
            <a:picLocks noChangeAspect="1"/>
          </p:cNvPicPr>
          <p:nvPr/>
        </p:nvPicPr>
        <p:blipFill>
          <a:blip r:embed="rId3">
            <a:extLst>
              <a:ext uri="{28A0092B-C50C-407E-A947-70E740481C1C}">
                <a14:useLocalDpi xmlns:a14="http://schemas.microsoft.com/office/drawing/2010/main" val="0"/>
              </a:ext>
            </a:extLst>
          </a:blip>
          <a:srcRect t="9633"/>
          <a:stretch>
            <a:fillRect/>
          </a:stretch>
        </p:blipFill>
        <p:spPr>
          <a:xfrm>
            <a:off x="969256" y="1565959"/>
            <a:ext cx="7205487" cy="4434552"/>
          </a:xfrm>
          <a:prstGeom prst="rect">
            <a:avLst/>
          </a:prstGeom>
        </p:spPr>
      </p:pic>
    </p:spTree>
    <p:extLst>
      <p:ext uri="{BB962C8B-B14F-4D97-AF65-F5344CB8AC3E}">
        <p14:creationId xmlns:p14="http://schemas.microsoft.com/office/powerpoint/2010/main" val="3437107235"/>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006BD-6188-7057-8D6D-5D8D97B135CA}"/>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8367093-6BE9-1747-4157-9F69B7FE6FFF}"/>
              </a:ext>
            </a:extLst>
          </p:cNvPr>
          <p:cNvSpPr>
            <a:spLocks noGrp="1"/>
          </p:cNvSpPr>
          <p:nvPr>
            <p:ph type="title"/>
          </p:nvPr>
        </p:nvSpPr>
        <p:spPr>
          <a:xfrm>
            <a:off x="364539" y="306468"/>
            <a:ext cx="4288484" cy="688955"/>
          </a:xfrm>
        </p:spPr>
        <p:txBody>
          <a:bodyPr vert="horz" lIns="91440" tIns="45720" rIns="91440" bIns="45720" rtlCol="0" anchor="ctr">
            <a:normAutofit/>
          </a:bodyPr>
          <a:lstStyle/>
          <a:p>
            <a:r>
              <a:rPr lang="vi-VN" sz="3000" b="1" kern="1200" dirty="0">
                <a:latin typeface="Aptos" panose="020B0004020202020204" pitchFamily="34" charset="0"/>
              </a:rPr>
              <a:t>KẾT QUẢ VÀ ĐÁNH GIÁ</a:t>
            </a:r>
            <a:endParaRPr lang="en-US" sz="3000" b="1" kern="1200" dirty="0">
              <a:latin typeface="Aptos" panose="020B0004020202020204" pitchFamily="34" charset="0"/>
            </a:endParaRPr>
          </a:p>
        </p:txBody>
      </p:sp>
      <p:sp>
        <p:nvSpPr>
          <p:cNvPr id="4" name="Slide Number Placeholder 3">
            <a:extLst>
              <a:ext uri="{FF2B5EF4-FFF2-40B4-BE49-F238E27FC236}">
                <a16:creationId xmlns:a16="http://schemas.microsoft.com/office/drawing/2014/main" id="{5A7BACA5-4D33-08D8-C35A-3F7EFD7E35B4}"/>
              </a:ext>
            </a:extLst>
          </p:cNvPr>
          <p:cNvSpPr>
            <a:spLocks noGrp="1"/>
          </p:cNvSpPr>
          <p:nvPr>
            <p:ph type="sldNum" sz="quarter" idx="12"/>
          </p:nvPr>
        </p:nvSpPr>
        <p:spPr>
          <a:xfrm>
            <a:off x="8439849" y="6510757"/>
            <a:ext cx="562062" cy="365125"/>
          </a:xfrm>
        </p:spPr>
        <p:txBody>
          <a:bodyPr vert="horz" lIns="91440" tIns="45720" rIns="91440" bIns="45720" rtlCol="0" anchor="ctr">
            <a:normAutofit/>
          </a:bodyPr>
          <a:lstStyle/>
          <a:p>
            <a:pPr>
              <a:lnSpc>
                <a:spcPct val="90000"/>
              </a:lnSpc>
              <a:spcAft>
                <a:spcPts val="600"/>
              </a:spcAft>
            </a:pPr>
            <a:fld id="{AE3E3AF4-E56C-405D-90D1-F29A6618B350}" type="slidenum">
              <a:rPr lang="vi-VN" sz="1900" smtClean="0"/>
              <a:pPr>
                <a:lnSpc>
                  <a:spcPct val="90000"/>
                </a:lnSpc>
                <a:spcAft>
                  <a:spcPts val="600"/>
                </a:spcAft>
              </a:pPr>
              <a:t>14</a:t>
            </a:fld>
            <a:endParaRPr lang="vi-VN" sz="1900"/>
          </a:p>
        </p:txBody>
      </p:sp>
      <p:sp>
        <p:nvSpPr>
          <p:cNvPr id="5" name="TextBox 4">
            <a:extLst>
              <a:ext uri="{FF2B5EF4-FFF2-40B4-BE49-F238E27FC236}">
                <a16:creationId xmlns:a16="http://schemas.microsoft.com/office/drawing/2014/main" id="{12FCCA56-39EE-F2EB-26F2-35AEB3AF7846}"/>
              </a:ext>
            </a:extLst>
          </p:cNvPr>
          <p:cNvSpPr txBox="1"/>
          <p:nvPr/>
        </p:nvSpPr>
        <p:spPr>
          <a:xfrm>
            <a:off x="364539" y="857489"/>
            <a:ext cx="2355801" cy="41729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defTabSz="914400">
              <a:lnSpc>
                <a:spcPct val="110000"/>
              </a:lnSpc>
              <a:spcBef>
                <a:spcPct val="0"/>
              </a:spcBef>
            </a:pPr>
            <a:r>
              <a:rPr lang="vi-VN" sz="2000" b="1">
                <a:solidFill>
                  <a:schemeClr val="tx2">
                    <a:lumMod val="90000"/>
                    <a:lumOff val="10000"/>
                  </a:schemeClr>
                </a:solidFill>
                <a:latin typeface="Aptos" panose="020B0004020202020204" pitchFamily="34" charset="0"/>
                <a:ea typeface="+mj-ea"/>
                <a:cs typeface="+mj-cs"/>
              </a:rPr>
              <a:t>Kết quả mô phỏng</a:t>
            </a:r>
            <a:endParaRPr lang="en-US" sz="2000" b="1" dirty="0">
              <a:solidFill>
                <a:schemeClr val="tx2">
                  <a:lumMod val="90000"/>
                  <a:lumOff val="10000"/>
                </a:schemeClr>
              </a:solidFill>
              <a:latin typeface="Aptos" panose="020B0004020202020204" pitchFamily="34" charset="0"/>
              <a:ea typeface="+mj-ea"/>
              <a:cs typeface="+mj-cs"/>
            </a:endParaRPr>
          </a:p>
        </p:txBody>
      </p:sp>
      <p:pic>
        <p:nvPicPr>
          <p:cNvPr id="10" name="Picture 9">
            <a:extLst>
              <a:ext uri="{FF2B5EF4-FFF2-40B4-BE49-F238E27FC236}">
                <a16:creationId xmlns:a16="http://schemas.microsoft.com/office/drawing/2014/main" id="{031A38F3-DABC-C10C-DDFB-2BF797AFEE3A}"/>
              </a:ext>
            </a:extLst>
          </p:cNvPr>
          <p:cNvPicPr>
            <a:picLocks noChangeAspect="1"/>
          </p:cNvPicPr>
          <p:nvPr/>
        </p:nvPicPr>
        <p:blipFill>
          <a:blip r:embed="rId3">
            <a:extLst>
              <a:ext uri="{28A0092B-C50C-407E-A947-70E740481C1C}">
                <a14:useLocalDpi xmlns:a14="http://schemas.microsoft.com/office/drawing/2010/main" val="0"/>
              </a:ext>
            </a:extLst>
          </a:blip>
          <a:srcRect t="9739"/>
          <a:stretch>
            <a:fillRect/>
          </a:stretch>
        </p:blipFill>
        <p:spPr>
          <a:xfrm>
            <a:off x="1050279" y="1617893"/>
            <a:ext cx="7205487" cy="4382618"/>
          </a:xfrm>
          <a:prstGeom prst="rect">
            <a:avLst/>
          </a:prstGeom>
        </p:spPr>
      </p:pic>
    </p:spTree>
    <p:extLst>
      <p:ext uri="{BB962C8B-B14F-4D97-AF65-F5344CB8AC3E}">
        <p14:creationId xmlns:p14="http://schemas.microsoft.com/office/powerpoint/2010/main" val="1284669724"/>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26466-FFAB-08E2-39BF-4B7552384E56}"/>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46963957-FAA1-EE7F-BB69-7B320724B015}"/>
              </a:ext>
            </a:extLst>
          </p:cNvPr>
          <p:cNvSpPr>
            <a:spLocks noGrp="1"/>
          </p:cNvSpPr>
          <p:nvPr>
            <p:ph type="title"/>
          </p:nvPr>
        </p:nvSpPr>
        <p:spPr>
          <a:xfrm>
            <a:off x="364539" y="306468"/>
            <a:ext cx="4288484" cy="688955"/>
          </a:xfrm>
        </p:spPr>
        <p:txBody>
          <a:bodyPr vert="horz" lIns="91440" tIns="45720" rIns="91440" bIns="45720" rtlCol="0" anchor="ctr">
            <a:normAutofit/>
          </a:bodyPr>
          <a:lstStyle/>
          <a:p>
            <a:r>
              <a:rPr lang="vi-VN" sz="3000" b="1" kern="1200" dirty="0">
                <a:latin typeface="Aptos" panose="020B0004020202020204" pitchFamily="34" charset="0"/>
              </a:rPr>
              <a:t>KẾT QUẢ VÀ ĐÁNH GIÁ</a:t>
            </a:r>
            <a:endParaRPr lang="en-US" sz="3000" b="1" kern="1200" dirty="0">
              <a:latin typeface="Aptos" panose="020B0004020202020204" pitchFamily="34" charset="0"/>
            </a:endParaRPr>
          </a:p>
        </p:txBody>
      </p:sp>
      <p:sp>
        <p:nvSpPr>
          <p:cNvPr id="4" name="Slide Number Placeholder 3">
            <a:extLst>
              <a:ext uri="{FF2B5EF4-FFF2-40B4-BE49-F238E27FC236}">
                <a16:creationId xmlns:a16="http://schemas.microsoft.com/office/drawing/2014/main" id="{C022EA2D-0828-3981-7982-082738603CFE}"/>
              </a:ext>
            </a:extLst>
          </p:cNvPr>
          <p:cNvSpPr>
            <a:spLocks noGrp="1"/>
          </p:cNvSpPr>
          <p:nvPr>
            <p:ph type="sldNum" sz="quarter" idx="12"/>
          </p:nvPr>
        </p:nvSpPr>
        <p:spPr>
          <a:xfrm>
            <a:off x="8439849" y="6510757"/>
            <a:ext cx="562062" cy="365125"/>
          </a:xfrm>
        </p:spPr>
        <p:txBody>
          <a:bodyPr vert="horz" lIns="91440" tIns="45720" rIns="91440" bIns="45720" rtlCol="0" anchor="ctr">
            <a:normAutofit/>
          </a:bodyPr>
          <a:lstStyle/>
          <a:p>
            <a:pPr>
              <a:lnSpc>
                <a:spcPct val="90000"/>
              </a:lnSpc>
              <a:spcAft>
                <a:spcPts val="600"/>
              </a:spcAft>
            </a:pPr>
            <a:fld id="{AE3E3AF4-E56C-405D-90D1-F29A6618B350}" type="slidenum">
              <a:rPr lang="vi-VN" sz="1900" smtClean="0"/>
              <a:pPr>
                <a:lnSpc>
                  <a:spcPct val="90000"/>
                </a:lnSpc>
                <a:spcAft>
                  <a:spcPts val="600"/>
                </a:spcAft>
              </a:pPr>
              <a:t>15</a:t>
            </a:fld>
            <a:endParaRPr lang="vi-VN" sz="1900"/>
          </a:p>
        </p:txBody>
      </p:sp>
      <p:sp>
        <p:nvSpPr>
          <p:cNvPr id="5" name="TextBox 4">
            <a:extLst>
              <a:ext uri="{FF2B5EF4-FFF2-40B4-BE49-F238E27FC236}">
                <a16:creationId xmlns:a16="http://schemas.microsoft.com/office/drawing/2014/main" id="{2DDB8DDD-CCD1-01EC-6F9F-E545F50AF078}"/>
              </a:ext>
            </a:extLst>
          </p:cNvPr>
          <p:cNvSpPr txBox="1"/>
          <p:nvPr/>
        </p:nvSpPr>
        <p:spPr>
          <a:xfrm>
            <a:off x="364539" y="857489"/>
            <a:ext cx="2355801" cy="41729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defTabSz="914400">
              <a:lnSpc>
                <a:spcPct val="110000"/>
              </a:lnSpc>
              <a:spcBef>
                <a:spcPct val="0"/>
              </a:spcBef>
            </a:pPr>
            <a:r>
              <a:rPr lang="vi-VN" sz="2000" b="1">
                <a:solidFill>
                  <a:schemeClr val="tx2">
                    <a:lumMod val="90000"/>
                    <a:lumOff val="10000"/>
                  </a:schemeClr>
                </a:solidFill>
                <a:latin typeface="Aptos" panose="020B0004020202020204" pitchFamily="34" charset="0"/>
                <a:ea typeface="+mj-ea"/>
                <a:cs typeface="+mj-cs"/>
              </a:rPr>
              <a:t>Kết quả mô phỏng</a:t>
            </a:r>
            <a:endParaRPr lang="en-US" sz="2000" b="1" dirty="0">
              <a:solidFill>
                <a:schemeClr val="tx2">
                  <a:lumMod val="90000"/>
                  <a:lumOff val="10000"/>
                </a:schemeClr>
              </a:solidFill>
              <a:latin typeface="Aptos" panose="020B0004020202020204" pitchFamily="34" charset="0"/>
              <a:ea typeface="+mj-ea"/>
              <a:cs typeface="+mj-cs"/>
            </a:endParaRPr>
          </a:p>
        </p:txBody>
      </p:sp>
      <p:pic>
        <p:nvPicPr>
          <p:cNvPr id="3" name="Picture 2">
            <a:extLst>
              <a:ext uri="{FF2B5EF4-FFF2-40B4-BE49-F238E27FC236}">
                <a16:creationId xmlns:a16="http://schemas.microsoft.com/office/drawing/2014/main" id="{5B0B7E99-EB96-C15C-2919-6CC96BCC8DFE}"/>
              </a:ext>
            </a:extLst>
          </p:cNvPr>
          <p:cNvPicPr>
            <a:picLocks noChangeAspect="1"/>
          </p:cNvPicPr>
          <p:nvPr/>
        </p:nvPicPr>
        <p:blipFill>
          <a:blip r:embed="rId3">
            <a:extLst>
              <a:ext uri="{28A0092B-C50C-407E-A947-70E740481C1C}">
                <a14:useLocalDpi xmlns:a14="http://schemas.microsoft.com/office/drawing/2010/main" val="0"/>
              </a:ext>
            </a:extLst>
          </a:blip>
          <a:srcRect t="9504"/>
          <a:stretch>
            <a:fillRect/>
          </a:stretch>
        </p:blipFill>
        <p:spPr>
          <a:xfrm>
            <a:off x="969256" y="1451609"/>
            <a:ext cx="7205487" cy="4418843"/>
          </a:xfrm>
          <a:prstGeom prst="rect">
            <a:avLst/>
          </a:prstGeom>
        </p:spPr>
      </p:pic>
    </p:spTree>
    <p:extLst>
      <p:ext uri="{BB962C8B-B14F-4D97-AF65-F5344CB8AC3E}">
        <p14:creationId xmlns:p14="http://schemas.microsoft.com/office/powerpoint/2010/main" val="1434171603"/>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6509F-4915-2371-3934-921995087C57}"/>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34CD67B6-7F3C-D87B-61AB-8B133CCB0FCF}"/>
              </a:ext>
            </a:extLst>
          </p:cNvPr>
          <p:cNvSpPr>
            <a:spLocks noGrp="1"/>
          </p:cNvSpPr>
          <p:nvPr>
            <p:ph type="title"/>
          </p:nvPr>
        </p:nvSpPr>
        <p:spPr>
          <a:xfrm>
            <a:off x="364538" y="306468"/>
            <a:ext cx="7205487" cy="688955"/>
          </a:xfrm>
        </p:spPr>
        <p:txBody>
          <a:bodyPr vert="horz" lIns="91440" tIns="45720" rIns="91440" bIns="45720" rtlCol="0" anchor="ctr">
            <a:noAutofit/>
          </a:bodyPr>
          <a:lstStyle/>
          <a:p>
            <a:r>
              <a:rPr lang="vi-VN" sz="3000" b="1" kern="1200" dirty="0">
                <a:latin typeface="Aptos" panose="020B0004020202020204" pitchFamily="34" charset="0"/>
              </a:rPr>
              <a:t>KẾT LUẬN VÀ ĐỊNH HƯỚNG PHÁT TRIỂN</a:t>
            </a:r>
            <a:endParaRPr lang="en-US" sz="3000" b="1" kern="1200" dirty="0">
              <a:latin typeface="Aptos" panose="020B0004020202020204" pitchFamily="34" charset="0"/>
            </a:endParaRPr>
          </a:p>
        </p:txBody>
      </p:sp>
      <p:sp>
        <p:nvSpPr>
          <p:cNvPr id="4" name="Slide Number Placeholder 3">
            <a:extLst>
              <a:ext uri="{FF2B5EF4-FFF2-40B4-BE49-F238E27FC236}">
                <a16:creationId xmlns:a16="http://schemas.microsoft.com/office/drawing/2014/main" id="{DDB68B0C-0ADA-ED40-7B5D-8A575FA994B0}"/>
              </a:ext>
            </a:extLst>
          </p:cNvPr>
          <p:cNvSpPr>
            <a:spLocks noGrp="1"/>
          </p:cNvSpPr>
          <p:nvPr>
            <p:ph type="sldNum" sz="quarter" idx="12"/>
          </p:nvPr>
        </p:nvSpPr>
        <p:spPr>
          <a:xfrm>
            <a:off x="8439849" y="6510757"/>
            <a:ext cx="562062" cy="365125"/>
          </a:xfrm>
        </p:spPr>
        <p:txBody>
          <a:bodyPr vert="horz" lIns="91440" tIns="45720" rIns="91440" bIns="45720" rtlCol="0" anchor="ctr">
            <a:normAutofit/>
          </a:bodyPr>
          <a:lstStyle/>
          <a:p>
            <a:pPr>
              <a:lnSpc>
                <a:spcPct val="90000"/>
              </a:lnSpc>
              <a:spcAft>
                <a:spcPts val="600"/>
              </a:spcAft>
            </a:pPr>
            <a:fld id="{AE3E3AF4-E56C-405D-90D1-F29A6618B350}" type="slidenum">
              <a:rPr lang="vi-VN" sz="1900" smtClean="0"/>
              <a:pPr>
                <a:lnSpc>
                  <a:spcPct val="90000"/>
                </a:lnSpc>
                <a:spcAft>
                  <a:spcPts val="600"/>
                </a:spcAft>
              </a:pPr>
              <a:t>16</a:t>
            </a:fld>
            <a:endParaRPr lang="vi-VN" sz="1900"/>
          </a:p>
        </p:txBody>
      </p:sp>
      <p:sp>
        <p:nvSpPr>
          <p:cNvPr id="5" name="TextBox 4">
            <a:extLst>
              <a:ext uri="{FF2B5EF4-FFF2-40B4-BE49-F238E27FC236}">
                <a16:creationId xmlns:a16="http://schemas.microsoft.com/office/drawing/2014/main" id="{652CF7C7-8CA3-B970-0A77-3996989005C8}"/>
              </a:ext>
            </a:extLst>
          </p:cNvPr>
          <p:cNvSpPr txBox="1"/>
          <p:nvPr/>
        </p:nvSpPr>
        <p:spPr>
          <a:xfrm>
            <a:off x="364540" y="857489"/>
            <a:ext cx="1209436" cy="41729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defTabSz="914400">
              <a:lnSpc>
                <a:spcPct val="110000"/>
              </a:lnSpc>
              <a:spcBef>
                <a:spcPct val="0"/>
              </a:spcBef>
            </a:pPr>
            <a:r>
              <a:rPr lang="vi-VN" sz="2000" b="1">
                <a:solidFill>
                  <a:schemeClr val="tx2">
                    <a:lumMod val="90000"/>
                    <a:lumOff val="10000"/>
                  </a:schemeClr>
                </a:solidFill>
                <a:latin typeface="Aptos" panose="020B0004020202020204" pitchFamily="34" charset="0"/>
                <a:ea typeface="+mj-ea"/>
                <a:cs typeface="+mj-cs"/>
              </a:rPr>
              <a:t>Kết luận</a:t>
            </a:r>
            <a:endParaRPr lang="en-US" sz="2000" b="1" dirty="0">
              <a:solidFill>
                <a:schemeClr val="tx2">
                  <a:lumMod val="90000"/>
                  <a:lumOff val="10000"/>
                </a:schemeClr>
              </a:solidFill>
              <a:latin typeface="Aptos" panose="020B0004020202020204" pitchFamily="34" charset="0"/>
              <a:ea typeface="+mj-ea"/>
              <a:cs typeface="+mj-cs"/>
            </a:endParaRPr>
          </a:p>
        </p:txBody>
      </p:sp>
      <p:sp>
        <p:nvSpPr>
          <p:cNvPr id="7" name="TextBox 6">
            <a:extLst>
              <a:ext uri="{FF2B5EF4-FFF2-40B4-BE49-F238E27FC236}">
                <a16:creationId xmlns:a16="http://schemas.microsoft.com/office/drawing/2014/main" id="{A92CF656-5E0E-11EA-4C1F-88487482C096}"/>
              </a:ext>
            </a:extLst>
          </p:cNvPr>
          <p:cNvSpPr txBox="1"/>
          <p:nvPr/>
        </p:nvSpPr>
        <p:spPr>
          <a:xfrm>
            <a:off x="364538" y="1420758"/>
            <a:ext cx="4579620" cy="553998"/>
          </a:xfrm>
          <a:prstGeom prst="rect">
            <a:avLst/>
          </a:prstGeom>
          <a:noFill/>
        </p:spPr>
        <p:txBody>
          <a:bodyPr wrap="square">
            <a:spAutoFit/>
          </a:bodyPr>
          <a:lstStyle/>
          <a:p>
            <a:pPr>
              <a:buNone/>
            </a:pPr>
            <a:r>
              <a:rPr lang="vi-VN" sz="1500" dirty="0">
                <a:latin typeface="Times New Roman" panose="02020603050405020304" pitchFamily="18" charset="0"/>
                <a:cs typeface="Times New Roman" panose="02020603050405020304" pitchFamily="18" charset="0"/>
              </a:rPr>
              <a:t>Qua quá trình nghiên cứu, khóa luận đã đạt được ba đóng góp chính.</a:t>
            </a:r>
          </a:p>
        </p:txBody>
      </p:sp>
      <p:sp>
        <p:nvSpPr>
          <p:cNvPr id="9" name="TextBox 8">
            <a:extLst>
              <a:ext uri="{FF2B5EF4-FFF2-40B4-BE49-F238E27FC236}">
                <a16:creationId xmlns:a16="http://schemas.microsoft.com/office/drawing/2014/main" id="{DA14F688-066F-7A1E-0E57-A7F26F04789B}"/>
              </a:ext>
            </a:extLst>
          </p:cNvPr>
          <p:cNvSpPr txBox="1"/>
          <p:nvPr/>
        </p:nvSpPr>
        <p:spPr>
          <a:xfrm>
            <a:off x="360728" y="2213063"/>
            <a:ext cx="6097222" cy="784830"/>
          </a:xfrm>
          <a:prstGeom prst="rect">
            <a:avLst/>
          </a:prstGeom>
          <a:noFill/>
        </p:spPr>
        <p:txBody>
          <a:bodyPr wrap="square">
            <a:spAutoFit/>
          </a:bodyPr>
          <a:lstStyle/>
          <a:p>
            <a:pPr>
              <a:buNone/>
            </a:pPr>
            <a:r>
              <a:rPr lang="vi-VN" sz="1500" dirty="0">
                <a:latin typeface="Times New Roman" panose="02020603050405020304" pitchFamily="18" charset="0"/>
                <a:cs typeface="Times New Roman" panose="02020603050405020304" pitchFamily="18" charset="0"/>
              </a:rPr>
              <a:t>Thứ nhất, đề xuất mô hình hệ thống CR-RSMA ba tầng tích hợp đồng thời </a:t>
            </a:r>
            <a:r>
              <a:rPr lang="vi-VN" sz="1500" dirty="0" err="1">
                <a:latin typeface="Times New Roman" panose="02020603050405020304" pitchFamily="18" charset="0"/>
                <a:cs typeface="Times New Roman" panose="02020603050405020304" pitchFamily="18" charset="0"/>
              </a:rPr>
              <a:t>Cognitive</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Radio</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Underlay</a:t>
            </a:r>
            <a:r>
              <a:rPr lang="vi-VN" sz="1500" dirty="0">
                <a:latin typeface="Times New Roman" panose="02020603050405020304" pitchFamily="18" charset="0"/>
                <a:cs typeface="Times New Roman" panose="02020603050405020304" pitchFamily="18" charset="0"/>
              </a:rPr>
              <a:t>, RSMA </a:t>
            </a:r>
            <a:r>
              <a:rPr lang="vi-VN" sz="1500" dirty="0" err="1">
                <a:latin typeface="Times New Roman" panose="02020603050405020304" pitchFamily="18" charset="0"/>
                <a:cs typeface="Times New Roman" panose="02020603050405020304" pitchFamily="18" charset="0"/>
              </a:rPr>
              <a:t>Uplink</a:t>
            </a:r>
            <a:r>
              <a:rPr lang="vi-VN" sz="1500" dirty="0">
                <a:latin typeface="Times New Roman" panose="02020603050405020304" pitchFamily="18" charset="0"/>
                <a:cs typeface="Times New Roman" panose="02020603050405020304" pitchFamily="18" charset="0"/>
              </a:rPr>
              <a:t> và SVC — cho phép tối ưu hóa liên tầng từ tầng vật lý đến chất lượng </a:t>
            </a:r>
            <a:r>
              <a:rPr lang="vi-VN" sz="1500" dirty="0" err="1">
                <a:latin typeface="Times New Roman" panose="02020603050405020304" pitchFamily="18" charset="0"/>
                <a:cs typeface="Times New Roman" panose="02020603050405020304" pitchFamily="18" charset="0"/>
              </a:rPr>
              <a:t>video</a:t>
            </a:r>
            <a:r>
              <a:rPr lang="vi-VN" sz="1500" dirty="0">
                <a:latin typeface="Times New Roman" panose="02020603050405020304" pitchFamily="18" charset="0"/>
                <a:cs typeface="Times New Roman" panose="02020603050405020304" pitchFamily="18" charset="0"/>
              </a:rPr>
              <a:t> người dùng cảm nhận.</a:t>
            </a:r>
          </a:p>
        </p:txBody>
      </p:sp>
      <p:sp>
        <p:nvSpPr>
          <p:cNvPr id="11" name="TextBox 10">
            <a:extLst>
              <a:ext uri="{FF2B5EF4-FFF2-40B4-BE49-F238E27FC236}">
                <a16:creationId xmlns:a16="http://schemas.microsoft.com/office/drawing/2014/main" id="{755A1084-BE77-399B-5DE1-4D259654456B}"/>
              </a:ext>
            </a:extLst>
          </p:cNvPr>
          <p:cNvSpPr txBox="1"/>
          <p:nvPr/>
        </p:nvSpPr>
        <p:spPr>
          <a:xfrm>
            <a:off x="360728" y="3346246"/>
            <a:ext cx="5822902" cy="784830"/>
          </a:xfrm>
          <a:prstGeom prst="rect">
            <a:avLst/>
          </a:prstGeom>
          <a:noFill/>
        </p:spPr>
        <p:txBody>
          <a:bodyPr wrap="square">
            <a:spAutoFit/>
          </a:bodyPr>
          <a:lstStyle/>
          <a:p>
            <a:pPr>
              <a:buNone/>
            </a:pPr>
            <a:r>
              <a:rPr lang="vi-VN" sz="1500" dirty="0">
                <a:latin typeface="Times New Roman" panose="02020603050405020304" pitchFamily="18" charset="0"/>
                <a:cs typeface="Times New Roman" panose="02020603050405020304" pitchFamily="18" charset="0"/>
              </a:rPr>
              <a:t>Thứ hai, xây dựng và giải bài toán tối ưu </a:t>
            </a:r>
            <a:r>
              <a:rPr lang="vi-VN" sz="1500" dirty="0" err="1">
                <a:latin typeface="Times New Roman" panose="02020603050405020304" pitchFamily="18" charset="0"/>
                <a:cs typeface="Times New Roman" panose="02020603050405020304" pitchFamily="18" charset="0"/>
              </a:rPr>
              <a:t>Max</a:t>
            </a:r>
            <a:r>
              <a:rPr lang="vi-VN" sz="1500" dirty="0">
                <a:latin typeface="Times New Roman" panose="02020603050405020304" pitchFamily="18" charset="0"/>
                <a:cs typeface="Times New Roman" panose="02020603050405020304" pitchFamily="18" charset="0"/>
              </a:rPr>
              <a:t>-Min </a:t>
            </a:r>
            <a:r>
              <a:rPr lang="vi-VN" sz="1500" dirty="0" err="1">
                <a:latin typeface="Times New Roman" panose="02020603050405020304" pitchFamily="18" charset="0"/>
                <a:cs typeface="Times New Roman" panose="02020603050405020304" pitchFamily="18" charset="0"/>
              </a:rPr>
              <a:t>Fairness</a:t>
            </a:r>
            <a:r>
              <a:rPr lang="vi-VN" sz="1500" dirty="0">
                <a:latin typeface="Times New Roman" panose="02020603050405020304" pitchFamily="18" charset="0"/>
                <a:cs typeface="Times New Roman" panose="02020603050405020304" pitchFamily="18" charset="0"/>
              </a:rPr>
              <a:t> bằng thuật toán SCA kết hợp </a:t>
            </a:r>
            <a:r>
              <a:rPr lang="vi-VN" sz="1500" dirty="0" err="1">
                <a:latin typeface="Times New Roman" panose="02020603050405020304" pitchFamily="18" charset="0"/>
                <a:cs typeface="Times New Roman" panose="02020603050405020304" pitchFamily="18" charset="0"/>
              </a:rPr>
              <a:t>Trust</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Region</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Damping</a:t>
            </a:r>
            <a:r>
              <a:rPr lang="vi-VN" sz="1500" dirty="0">
                <a:latin typeface="Times New Roman" panose="02020603050405020304" pitchFamily="18" charset="0"/>
                <a:cs typeface="Times New Roman" panose="02020603050405020304" pitchFamily="18" charset="0"/>
              </a:rPr>
              <a:t> và </a:t>
            </a:r>
            <a:r>
              <a:rPr lang="vi-VN" sz="1500" dirty="0" err="1">
                <a:latin typeface="Times New Roman" panose="02020603050405020304" pitchFamily="18" charset="0"/>
                <a:cs typeface="Times New Roman" panose="02020603050405020304" pitchFamily="18" charset="0"/>
              </a:rPr>
              <a:t>Multi-start</a:t>
            </a:r>
            <a:r>
              <a:rPr lang="vi-VN" sz="1500" dirty="0">
                <a:latin typeface="Times New Roman" panose="02020603050405020304" pitchFamily="18" charset="0"/>
                <a:cs typeface="Times New Roman" panose="02020603050405020304" pitchFamily="18" charset="0"/>
              </a:rPr>
              <a:t> — đảm bảo hội tụ ổn định trong môi trường phi lồi với ràng buộc CR nghiêm ngặt.</a:t>
            </a:r>
          </a:p>
        </p:txBody>
      </p:sp>
      <p:sp>
        <p:nvSpPr>
          <p:cNvPr id="13" name="TextBox 12">
            <a:extLst>
              <a:ext uri="{FF2B5EF4-FFF2-40B4-BE49-F238E27FC236}">
                <a16:creationId xmlns:a16="http://schemas.microsoft.com/office/drawing/2014/main" id="{80457AE7-09BC-B20D-AA63-9B9329407265}"/>
              </a:ext>
            </a:extLst>
          </p:cNvPr>
          <p:cNvSpPr txBox="1"/>
          <p:nvPr/>
        </p:nvSpPr>
        <p:spPr>
          <a:xfrm>
            <a:off x="360728" y="4446366"/>
            <a:ext cx="5822902" cy="1477328"/>
          </a:xfrm>
          <a:prstGeom prst="rect">
            <a:avLst/>
          </a:prstGeom>
          <a:noFill/>
        </p:spPr>
        <p:txBody>
          <a:bodyPr wrap="square">
            <a:spAutoFit/>
          </a:bodyPr>
          <a:lstStyle/>
          <a:p>
            <a:pPr>
              <a:buNone/>
            </a:pPr>
            <a:r>
              <a:rPr lang="vi-VN" sz="1500" dirty="0">
                <a:latin typeface="Times New Roman" panose="02020603050405020304" pitchFamily="18" charset="0"/>
                <a:cs typeface="Times New Roman" panose="02020603050405020304" pitchFamily="18" charset="0"/>
              </a:rPr>
              <a:t>Thứ ba, thông qua ba kịch bản mô phỏng, khóa luận đã chứng minh CR-RSMA vượt trội CR-NOMA về công bằng trong các điều kiện SNR và </a:t>
            </a:r>
            <a:r>
              <a:rPr lang="vi-VN" sz="1500" dirty="0" err="1">
                <a:latin typeface="Times New Roman" panose="02020603050405020304" pitchFamily="18" charset="0"/>
                <a:cs typeface="Times New Roman" panose="02020603050405020304" pitchFamily="18" charset="0"/>
              </a:rPr>
              <a:t>Ith</a:t>
            </a:r>
            <a:r>
              <a:rPr lang="vi-VN" sz="1500" dirty="0">
                <a:latin typeface="Times New Roman" panose="02020603050405020304" pitchFamily="18" charset="0"/>
                <a:cs typeface="Times New Roman" panose="02020603050405020304" pitchFamily="18" charset="0"/>
              </a:rPr>
              <a:t> khác nhau. Đặc biệt trong điều kiện CR chặt, RSMA tận dụng cơ chế phân bổ công suất linh hoạt giữa </a:t>
            </a:r>
            <a:r>
              <a:rPr lang="vi-VN" sz="1500" dirty="0" err="1">
                <a:latin typeface="Times New Roman" panose="02020603050405020304" pitchFamily="18" charset="0"/>
                <a:cs typeface="Times New Roman" panose="02020603050405020304" pitchFamily="18" charset="0"/>
              </a:rPr>
              <a:t>Common</a:t>
            </a:r>
            <a:r>
              <a:rPr lang="vi-VN" sz="1500" dirty="0">
                <a:latin typeface="Times New Roman" panose="02020603050405020304" pitchFamily="18" charset="0"/>
                <a:cs typeface="Times New Roman" panose="02020603050405020304" pitchFamily="18" charset="0"/>
              </a:rPr>
              <a:t> và </a:t>
            </a:r>
            <a:r>
              <a:rPr lang="vi-VN" sz="1500" dirty="0" err="1">
                <a:latin typeface="Times New Roman" panose="02020603050405020304" pitchFamily="18" charset="0"/>
                <a:cs typeface="Times New Roman" panose="02020603050405020304" pitchFamily="18" charset="0"/>
              </a:rPr>
              <a:t>Private</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Stream</a:t>
            </a:r>
            <a:r>
              <a:rPr lang="vi-VN" sz="1500" dirty="0">
                <a:latin typeface="Times New Roman" panose="02020603050405020304" pitchFamily="18" charset="0"/>
                <a:cs typeface="Times New Roman" panose="02020603050405020304" pitchFamily="18" charset="0"/>
              </a:rPr>
              <a:t> để duy trì hiệu suất phổ tốt hơn, từ đó đảm bảo chất lượng </a:t>
            </a:r>
            <a:r>
              <a:rPr lang="vi-VN" sz="1500" dirty="0" err="1">
                <a:latin typeface="Times New Roman" panose="02020603050405020304" pitchFamily="18" charset="0"/>
                <a:cs typeface="Times New Roman" panose="02020603050405020304" pitchFamily="18" charset="0"/>
              </a:rPr>
              <a:t>video</a:t>
            </a:r>
            <a:r>
              <a:rPr lang="vi-VN" sz="1500" dirty="0">
                <a:latin typeface="Times New Roman" panose="02020603050405020304" pitchFamily="18" charset="0"/>
                <a:cs typeface="Times New Roman" panose="02020603050405020304" pitchFamily="18" charset="0"/>
              </a:rPr>
              <a:t> SVC ổn định hơn cho toàn bộ người dùng.</a:t>
            </a:r>
          </a:p>
        </p:txBody>
      </p:sp>
    </p:spTree>
    <p:extLst>
      <p:ext uri="{BB962C8B-B14F-4D97-AF65-F5344CB8AC3E}">
        <p14:creationId xmlns:p14="http://schemas.microsoft.com/office/powerpoint/2010/main" val="672021340"/>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67286-8328-557E-50E6-3F90754E8EC2}"/>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0B5FDF53-A620-ACD6-EB42-43FF452BBA8F}"/>
              </a:ext>
            </a:extLst>
          </p:cNvPr>
          <p:cNvSpPr>
            <a:spLocks noGrp="1"/>
          </p:cNvSpPr>
          <p:nvPr>
            <p:ph type="title"/>
          </p:nvPr>
        </p:nvSpPr>
        <p:spPr>
          <a:xfrm>
            <a:off x="364538" y="306468"/>
            <a:ext cx="7205487" cy="688955"/>
          </a:xfrm>
        </p:spPr>
        <p:txBody>
          <a:bodyPr vert="horz" lIns="91440" tIns="45720" rIns="91440" bIns="45720" rtlCol="0" anchor="ctr">
            <a:noAutofit/>
          </a:bodyPr>
          <a:lstStyle/>
          <a:p>
            <a:r>
              <a:rPr lang="vi-VN" sz="3000" b="1" kern="1200" dirty="0">
                <a:latin typeface="Aptos" panose="020B0004020202020204" pitchFamily="34" charset="0"/>
              </a:rPr>
              <a:t>KẾT LUẬN VÀ ĐỊNH HƯỚNG PHÁT TRIỂN</a:t>
            </a:r>
            <a:endParaRPr lang="en-US" sz="3000" b="1" kern="1200" dirty="0">
              <a:latin typeface="Aptos" panose="020B0004020202020204" pitchFamily="34" charset="0"/>
            </a:endParaRPr>
          </a:p>
        </p:txBody>
      </p:sp>
      <p:sp>
        <p:nvSpPr>
          <p:cNvPr id="4" name="Slide Number Placeholder 3">
            <a:extLst>
              <a:ext uri="{FF2B5EF4-FFF2-40B4-BE49-F238E27FC236}">
                <a16:creationId xmlns:a16="http://schemas.microsoft.com/office/drawing/2014/main" id="{8684D0A8-0ECB-359D-EBD5-AC90785DAB5C}"/>
              </a:ext>
            </a:extLst>
          </p:cNvPr>
          <p:cNvSpPr>
            <a:spLocks noGrp="1"/>
          </p:cNvSpPr>
          <p:nvPr>
            <p:ph type="sldNum" sz="quarter" idx="12"/>
          </p:nvPr>
        </p:nvSpPr>
        <p:spPr>
          <a:xfrm>
            <a:off x="8439849" y="6510757"/>
            <a:ext cx="562062" cy="365125"/>
          </a:xfrm>
        </p:spPr>
        <p:txBody>
          <a:bodyPr vert="horz" lIns="91440" tIns="45720" rIns="91440" bIns="45720" rtlCol="0" anchor="ctr">
            <a:normAutofit/>
          </a:bodyPr>
          <a:lstStyle/>
          <a:p>
            <a:pPr>
              <a:lnSpc>
                <a:spcPct val="90000"/>
              </a:lnSpc>
              <a:spcAft>
                <a:spcPts val="600"/>
              </a:spcAft>
            </a:pPr>
            <a:fld id="{AE3E3AF4-E56C-405D-90D1-F29A6618B350}" type="slidenum">
              <a:rPr lang="vi-VN" sz="1900" smtClean="0"/>
              <a:pPr>
                <a:lnSpc>
                  <a:spcPct val="90000"/>
                </a:lnSpc>
                <a:spcAft>
                  <a:spcPts val="600"/>
                </a:spcAft>
              </a:pPr>
              <a:t>17</a:t>
            </a:fld>
            <a:endParaRPr lang="vi-VN" sz="1900"/>
          </a:p>
        </p:txBody>
      </p:sp>
      <p:sp>
        <p:nvSpPr>
          <p:cNvPr id="5" name="TextBox 4">
            <a:extLst>
              <a:ext uri="{FF2B5EF4-FFF2-40B4-BE49-F238E27FC236}">
                <a16:creationId xmlns:a16="http://schemas.microsoft.com/office/drawing/2014/main" id="{EF83A3F0-DE94-C398-7ED6-ED51051AFC8F}"/>
              </a:ext>
            </a:extLst>
          </p:cNvPr>
          <p:cNvSpPr txBox="1"/>
          <p:nvPr/>
        </p:nvSpPr>
        <p:spPr>
          <a:xfrm>
            <a:off x="364540" y="857489"/>
            <a:ext cx="4070300" cy="41729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defTabSz="914400">
              <a:lnSpc>
                <a:spcPct val="110000"/>
              </a:lnSpc>
              <a:spcBef>
                <a:spcPct val="0"/>
              </a:spcBef>
            </a:pPr>
            <a:r>
              <a:rPr lang="vi-VN" sz="2000" b="1" dirty="0">
                <a:solidFill>
                  <a:schemeClr val="tx2">
                    <a:lumMod val="90000"/>
                    <a:lumOff val="10000"/>
                  </a:schemeClr>
                </a:solidFill>
                <a:latin typeface="Aptos" panose="020B0004020202020204" pitchFamily="34" charset="0"/>
                <a:ea typeface="+mj-ea"/>
                <a:cs typeface="+mj-cs"/>
              </a:rPr>
              <a:t>Hạn chế &amp; Định hướng phát triển</a:t>
            </a:r>
            <a:endParaRPr lang="en-US" sz="2000" b="1" dirty="0">
              <a:solidFill>
                <a:schemeClr val="tx2">
                  <a:lumMod val="90000"/>
                  <a:lumOff val="10000"/>
                </a:schemeClr>
              </a:solidFill>
              <a:latin typeface="Aptos" panose="020B0004020202020204" pitchFamily="34" charset="0"/>
              <a:ea typeface="+mj-ea"/>
              <a:cs typeface="+mj-cs"/>
            </a:endParaRPr>
          </a:p>
        </p:txBody>
      </p:sp>
      <p:sp>
        <p:nvSpPr>
          <p:cNvPr id="3" name="TextBox 2">
            <a:extLst>
              <a:ext uri="{FF2B5EF4-FFF2-40B4-BE49-F238E27FC236}">
                <a16:creationId xmlns:a16="http://schemas.microsoft.com/office/drawing/2014/main" id="{FBF38C0E-058C-508A-9510-BD1D5E5A109E}"/>
              </a:ext>
            </a:extLst>
          </p:cNvPr>
          <p:cNvSpPr txBox="1"/>
          <p:nvPr/>
        </p:nvSpPr>
        <p:spPr>
          <a:xfrm>
            <a:off x="364538" y="1489294"/>
            <a:ext cx="6207712" cy="4016484"/>
          </a:xfrm>
          <a:prstGeom prst="rect">
            <a:avLst/>
          </a:prstGeom>
          <a:noFill/>
        </p:spPr>
        <p:txBody>
          <a:bodyPr wrap="square">
            <a:spAutoFit/>
          </a:bodyPr>
          <a:lstStyle/>
          <a:p>
            <a:pPr>
              <a:buNone/>
            </a:pPr>
            <a:r>
              <a:rPr lang="vi-VN" sz="1500" dirty="0">
                <a:latin typeface="Times New Roman" panose="02020603050405020304" pitchFamily="18" charset="0"/>
                <a:cs typeface="Times New Roman" panose="02020603050405020304" pitchFamily="18" charset="0"/>
              </a:rPr>
              <a:t>Bên cạnh những kết quả đạt được, khóa luận vẫn còn một số hạn chế cần thừa nhận.</a:t>
            </a:r>
          </a:p>
          <a:p>
            <a:pPr>
              <a:buNone/>
            </a:pPr>
            <a:endParaRPr lang="vi-VN" sz="1500" dirty="0">
              <a:latin typeface="Times New Roman" panose="02020603050405020304" pitchFamily="18" charset="0"/>
              <a:cs typeface="Times New Roman" panose="02020603050405020304" pitchFamily="18" charset="0"/>
            </a:endParaRPr>
          </a:p>
          <a:p>
            <a:pPr>
              <a:buNone/>
            </a:pPr>
            <a:r>
              <a:rPr lang="vi-VN" sz="1500" dirty="0">
                <a:latin typeface="Times New Roman" panose="02020603050405020304" pitchFamily="18" charset="0"/>
                <a:cs typeface="Times New Roman" panose="02020603050405020304" pitchFamily="18" charset="0"/>
              </a:rPr>
              <a:t>Về mặt giả định, toàn bộ mô phỏng dựa trên </a:t>
            </a:r>
            <a:r>
              <a:rPr lang="vi-VN" sz="1500" dirty="0" err="1">
                <a:latin typeface="Times New Roman" panose="02020603050405020304" pitchFamily="18" charset="0"/>
                <a:cs typeface="Times New Roman" panose="02020603050405020304" pitchFamily="18" charset="0"/>
              </a:rPr>
              <a:t>Perfect</a:t>
            </a:r>
            <a:r>
              <a:rPr lang="vi-VN" sz="1500" dirty="0">
                <a:latin typeface="Times New Roman" panose="02020603050405020304" pitchFamily="18" charset="0"/>
                <a:cs typeface="Times New Roman" panose="02020603050405020304" pitchFamily="18" charset="0"/>
              </a:rPr>
              <a:t> CSI — tức là trạm gốc biết chính xác thông tin trạng thái kênh của tất cả người dùng. Trong thực tế điều này khó đạt được do sai số ước lượng kênh, đặc biệt trong môi trường di động. </a:t>
            </a:r>
          </a:p>
          <a:p>
            <a:pPr>
              <a:buNone/>
            </a:pPr>
            <a:endParaRPr lang="vi-VN" sz="1500" dirty="0">
              <a:latin typeface="Times New Roman" panose="02020603050405020304" pitchFamily="18" charset="0"/>
              <a:cs typeface="Times New Roman" panose="02020603050405020304" pitchFamily="18" charset="0"/>
            </a:endParaRPr>
          </a:p>
          <a:p>
            <a:pPr>
              <a:buNone/>
            </a:pPr>
            <a:r>
              <a:rPr lang="vi-VN" sz="1500" dirty="0">
                <a:latin typeface="Times New Roman" panose="02020603050405020304" pitchFamily="18" charset="0"/>
                <a:cs typeface="Times New Roman" panose="02020603050405020304" pitchFamily="18" charset="0"/>
              </a:rPr>
              <a:t>Từ những hạn chế đó, có thể thấy một số hướng phát triển tiềm năng. Trước tiên là mở rộng sang mô hình </a:t>
            </a:r>
            <a:r>
              <a:rPr lang="vi-VN" sz="1500" dirty="0" err="1">
                <a:latin typeface="Times New Roman" panose="02020603050405020304" pitchFamily="18" charset="0"/>
                <a:cs typeface="Times New Roman" panose="02020603050405020304" pitchFamily="18" charset="0"/>
              </a:rPr>
              <a:t>Imperfect</a:t>
            </a:r>
            <a:r>
              <a:rPr lang="vi-VN" sz="1500" dirty="0">
                <a:latin typeface="Times New Roman" panose="02020603050405020304" pitchFamily="18" charset="0"/>
                <a:cs typeface="Times New Roman" panose="02020603050405020304" pitchFamily="18" charset="0"/>
              </a:rPr>
              <a:t> CSI để đánh giá độ bền vững của hệ thống trong điều kiện thực tế hơn. </a:t>
            </a:r>
          </a:p>
          <a:p>
            <a:pPr>
              <a:buNone/>
            </a:pPr>
            <a:endParaRPr lang="vi-VN" sz="1500" dirty="0">
              <a:latin typeface="Times New Roman" panose="02020603050405020304" pitchFamily="18" charset="0"/>
              <a:cs typeface="Times New Roman" panose="02020603050405020304" pitchFamily="18" charset="0"/>
            </a:endParaRPr>
          </a:p>
          <a:p>
            <a:pPr>
              <a:buNone/>
            </a:pPr>
            <a:r>
              <a:rPr lang="vi-VN" sz="1500" dirty="0">
                <a:latin typeface="Times New Roman" panose="02020603050405020304" pitchFamily="18" charset="0"/>
                <a:cs typeface="Times New Roman" panose="02020603050405020304" pitchFamily="18" charset="0"/>
              </a:rPr>
              <a:t>Tiếp theo là tích hợp MIMO-RSMA để khai thác thêm độ lợi không gian. </a:t>
            </a:r>
          </a:p>
          <a:p>
            <a:pPr>
              <a:buNone/>
            </a:pPr>
            <a:endParaRPr lang="vi-VN" sz="1500" dirty="0">
              <a:latin typeface="Times New Roman" panose="02020603050405020304" pitchFamily="18" charset="0"/>
              <a:cs typeface="Times New Roman" panose="02020603050405020304" pitchFamily="18" charset="0"/>
            </a:endParaRPr>
          </a:p>
          <a:p>
            <a:pPr>
              <a:buNone/>
            </a:pPr>
            <a:r>
              <a:rPr lang="vi-VN" sz="1500" dirty="0">
                <a:latin typeface="Times New Roman" panose="02020603050405020304" pitchFamily="18" charset="0"/>
                <a:cs typeface="Times New Roman" panose="02020603050405020304" pitchFamily="18" charset="0"/>
              </a:rPr>
              <a:t>Xa hơn, có thể ứng dụng </a:t>
            </a:r>
            <a:r>
              <a:rPr lang="vi-VN" sz="1500" dirty="0" err="1">
                <a:latin typeface="Times New Roman" panose="02020603050405020304" pitchFamily="18" charset="0"/>
                <a:cs typeface="Times New Roman" panose="02020603050405020304" pitchFamily="18" charset="0"/>
              </a:rPr>
              <a:t>Deep</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Reinforcement</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Learning</a:t>
            </a:r>
            <a:r>
              <a:rPr lang="vi-VN" sz="1500" dirty="0">
                <a:latin typeface="Times New Roman" panose="02020603050405020304" pitchFamily="18" charset="0"/>
                <a:cs typeface="Times New Roman" panose="02020603050405020304" pitchFamily="18" charset="0"/>
              </a:rPr>
              <a:t> để phân bổ công suất theo thời gian thực mà không cần giải bài toán tối ưu tường minh trong mỗi </a:t>
            </a:r>
            <a:r>
              <a:rPr lang="vi-VN" sz="1500" dirty="0" err="1">
                <a:latin typeface="Times New Roman" panose="02020603050405020304" pitchFamily="18" charset="0"/>
                <a:cs typeface="Times New Roman" panose="02020603050405020304" pitchFamily="18" charset="0"/>
              </a:rPr>
              <a:t>time</a:t>
            </a:r>
            <a:r>
              <a:rPr lang="vi-VN" sz="1500" dirty="0">
                <a:latin typeface="Times New Roman" panose="02020603050405020304" pitchFamily="18" charset="0"/>
                <a:cs typeface="Times New Roman" panose="02020603050405020304" pitchFamily="18" charset="0"/>
              </a:rPr>
              <a:t> </a:t>
            </a:r>
            <a:r>
              <a:rPr lang="vi-VN" sz="1500" dirty="0" err="1">
                <a:latin typeface="Times New Roman" panose="02020603050405020304" pitchFamily="18" charset="0"/>
                <a:cs typeface="Times New Roman" panose="02020603050405020304" pitchFamily="18" charset="0"/>
              </a:rPr>
              <a:t>slot</a:t>
            </a:r>
            <a:r>
              <a:rPr lang="vi-VN" sz="1500" dirty="0">
                <a:latin typeface="Times New Roman" panose="02020603050405020304" pitchFamily="18" charset="0"/>
                <a:cs typeface="Times New Roman" panose="02020603050405020304" pitchFamily="18" charset="0"/>
              </a:rPr>
              <a:t> — hướng này đang rất được quan tâm trong nghiên cứu 6G hiện nay</a:t>
            </a:r>
          </a:p>
        </p:txBody>
      </p:sp>
    </p:spTree>
    <p:extLst>
      <p:ext uri="{BB962C8B-B14F-4D97-AF65-F5344CB8AC3E}">
        <p14:creationId xmlns:p14="http://schemas.microsoft.com/office/powerpoint/2010/main" val="3998234050"/>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D1D34D-19EA-C259-327C-F81FC4F9DA15}"/>
              </a:ext>
            </a:extLst>
          </p:cNvPr>
          <p:cNvSpPr>
            <a:spLocks noGrp="1"/>
          </p:cNvSpPr>
          <p:nvPr>
            <p:ph type="ctrTitle"/>
          </p:nvPr>
        </p:nvSpPr>
        <p:spPr>
          <a:xfrm>
            <a:off x="685800" y="2582703"/>
            <a:ext cx="7772400" cy="1692593"/>
          </a:xfrm>
        </p:spPr>
        <p:txBody>
          <a:bodyPr vert="horz" lIns="68580" tIns="34290" rIns="68580" bIns="34290" rtlCol="0" anchor="b">
            <a:normAutofit/>
          </a:bodyPr>
          <a:lstStyle/>
          <a:p>
            <a:r>
              <a:rPr lang="en-US" sz="5000" b="1" dirty="0">
                <a:latin typeface="Aptos" panose="020B0004020202020204" pitchFamily="34" charset="0"/>
              </a:rPr>
              <a:t>CẢM ƠN THẦY CÔ</a:t>
            </a:r>
            <a:br>
              <a:rPr lang="en-US" sz="5000" b="1" dirty="0">
                <a:latin typeface="Aptos" panose="020B0004020202020204" pitchFamily="34" charset="0"/>
              </a:rPr>
            </a:br>
            <a:r>
              <a:rPr lang="en-US" sz="5000" b="1" dirty="0">
                <a:latin typeface="Aptos" panose="020B0004020202020204" pitchFamily="34" charset="0"/>
              </a:rPr>
              <a:t>ĐÃ LẮNG NGHE!</a:t>
            </a:r>
          </a:p>
        </p:txBody>
      </p:sp>
      <p:sp>
        <p:nvSpPr>
          <p:cNvPr id="3" name="Slide Number Placeholder 2" hidden="1">
            <a:extLst>
              <a:ext uri="{FF2B5EF4-FFF2-40B4-BE49-F238E27FC236}">
                <a16:creationId xmlns:a16="http://schemas.microsoft.com/office/drawing/2014/main" id="{002B4970-2F37-42D3-CBAF-8CA2E016C9A7}"/>
              </a:ext>
            </a:extLst>
          </p:cNvPr>
          <p:cNvSpPr>
            <a:spLocks noGrp="1"/>
          </p:cNvSpPr>
          <p:nvPr>
            <p:ph type="sldNum" sz="quarter" idx="12"/>
          </p:nvPr>
        </p:nvSpPr>
        <p:spPr/>
        <p:txBody>
          <a:bodyPr/>
          <a:lstStyle/>
          <a:p>
            <a:pPr>
              <a:spcAft>
                <a:spcPts val="600"/>
              </a:spcAft>
            </a:pPr>
            <a:fld id="{AE3E3AF4-E56C-405D-90D1-F29A6618B350}" type="slidenum">
              <a:rPr lang="vi-VN" smtClean="0"/>
              <a:pPr>
                <a:spcAft>
                  <a:spcPts val="600"/>
                </a:spcAft>
              </a:pPr>
              <a:t>18</a:t>
            </a:fld>
            <a:endParaRPr lang="vi-VN"/>
          </a:p>
        </p:txBody>
      </p:sp>
      <p:sp>
        <p:nvSpPr>
          <p:cNvPr id="4" name="TextBox 3">
            <a:extLst>
              <a:ext uri="{FF2B5EF4-FFF2-40B4-BE49-F238E27FC236}">
                <a16:creationId xmlns:a16="http://schemas.microsoft.com/office/drawing/2014/main" id="{73DAED1A-4701-02B4-2FA6-E83BDD00D9DC}"/>
              </a:ext>
            </a:extLst>
          </p:cNvPr>
          <p:cNvSpPr txBox="1"/>
          <p:nvPr/>
        </p:nvSpPr>
        <p:spPr>
          <a:xfrm>
            <a:off x="1448566" y="134035"/>
            <a:ext cx="6525361" cy="646331"/>
          </a:xfrm>
          <a:prstGeom prst="rect">
            <a:avLst/>
          </a:prstGeom>
          <a:noFill/>
        </p:spPr>
        <p:txBody>
          <a:bodyPr wrap="square" rtlCol="0">
            <a:spAutoFit/>
          </a:bodyPr>
          <a:lstStyle/>
          <a:p>
            <a:pPr algn="ctr"/>
            <a:r>
              <a:rPr lang="en-US" b="1" dirty="0">
                <a:solidFill>
                  <a:schemeClr val="tx2">
                    <a:lumMod val="90000"/>
                    <a:lumOff val="10000"/>
                  </a:schemeClr>
                </a:solidFill>
                <a:cs typeface="Arial" panose="020B0604020202020204" pitchFamily="34" charset="0"/>
              </a:rPr>
              <a:t>KHOA ĐIỆN TỬ VIỄN THÔNG</a:t>
            </a:r>
          </a:p>
          <a:p>
            <a:pPr algn="ctr"/>
            <a:r>
              <a:rPr lang="en-US" b="1" dirty="0">
                <a:solidFill>
                  <a:schemeClr val="tx2">
                    <a:lumMod val="90000"/>
                    <a:lumOff val="10000"/>
                  </a:schemeClr>
                </a:solidFill>
                <a:cs typeface="Arial" panose="020B0604020202020204" pitchFamily="34" charset="0"/>
              </a:rPr>
              <a:t>TRƯỜNG ĐẠI HỌC CÔNG NGHỆ - ĐẠI HỌC QUỐC GIA HÀ NỘI</a:t>
            </a:r>
            <a:endParaRPr lang="vi-VN" b="1" dirty="0">
              <a:solidFill>
                <a:schemeClr val="tx2">
                  <a:lumMod val="90000"/>
                  <a:lumOff val="10000"/>
                </a:schemeClr>
              </a:solidFill>
              <a:cs typeface="Arial" panose="020B0604020202020204" pitchFamily="34" charset="0"/>
            </a:endParaRPr>
          </a:p>
        </p:txBody>
      </p:sp>
      <p:pic>
        <p:nvPicPr>
          <p:cNvPr id="5" name="Picture 2" descr="Trường Đại học Công nghệ, ĐHQGHN - VNU- University of Engineering and  Technology">
            <a:extLst>
              <a:ext uri="{FF2B5EF4-FFF2-40B4-BE49-F238E27FC236}">
                <a16:creationId xmlns:a16="http://schemas.microsoft.com/office/drawing/2014/main" id="{DD99D6C3-B85E-2DA3-4058-77E2DB6B2E9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8493" y="136691"/>
            <a:ext cx="643675" cy="643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461193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6359</TotalTime>
  <Words>4307</Words>
  <Application>Microsoft Office PowerPoint</Application>
  <PresentationFormat>On-screen Show (4:3)</PresentationFormat>
  <Paragraphs>209</Paragraphs>
  <Slides>18</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Aptos Display</vt:lpstr>
      <vt:lpstr>Arial</vt:lpstr>
      <vt:lpstr>Cambria Math</vt:lpstr>
      <vt:lpstr>Times New Roman</vt:lpstr>
      <vt:lpstr>Office Theme</vt:lpstr>
      <vt:lpstr>CÂN BẰNG CHẤT LƯỢNG ĐA NGƯỜI DÙNG CHO DỊCH VỤ TRUYỀN VIDEO SVC QUA KÊNH CR-RSMA ĐƯỜNG LÊN</vt:lpstr>
      <vt:lpstr>MỤC LỤC</vt:lpstr>
      <vt:lpstr>ĐỘNG LỰC NGHIÊN CỨU</vt:lpstr>
      <vt:lpstr>ĐỘNG LỰC NGHIÊN CỨU</vt:lpstr>
      <vt:lpstr>CƠ SỞ LÝ THUYẾT</vt:lpstr>
      <vt:lpstr>CƠ SỞ LÝ THUYẾT</vt:lpstr>
      <vt:lpstr>CƠ SỞ LÝ THUYẾT</vt:lpstr>
      <vt:lpstr>CƠ SỞ LÝ THUYẾT</vt:lpstr>
      <vt:lpstr>MÔ HÌNH VÀ GIẢI THUẬT</vt:lpstr>
      <vt:lpstr>MÔ HÌNH VÀ GIẢI THUẬT</vt:lpstr>
      <vt:lpstr>PowerPoint Presentation</vt:lpstr>
      <vt:lpstr>KẾT QUẢ VÀ ĐÁNH GIÁ</vt:lpstr>
      <vt:lpstr>KẾT QUẢ VÀ ĐÁNH GIÁ</vt:lpstr>
      <vt:lpstr>KẾT QUẢ VÀ ĐÁNH GIÁ</vt:lpstr>
      <vt:lpstr>KẾT QUẢ VÀ ĐÁNH GIÁ</vt:lpstr>
      <vt:lpstr>KẾT LUẬN VÀ ĐỊNH HƯỚNG PHÁT TRIỂN</vt:lpstr>
      <vt:lpstr>KẾT LUẬN VÀ ĐỊNH HƯỚNG PHÁT TRIỂN</vt:lpstr>
      <vt:lpstr>CẢM ƠN THẦY CÔ ĐÃ LẮNG NGHE!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Hoang Tran</dc:creator>
  <cp:lastModifiedBy>thành vinh nguyễn</cp:lastModifiedBy>
  <cp:revision>6</cp:revision>
  <dcterms:created xsi:type="dcterms:W3CDTF">2025-05-14T13:14:41Z</dcterms:created>
  <dcterms:modified xsi:type="dcterms:W3CDTF">2026-06-01T00:44:45Z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2025-05-14T13:19:51Z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5d5e7d55-ef41-4be6-ac1e-56437df71f54</vt:lpwstr>
  </property>
  <property fmtid="{D5CDD505-2E9C-101B-9397-08002B2CF9AE}" pid="7" name="MSIP_Label_defa4170-0d19-0005-0004-bc88714345d2_ActionId">
    <vt:lpwstr>54ee5624-19c9-4c00-bd61-9bd22b5ef8e5</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